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embeddedFontLst>
    <p:embeddedFont>
      <p:font typeface="Palatino Linotype"/>
      <p:regular r:id="rId23"/>
      <p:bold r:id="rId24"/>
      <p:italic r:id="rId25"/>
      <p:boldItalic r:id="rId26"/>
    </p:embeddedFont>
    <p:embeddedFont>
      <p:font typeface="Quattrocento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E33D80-D22A-43B9-9D80-FE20F8DDA145}">
  <a:tblStyle styleId="{27E33D80-D22A-43B9-9D80-FE20F8DDA14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A8E4F9C-F20D-4468-8EC3-CAA27FC1C86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latinoLinotype-bold.fntdata"/><Relationship Id="rId23" Type="http://schemas.openxmlformats.org/officeDocument/2006/relationships/font" Target="fonts/PalatinoLinotype-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alatinoLinotype-boldItalic.fntdata"/><Relationship Id="rId25" Type="http://schemas.openxmlformats.org/officeDocument/2006/relationships/font" Target="fonts/PalatinoLinotype-italic.fntdata"/><Relationship Id="rId28" Type="http://schemas.openxmlformats.org/officeDocument/2006/relationships/font" Target="fonts/QuattrocentoSans-bold.fntdata"/><Relationship Id="rId27" Type="http://schemas.openxmlformats.org/officeDocument/2006/relationships/font" Target="fonts/Quattrocento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Quattrocento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Quattrocento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15 s.  Nomi, cognomi, matricole, e basta. Nessuna anticipazione del risultato: la slide 5 pone l'enigma e la 10 lo scioglie, ed e' quella tensione che tiene insieme i dieci minuti.</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32 s.  Non leggere la tabella: indicare le tre righe e dire una cosa sola, che il test non e' mai stato toccato. Due numeri ad alta voce: 6.4 a 1 di sbilanciamento, e 0.635 che un classificatore costante ottiene senza guardare niente - e' il pavimento contro cui vanno letti tutti i numeri che seguono. Il riquadro in fondo e' la difesa sul data leakage: split per PAZIENTE, non per lesione, e l'id viene dal nome del file. I lati mediani 57 / 80 / 127 px vanno detti come descrizione del dataset, senza commento: la conseguenza arriva alla slide 7, e anticiparla qui la brucia.</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35 s.  Una riga per voce, poi la frase in fondo: e' il buco in cui si inserisce il nostro contributo, e l'unica che conta. PRIMA CANDIDATA AL TAGLIO se la prova cronometrata sfora — si riduce a due voci in dieci secondi.</a:t>
            </a:r>
            <a:endParaRPr/>
          </a:p>
        </p:txBody>
      </p:sp>
      <p:sp>
        <p:nvSpPr>
          <p:cNvPr id="39" name="Google Shape;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35 s.  Non leggere la tabella: indicare tre righe. (1) Risoluzione nativa — ridimensionare la panoramica 2444×1292 a 224 px porterebbe una lesione da 64 px a circa 6, sotto la dimensione di un singolo patch da 16: misurato PRIMA di implementare, non scoperto dopo. (2) Encoder congelato, come impone la traccia. (3) Cinque semi e la soglia di Student: con cinque ripetizioni la normale sottostima la coda, quindi 2.31 e non 1.96. Poi la terza colonna in basso, che previene la domanda piu' affilata sulle barre d'errore.</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40 s.  Indicare, non leggere. Tre cose ad alta voce: (1) non si ricostruisce nessun pixel — e' la differenza con MAE, e chiude in anticipo l'obiezione «starà sprecando capacita' a ridisegnare la grana radiografica»; (2) l'encoder che consegniamo NON HA MAI VISTO UN'ETICHETTA, e nel downstream e' congelato come impone la traccia; (3) il predictor e' stretto apposta — se fosse capace risolverebbe il compito da solo e l'encoder non imparerebbe niente. Stessa asimmetria a valle: il classificatore e' una parte su mille di cio' che si addestra, quindi la risposta deve essere gia' nel vettore congelato.</a:t>
            </a:r>
            <a:endParaRPr/>
          </a:p>
        </p:txBody>
      </p:sp>
      <p:sp>
        <p:nvSpPr>
          <p:cNvPr id="86" name="Google Shape;8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30 s.  Sinistra: la griglia e' un'estrazione VERA del nostro campionatore, non un disegno - 105 token mascherati su 196. Il context encoder vede solo i token grigi; il target encoder vede tutta la tessera. Il predictor deve produrre la RAPPRESENTAZIONE dei blocchi rossi, mai i loro pixel: e' l'unica frase che deve restare. Il LayerNorm sul target toglie la scorciatoia della scala. Il predictor e' stretto apposta, il 2.4 % di un encoder, cosi' non puo' memorizzare la risposta.</a:t>
            </a:r>
            <a:endParaRPr/>
          </a:p>
        </p:txBody>
      </p:sp>
      <p:sp>
        <p:nvSpPr>
          <p:cNvPr id="123" name="Google Shape;12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40 s.  UN SOLO encoder, letto in due modi, ogni dieci epoche: e' l'unico messaggio, e va ripetuto. Indicare le due pendenze senza leggere i numeri: quella in alto scende di undici errori standard, quella in basso e' piatta. Poi il rango: la rappresentazione continua a muoversi, da 2.9 a 14.8 direzioni usate su 384 - non si e' congelata. Conclusione da dire per intero: il pre-training non alza la qualita' misurabile, toglie la leggibilita' della scatola. Non promettere piu' di cosi': lo z della qualita' vale 1.15, e 1.15 non e' un risultato.</a:t>
            </a:r>
            <a:endParaRPr/>
          </a:p>
        </p:txBody>
      </p:sp>
      <p:sp>
        <p:nvSpPr>
          <p:cNvPr id="359" name="Google Shape;3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45 s.  LA slide del discorso. Sinistra: i dischi sono in scala, il grado e' quasi la dimensione, e la scatola seleziona 16 / 36 / 64 token - il conteggio e' quasi l'etichetta. Destra: quattro modi diversi di NON usare l'encoder. Pausa dopo aver detto che la sola maschera, con ogni pixel azzerato, sta a 0.0003 dall'encoder casuale che vede tutta l'immagine. Cio' che questo NON prova: che il self-supervised sia inutile. Cio' che prova: che quella valutazione non puo' distinguere due encoder. E' bag-size bias, dentro il protocollo della traccia.</a:t>
            </a:r>
            <a:endParaRPr/>
          </a:p>
        </p:txBody>
      </p:sp>
      <p:sp>
        <p:nvSpPr>
          <p:cNvPr id="403" name="Google Shape;40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70 s.  Le prime due righe sono CONTROLLI e devono pareggiare: dirlo prima che qualcuno lo legga come debolezza. Il vantaggio compare in una casella su tre di un disegno a due fattori — e' questo che lo rende interpretabile invece che fortunato — ed e' significativo su tutti e tre i valori di K, cioe' sopravvive a un cambio di finestra di quattro volte. Da aggiungere a voce: con una testa MIL a livello di istanza su K = 16 il margine di macro-F1 e' +0.1158 a z = 6.49, il piu' grande che abbiamo misurato. Se chiedono perche' K = 16 e' il primario: e' l'unico che rispetta la traccia alla lettera — il 99 % dei suoi token cade dentro la bbox vera — ed e' anche il piu' conservativo dei tre.</a:t>
            </a:r>
            <a:endParaRPr/>
          </a:p>
        </p:txBody>
      </p:sp>
      <p:sp>
        <p:nvSpPr>
          <p:cNvPr id="426" name="Google Shape;42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55 s.  Mostrare i due pannelli, non descriverli: a sinistra la borsa cambia con la classe, a destra no. Dire ad alta voce che NON abbiamo tolto la scatola — la traccia la chiede ed e' l'input clinicamente disponibile: le abbiamo tolto il ruolo di METRO e le abbiamo lasciato quello di PUNTATORE. Poi la matrice, prevenendo l'obiezione: «si potrebbe pensare che abbiamo costruito un protocollo su misura — ecco la casella in cui il nostro metodo NON deve vincere». P2b toglie anche la localizzazione, e li' il divario sparisce. Detto da noi chiude la domanda; scoperto da loro, ne apre una.</a:t>
            </a:r>
            <a:endParaRPr/>
          </a:p>
        </p:txBody>
      </p:sp>
      <p:sp>
        <p:nvSpPr>
          <p:cNvPr id="438" name="Google Shape;4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35 s.  Indicare le due file a sinistra: sopra la finestra e' fissa e la lesione appare grande quanto e'; sotto la finestra segue la lesione e allora appaiono tutte uguali. Il conteggio dei token passa da 16/36/64 a 36/36/36 SENZA toccare la maschera - e' il ritaglio che chiude il canale. Poi il blocco verde: e' li' che l'encoder si vede davvero, e il k-NN lo dice meglio di tutto - senza addestrare niente, l'encoder casuale sul cieco sta a kappa 0.09, cioe' accordo nullo. Poi il blocco rosso, e va detto per intero, perche' e' la parte che ci difende: NON l'abbiamo scelto. Il grado PAI E' in gran parte la dimensione, toglierla fa un sistema peggiore, e la correzione a conteggio fisso resta dentro la traccia mentre questa la cambia. Chiudere con la riga in fondo: e' lavoro futuro dichiarato, non un risultato che ci intestiamo.</a:t>
            </a:r>
            <a:endParaRPr/>
          </a:p>
        </p:txBody>
      </p:sp>
      <p:sp>
        <p:nvSpPr>
          <p:cNvPr id="465" name="Google Shape;46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30 s.  Stesso asse della slide prima, apposta: i due grafici si confrontano a occhio. Qui la storia e' piu' netta - la gated attention perde davvero, z -4.06, ed e' quella con il ramo di gating in piu'. Il dato interessante, se c'e' tempo, e' la seconda riga: il top-k mean ha 4.609 parametri contro 5,3 milioni dell'attention e l'esperimento non riesce a distinguerli. Non dire che sono uguali: dire che con cinque semi non li separiamo.</a:t>
            </a:r>
            <a:endParaRPr/>
          </a:p>
        </p:txBody>
      </p:sp>
      <p:sp>
        <p:nvSpPr>
          <p:cNvPr id="484" name="Google Shape;48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35 s.  Un grafico solo, e si legge da sinistra. I nomi in colonna, il punto e' la media sui cinque semi, la barra e' la dispersione FRA SEMI - non l'errore di generalizzazione. L'asse non parte da zero, e l'ho scritto sotto: dirlo prima che lo noti qualcuno. Il messaggio in una frase: cinque teste su sei non si distinguono da quella che consegniamo, e l'unica misurabilmente peggiore e' l'ordinale. Chi propone la testa piu' grossa deve sapere che paga 298 mila parametri contro 3.459 per un vantaggio che vale z 0.99, cioe' niente.</a:t>
            </a:r>
            <a:endParaRPr/>
          </a:p>
        </p:txBody>
      </p:sp>
      <p:sp>
        <p:nvSpPr>
          <p:cNvPr id="524" name="Google Shape;52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50 s.  La traccia nomina esplicitamente le «balanced token-sampling strategies»: questa e' la nostra lettura. Il punto della tabella: siamo gli unici insieme latente E non inventante — l'oversampling ripresenta lo stesso vettore identico e invita all'overfitting, SMOTE interpola in uno spazio dove l'interpolazione puo' non avere senso anatomico. Mezza frase sul dettaglio che tiene onesto il confronto: LA PRIMA VISTA NON VIENE MAI SOTTOCAMPIONATA, altrimenti le baseline vedrebbero la lesione intera e noi no. E ogni vista tiene una frazione p ~ U(0.6, 1.0) dei token.</a:t>
            </a:r>
            <a:endParaRPr/>
          </a:p>
        </p:txBody>
      </p:sp>
      <p:sp>
        <p:nvSpPr>
          <p:cNvPr id="579" name="Google Shape;57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40 s.  Leggere le tre righe in alto e poi TACERE mentre guardano la tabella. L'unica colonna che conta e' lo z: una riga sola passa la soglia. Se serve dirlo a voce, la formula e': non e' una classifica di cinque metodi, e' un metodo contro quattro nulli.</a:t>
            </a:r>
            <a:endParaRPr/>
          </a:p>
        </p:txBody>
      </p:sp>
      <p:sp>
        <p:nvSpPr>
          <p:cNvPr id="646" name="Google Shape;64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50 s.  Questa e' la slide del NOSTRO lavoro, e va detta in prima persona plurale. Uno: l'encoder l'abbiamo addestrato noi, da zero, nessun peso viene da fuori. Due: abbiamo scoperto che la valutazione prescritta non poteva misurare nessun encoder, e l'abbiamo DIMOSTRATO, non sostenuto. Tre: l'abbiamo corretta restando dentro la traccia, e li' l'encoder si vede. Quattro: ci abbiamo messo un metodo nostro, ed e' l'unico che si separa. I limiti si leggono senza scusarsi. Poi la riga in corsivo, pausa, e si passa alle domande.</a:t>
            </a:r>
            <a:endParaRPr/>
          </a:p>
        </p:txBody>
      </p:sp>
      <p:sp>
        <p:nvSpPr>
          <p:cNvPr id="659" name="Google Shape;65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 s.  Non dire niente, passare oltre e aspettare le domande.</a:t>
            </a:r>
            <a:endParaRPr/>
          </a:p>
        </p:txBody>
      </p:sp>
      <p:sp>
        <p:nvSpPr>
          <p:cNvPr id="681" name="Google Shape;68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0" y="0"/>
            <a:ext cx="146304" cy="6858000"/>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txBox="1"/>
          <p:nvPr/>
        </p:nvSpPr>
        <p:spPr>
          <a:xfrm>
            <a:off x="777240" y="1417320"/>
            <a:ext cx="10058400" cy="1554480"/>
          </a:xfrm>
          <a:prstGeom prst="rect">
            <a:avLst/>
          </a:prstGeom>
          <a:noFill/>
          <a:ln>
            <a:noFill/>
          </a:ln>
        </p:spPr>
        <p:txBody>
          <a:bodyPr anchorCtr="0" anchor="ctr" bIns="0" lIns="0" spcFirstLastPara="1" rIns="0" wrap="square" tIns="0">
            <a:noAutofit/>
          </a:bodyPr>
          <a:lstStyle/>
          <a:p>
            <a:pPr indent="0" lvl="0" marL="0" marR="0" rtl="0" algn="l">
              <a:lnSpc>
                <a:spcPct val="135294"/>
              </a:lnSpc>
              <a:spcBef>
                <a:spcPts val="0"/>
              </a:spcBef>
              <a:spcAft>
                <a:spcPts val="0"/>
              </a:spcAft>
              <a:buClr>
                <a:srgbClr val="16191C"/>
              </a:buClr>
              <a:buSzPts val="3400"/>
              <a:buFont typeface="Palatino Linotype"/>
              <a:buNone/>
            </a:pPr>
            <a:r>
              <a:rPr b="1" i="0" lang="en-US" sz="3400" u="none" cap="none" strike="noStrike">
                <a:solidFill>
                  <a:srgbClr val="16191C"/>
                </a:solidFill>
                <a:latin typeface="Palatino Linotype"/>
                <a:ea typeface="Palatino Linotype"/>
                <a:cs typeface="Palatino Linotype"/>
                <a:sym typeface="Palatino Linotype"/>
              </a:rPr>
              <a:t>Self-Supervised Latent Representations</a:t>
            </a:r>
            <a:endParaRPr b="0" i="0" sz="3400" u="none" cap="none" strike="noStrike">
              <a:solidFill>
                <a:schemeClr val="dk1"/>
              </a:solidFill>
              <a:latin typeface="Calibri"/>
              <a:ea typeface="Calibri"/>
              <a:cs typeface="Calibri"/>
              <a:sym typeface="Calibri"/>
            </a:endParaRPr>
          </a:p>
          <a:p>
            <a:pPr indent="0" lvl="0" marL="0" marR="0" rtl="0" algn="l">
              <a:lnSpc>
                <a:spcPct val="135294"/>
              </a:lnSpc>
              <a:spcBef>
                <a:spcPts val="0"/>
              </a:spcBef>
              <a:spcAft>
                <a:spcPts val="0"/>
              </a:spcAft>
              <a:buClr>
                <a:srgbClr val="16191C"/>
              </a:buClr>
              <a:buSzPts val="3400"/>
              <a:buFont typeface="Palatino Linotype"/>
              <a:buNone/>
            </a:pPr>
            <a:r>
              <a:rPr b="1" i="0" lang="en-US" sz="3400" u="none" cap="none" strike="noStrike">
                <a:solidFill>
                  <a:srgbClr val="16191C"/>
                </a:solidFill>
                <a:latin typeface="Palatino Linotype"/>
                <a:ea typeface="Palatino Linotype"/>
                <a:cs typeface="Palatino Linotype"/>
                <a:sym typeface="Palatino Linotype"/>
              </a:rPr>
              <a:t>for Imbalanced Apical Periodontitis Grading</a:t>
            </a:r>
            <a:endParaRPr b="0" i="0" sz="3400" u="none" cap="none" strike="noStrike">
              <a:solidFill>
                <a:schemeClr val="dk1"/>
              </a:solidFill>
              <a:latin typeface="Calibri"/>
              <a:ea typeface="Calibri"/>
              <a:cs typeface="Calibri"/>
              <a:sym typeface="Calibri"/>
            </a:endParaRPr>
          </a:p>
        </p:txBody>
      </p:sp>
      <p:cxnSp>
        <p:nvCxnSpPr>
          <p:cNvPr id="18" name="Google Shape;18;p3"/>
          <p:cNvCxnSpPr/>
          <p:nvPr/>
        </p:nvCxnSpPr>
        <p:spPr>
          <a:xfrm>
            <a:off x="777240" y="3291840"/>
            <a:ext cx="2926080" cy="0"/>
          </a:xfrm>
          <a:prstGeom prst="straightConnector1">
            <a:avLst/>
          </a:prstGeom>
          <a:noFill/>
          <a:ln cap="flat" cmpd="sng" w="25400">
            <a:solidFill>
              <a:srgbClr val="A03325"/>
            </a:solidFill>
            <a:prstDash val="solid"/>
            <a:round/>
            <a:headEnd len="sm" w="sm" type="none"/>
            <a:tailEnd len="sm" w="sm" type="none"/>
          </a:ln>
        </p:spPr>
      </p:cxnSp>
      <p:sp>
        <p:nvSpPr>
          <p:cNvPr id="19" name="Google Shape;19;p3"/>
          <p:cNvSpPr txBox="1"/>
          <p:nvPr/>
        </p:nvSpPr>
        <p:spPr>
          <a:xfrm>
            <a:off x="777240" y="349300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Quattrocento Sans"/>
              <a:buNone/>
            </a:pPr>
            <a:r>
              <a:rPr b="0" i="0" lang="en-US" sz="1400" u="none" cap="none" strike="noStrike">
                <a:solidFill>
                  <a:srgbClr val="6E767C"/>
                </a:solidFill>
                <a:latin typeface="Quattrocento Sans"/>
                <a:ea typeface="Quattrocento Sans"/>
                <a:cs typeface="Quattrocento Sans"/>
                <a:sym typeface="Quattrocento Sans"/>
              </a:rPr>
              <a:t>Project 8  ·  Computer Vision A.A. 2025-2026</a:t>
            </a:r>
            <a:endParaRPr b="0" i="0" sz="1400" u="none" cap="none" strike="noStrike">
              <a:solidFill>
                <a:schemeClr val="dk1"/>
              </a:solidFill>
              <a:latin typeface="Calibri"/>
              <a:ea typeface="Calibri"/>
              <a:cs typeface="Calibri"/>
              <a:sym typeface="Calibri"/>
            </a:endParaRPr>
          </a:p>
        </p:txBody>
      </p:sp>
      <p:sp>
        <p:nvSpPr>
          <p:cNvPr id="20" name="Google Shape;20;p3"/>
          <p:cNvSpPr txBox="1"/>
          <p:nvPr/>
        </p:nvSpPr>
        <p:spPr>
          <a:xfrm>
            <a:off x="777240" y="4434840"/>
            <a:ext cx="4754880" cy="1097280"/>
          </a:xfrm>
          <a:prstGeom prst="rect">
            <a:avLst/>
          </a:prstGeom>
          <a:noFill/>
          <a:ln>
            <a:noFill/>
          </a:ln>
        </p:spPr>
        <p:txBody>
          <a:bodyPr anchorCtr="0" anchor="ctr" bIns="0" lIns="0" spcFirstLastPara="1" rIns="0" wrap="square" tIns="0">
            <a:noAutofit/>
          </a:bodyPr>
          <a:lstStyle/>
          <a:p>
            <a:pPr indent="0" lvl="0" marL="0" marR="0" rtl="0" algn="l">
              <a:lnSpc>
                <a:spcPct val="171428"/>
              </a:lnSpc>
              <a:spcBef>
                <a:spcPts val="0"/>
              </a:spcBef>
              <a:spcAft>
                <a:spcPts val="0"/>
              </a:spcAft>
              <a:buClr>
                <a:srgbClr val="16191C"/>
              </a:buClr>
              <a:buSzPts val="1400"/>
              <a:buFont typeface="Quattrocento Sans"/>
              <a:buNone/>
            </a:pP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Alfredo</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Rivera</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2058991</a:t>
            </a:r>
            <a:r>
              <a:rPr b="0" i="0" lang="en-US" sz="1400" u="none" cap="none" strike="noStrike">
                <a:solidFill>
                  <a:srgbClr val="16191C"/>
                </a:solidFill>
                <a:latin typeface="Quattrocento Sans"/>
                <a:ea typeface="Quattrocento Sans"/>
                <a:cs typeface="Quattrocento Sans"/>
                <a:sym typeface="Quattrocento Sans"/>
              </a:rPr>
              <a:t> ›</a:t>
            </a:r>
            <a:endParaRPr b="0" i="0" sz="1400" u="none" cap="none" strike="noStrike">
              <a:solidFill>
                <a:schemeClr val="dk1"/>
              </a:solidFill>
              <a:latin typeface="Calibri"/>
              <a:ea typeface="Calibri"/>
              <a:cs typeface="Calibri"/>
              <a:sym typeface="Calibri"/>
            </a:endParaRPr>
          </a:p>
          <a:p>
            <a:pPr indent="0" lvl="0" marL="0" marR="0" rtl="0" algn="l">
              <a:lnSpc>
                <a:spcPct val="171428"/>
              </a:lnSpc>
              <a:spcBef>
                <a:spcPts val="0"/>
              </a:spcBef>
              <a:spcAft>
                <a:spcPts val="0"/>
              </a:spcAft>
              <a:buClr>
                <a:srgbClr val="16191C"/>
              </a:buClr>
              <a:buSzPts val="1400"/>
              <a:buFont typeface="Quattrocento Sans"/>
              <a:buNone/>
            </a:pP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Davide</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Ferrante</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1949293</a:t>
            </a:r>
            <a:r>
              <a:rPr b="0" i="0" lang="en-US" sz="1400" u="none" cap="none" strike="noStrike">
                <a:solidFill>
                  <a:srgbClr val="16191C"/>
                </a:solidFill>
                <a:latin typeface="Quattrocento Sans"/>
                <a:ea typeface="Quattrocento Sans"/>
                <a:cs typeface="Quattrocento Sans"/>
                <a:sym typeface="Quattrocento Sans"/>
              </a:rPr>
              <a:t> ›</a:t>
            </a:r>
            <a:endParaRPr b="0" i="0" sz="1400" u="none" cap="none" strike="noStrike">
              <a:solidFill>
                <a:schemeClr val="dk1"/>
              </a:solidFill>
              <a:latin typeface="Calibri"/>
              <a:ea typeface="Calibri"/>
              <a:cs typeface="Calibri"/>
              <a:sym typeface="Calibri"/>
            </a:endParaRPr>
          </a:p>
          <a:p>
            <a:pPr indent="0" lvl="0" marL="0" marR="0" rtl="0" algn="l">
              <a:lnSpc>
                <a:spcPct val="171428"/>
              </a:lnSpc>
              <a:spcBef>
                <a:spcPts val="0"/>
              </a:spcBef>
              <a:spcAft>
                <a:spcPts val="0"/>
              </a:spcAft>
              <a:buClr>
                <a:srgbClr val="16191C"/>
              </a:buClr>
              <a:buSzPts val="1400"/>
              <a:buFont typeface="Quattrocento Sans"/>
              <a:buNone/>
            </a:pP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Sirio</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Quinti</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1981561</a:t>
            </a:r>
            <a:r>
              <a:rPr b="0" i="0" lang="en-US" sz="1400" u="none" cap="none" strike="noStrike">
                <a:solidFill>
                  <a:srgbClr val="16191C"/>
                </a:solidFill>
                <a:latin typeface="Quattrocento Sans"/>
                <a:ea typeface="Quattrocento Sans"/>
                <a:cs typeface="Quattrocento Sans"/>
                <a:sym typeface="Quattrocento Sans"/>
              </a:rPr>
              <a:t>›</a:t>
            </a:r>
            <a:endParaRPr b="0" i="0" sz="1400" u="none" cap="none" strike="noStrike">
              <a:solidFill>
                <a:schemeClr val="dk1"/>
              </a:solidFill>
              <a:latin typeface="Calibri"/>
              <a:ea typeface="Calibri"/>
              <a:cs typeface="Calibri"/>
              <a:sym typeface="Calibri"/>
            </a:endParaRPr>
          </a:p>
        </p:txBody>
      </p:sp>
      <p:sp>
        <p:nvSpPr>
          <p:cNvPr id="21" name="Google Shape;21;p3"/>
          <p:cNvSpPr txBox="1"/>
          <p:nvPr/>
        </p:nvSpPr>
        <p:spPr>
          <a:xfrm>
            <a:off x="6566090" y="4512490"/>
            <a:ext cx="5394900" cy="1097400"/>
          </a:xfrm>
          <a:prstGeom prst="rect">
            <a:avLst/>
          </a:prstGeom>
          <a:noFill/>
          <a:ln>
            <a:noFill/>
          </a:ln>
        </p:spPr>
        <p:txBody>
          <a:bodyPr anchorCtr="0" anchor="ctr" bIns="0" lIns="0" spcFirstLastPara="1" rIns="0" wrap="square" tIns="0">
            <a:noAutofit/>
          </a:bodyPr>
          <a:lstStyle/>
          <a:p>
            <a:pPr indent="0" lvl="0" marL="0" marR="0" rtl="0" algn="l">
              <a:lnSpc>
                <a:spcPct val="171428"/>
              </a:lnSpc>
              <a:spcBef>
                <a:spcPts val="0"/>
              </a:spcBef>
              <a:spcAft>
                <a:spcPts val="0"/>
              </a:spcAft>
              <a:buClr>
                <a:srgbClr val="6E767C"/>
              </a:buClr>
              <a:buSzPts val="1400"/>
              <a:buFont typeface="Quattrocento Sans"/>
              <a:buNone/>
            </a:pPr>
            <a:r>
              <a:rPr b="0" i="0" lang="en-US" sz="1400" u="none" cap="none" strike="noStrike">
                <a:solidFill>
                  <a:srgbClr val="6E767C"/>
                </a:solidFill>
                <a:latin typeface="Quattrocento Sans"/>
                <a:ea typeface="Quattrocento Sans"/>
                <a:cs typeface="Quattrocento Sans"/>
                <a:sym typeface="Quattrocento Sans"/>
              </a:rPr>
              <a:t>Prof. Irene Amerini</a:t>
            </a:r>
            <a:endParaRPr b="0" i="0" sz="1400" u="none" cap="none" strike="noStrike">
              <a:solidFill>
                <a:srgbClr val="6E767C"/>
              </a:solidFill>
              <a:latin typeface="Quattrocento Sans"/>
              <a:ea typeface="Quattrocento Sans"/>
              <a:cs typeface="Quattrocento Sans"/>
              <a:sym typeface="Quattrocento Sans"/>
            </a:endParaRPr>
          </a:p>
          <a:p>
            <a:pPr indent="0" lvl="0" marL="0" marR="0" rtl="0" algn="l">
              <a:lnSpc>
                <a:spcPct val="171428"/>
              </a:lnSpc>
              <a:spcBef>
                <a:spcPts val="0"/>
              </a:spcBef>
              <a:spcAft>
                <a:spcPts val="0"/>
              </a:spcAft>
              <a:buClr>
                <a:srgbClr val="6E767C"/>
              </a:buClr>
              <a:buSzPts val="1400"/>
              <a:buFont typeface="Quattrocento Sans"/>
              <a:buNone/>
            </a:pPr>
            <a:r>
              <a:rPr lang="en-US">
                <a:solidFill>
                  <a:srgbClr val="6E767C"/>
                </a:solidFill>
                <a:latin typeface="Quattrocento Sans"/>
                <a:ea typeface="Quattrocento Sans"/>
                <a:cs typeface="Quattrocento Sans"/>
                <a:sym typeface="Quattrocento Sans"/>
              </a:rPr>
              <a:t>Computer vision</a:t>
            </a:r>
            <a:endParaRPr>
              <a:solidFill>
                <a:srgbClr val="6E767C"/>
              </a:solidFill>
              <a:latin typeface="Quattrocento Sans"/>
              <a:ea typeface="Quattrocento Sans"/>
              <a:cs typeface="Quattrocento Sans"/>
              <a:sym typeface="Quattrocento Sans"/>
            </a:endParaRPr>
          </a:p>
          <a:p>
            <a:pPr indent="0" lvl="0" marL="0" marR="0" rtl="0" algn="l">
              <a:lnSpc>
                <a:spcPct val="171428"/>
              </a:lnSpc>
              <a:spcBef>
                <a:spcPts val="0"/>
              </a:spcBef>
              <a:spcAft>
                <a:spcPts val="0"/>
              </a:spcAft>
              <a:buClr>
                <a:srgbClr val="6E767C"/>
              </a:buClr>
              <a:buSzPts val="1400"/>
              <a:buFont typeface="Quattrocento Sans"/>
              <a:buNone/>
            </a:pPr>
            <a:r>
              <a:rPr b="0" i="0" lang="en-US" sz="1400" u="none" cap="none" strike="noStrike">
                <a:solidFill>
                  <a:srgbClr val="6E767C"/>
                </a:solidFill>
                <a:latin typeface="Quattrocento Sans"/>
                <a:ea typeface="Quattrocento Sans"/>
                <a:cs typeface="Quattrocento Sans"/>
                <a:sym typeface="Quattrocento Sans"/>
              </a:rPr>
              <a:t>Sapienza Università di Roma  ·  ALCOR Lab</a:t>
            </a:r>
            <a:endParaRPr b="0" i="0" sz="1400" u="none" cap="none" strike="noStrike">
              <a:solidFill>
                <a:schemeClr val="dk1"/>
              </a:solidFill>
              <a:latin typeface="Calibri"/>
              <a:ea typeface="Calibri"/>
              <a:cs typeface="Calibri"/>
              <a:sym typeface="Calibri"/>
            </a:endParaRPr>
          </a:p>
          <a:p>
            <a:pPr indent="0" lvl="0" marL="0" marR="0" rtl="0" algn="l">
              <a:lnSpc>
                <a:spcPct val="171428"/>
              </a:lnSpc>
              <a:spcBef>
                <a:spcPts val="0"/>
              </a:spcBef>
              <a:spcAft>
                <a:spcPts val="0"/>
              </a:spcAft>
              <a:buClr>
                <a:srgbClr val="6E767C"/>
              </a:buClr>
              <a:buSzPts val="1400"/>
              <a:buFont typeface="Quattrocento Sans"/>
              <a:buNone/>
            </a:pPr>
            <a:r>
              <a:t/>
            </a:r>
            <a:endParaRPr b="0" i="0" sz="1400" u="none" cap="none" strike="noStrike">
              <a:solidFill>
                <a:schemeClr val="dk1"/>
              </a:solidFill>
              <a:latin typeface="Calibri"/>
              <a:ea typeface="Calibri"/>
              <a:cs typeface="Calibri"/>
              <a:sym typeface="Calibri"/>
            </a:endParaRPr>
          </a:p>
        </p:txBody>
      </p:sp>
      <p:sp>
        <p:nvSpPr>
          <p:cNvPr id="22" name="Google Shape;22;p3"/>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1 / 17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4"/>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The dataset</a:t>
            </a:r>
            <a:endParaRPr b="0" i="0" sz="2900" u="none" cap="none" strike="noStrike">
              <a:solidFill>
                <a:schemeClr val="dk1"/>
              </a:solidFill>
              <a:latin typeface="Calibri"/>
              <a:ea typeface="Calibri"/>
              <a:cs typeface="Calibri"/>
              <a:sym typeface="Calibri"/>
            </a:endParaRPr>
          </a:p>
        </p:txBody>
      </p:sp>
      <p:cxnSp>
        <p:nvCxnSpPr>
          <p:cNvPr id="29" name="Google Shape;29;p4"/>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30" name="Google Shape;30;p4"/>
          <p:cNvSpPr txBox="1"/>
          <p:nvPr/>
        </p:nvSpPr>
        <p:spPr>
          <a:xfrm>
            <a:off x="777240" y="1225296"/>
            <a:ext cx="106344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Panoramic radiographs, one bounding box and one PAI grade per lesion  ·  Do, H. V. et al., </a:t>
            </a:r>
            <a:endParaRPr b="0" i="0" sz="1050" u="none" cap="none" strike="noStrike">
              <a:solidFill>
                <a:schemeClr val="dk1"/>
              </a:solidFill>
              <a:latin typeface="Calibri"/>
              <a:ea typeface="Calibri"/>
              <a:cs typeface="Calibri"/>
              <a:sym typeface="Calibri"/>
            </a:endParaRPr>
          </a:p>
        </p:txBody>
      </p:sp>
      <p:sp>
        <p:nvSpPr>
          <p:cNvPr id="31" name="Google Shape;31;p4"/>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2 / 17</a:t>
            </a:r>
            <a:endParaRPr b="0" i="0" sz="1000" u="none" cap="none" strike="noStrike">
              <a:solidFill>
                <a:schemeClr val="dk1"/>
              </a:solidFill>
              <a:latin typeface="Calibri"/>
              <a:ea typeface="Calibri"/>
              <a:cs typeface="Calibri"/>
              <a:sym typeface="Calibri"/>
            </a:endParaRPr>
          </a:p>
        </p:txBody>
      </p:sp>
      <p:graphicFrame>
        <p:nvGraphicFramePr>
          <p:cNvPr id="32" name="Google Shape;32;p4"/>
          <p:cNvGraphicFramePr/>
          <p:nvPr/>
        </p:nvGraphicFramePr>
        <p:xfrm>
          <a:off x="777240" y="1691640"/>
          <a:ext cx="3000000" cy="3000000"/>
        </p:xfrm>
        <a:graphic>
          <a:graphicData uri="http://schemas.openxmlformats.org/drawingml/2006/table">
            <a:tbl>
              <a:tblPr>
                <a:noFill/>
                <a:tableStyleId>{27E33D80-D22A-43B9-9D80-FE20F8DDA145}</a:tableStyleId>
              </a:tblPr>
              <a:tblGrid>
                <a:gridCol w="2553775"/>
                <a:gridCol w="1605250"/>
                <a:gridCol w="1605250"/>
                <a:gridCol w="1605250"/>
                <a:gridCol w="1605250"/>
                <a:gridCol w="1605250"/>
              </a:tblGrid>
              <a:tr h="781825">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Split</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Images</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Lesions</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PAI 3</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PAI 4</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PAI 5</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781825">
                <a:tc>
                  <a:txBody>
                    <a:bodyPr/>
                    <a:lstStyle/>
                    <a:p>
                      <a:pPr indent="0" lvl="0" marL="0" marR="0" rtl="0" algn="l">
                        <a:lnSpc>
                          <a:spcPct val="100000"/>
                        </a:lnSpc>
                        <a:spcBef>
                          <a:spcPts val="0"/>
                        </a:spcBef>
                        <a:spcAft>
                          <a:spcPts val="0"/>
                        </a:spcAft>
                        <a:buClr>
                          <a:srgbClr val="16191C"/>
                        </a:buClr>
                        <a:buSzPts val="950"/>
                        <a:buFont typeface="Quattrocento Sans"/>
                        <a:buNone/>
                      </a:pPr>
                      <a:r>
                        <a:rPr b="1" lang="en-US" sz="950" u="none" cap="none" strike="noStrike">
                          <a:solidFill>
                            <a:srgbClr val="16191C"/>
                          </a:solidFill>
                          <a:latin typeface="Quattrocento Sans"/>
                          <a:ea typeface="Quattrocento Sans"/>
                          <a:cs typeface="Quattrocento Sans"/>
                          <a:sym typeface="Quattrocento Sans"/>
                        </a:rPr>
                        <a:t>Train</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2,746</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4,719</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3,017</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1,229</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473</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781825">
                <a:tc>
                  <a:txBody>
                    <a:bodyPr/>
                    <a:lstStyle/>
                    <a:p>
                      <a:pPr indent="0" lvl="0" marL="0" marR="0" rtl="0" algn="l">
                        <a:lnSpc>
                          <a:spcPct val="100000"/>
                        </a:lnSpc>
                        <a:spcBef>
                          <a:spcPts val="0"/>
                        </a:spcBef>
                        <a:spcAft>
                          <a:spcPts val="0"/>
                        </a:spcAft>
                        <a:buClr>
                          <a:srgbClr val="16191C"/>
                        </a:buClr>
                        <a:buSzPts val="950"/>
                        <a:buFont typeface="Quattrocento Sans"/>
                        <a:buNone/>
                      </a:pPr>
                      <a:r>
                        <a:rPr b="1" lang="en-US" sz="950" u="none" cap="none" strike="noStrike">
                          <a:solidFill>
                            <a:srgbClr val="16191C"/>
                          </a:solidFill>
                          <a:latin typeface="Quattrocento Sans"/>
                          <a:ea typeface="Quattrocento Sans"/>
                          <a:cs typeface="Quattrocento Sans"/>
                          <a:sym typeface="Quattrocento Sans"/>
                        </a:rPr>
                        <a:t>Validation</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588</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1,009</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617</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268</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124</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781825">
                <a:tc>
                  <a:txBody>
                    <a:bodyPr/>
                    <a:lstStyle/>
                    <a:p>
                      <a:pPr indent="0" lvl="0" marL="0" marR="0" rtl="0" algn="l">
                        <a:lnSpc>
                          <a:spcPct val="100000"/>
                        </a:lnSpc>
                        <a:spcBef>
                          <a:spcPts val="0"/>
                        </a:spcBef>
                        <a:spcAft>
                          <a:spcPts val="0"/>
                        </a:spcAft>
                        <a:buClr>
                          <a:srgbClr val="16191C"/>
                        </a:buClr>
                        <a:buSzPts val="950"/>
                        <a:buFont typeface="Quattrocento Sans"/>
                        <a:buNone/>
                      </a:pPr>
                      <a:r>
                        <a:rPr b="1" lang="en-US" sz="950" u="none" cap="none" strike="noStrike">
                          <a:solidFill>
                            <a:srgbClr val="16191C"/>
                          </a:solidFill>
                          <a:latin typeface="Quattrocento Sans"/>
                          <a:ea typeface="Quattrocento Sans"/>
                          <a:cs typeface="Quattrocento Sans"/>
                          <a:sym typeface="Quattrocento Sans"/>
                        </a:rPr>
                        <a:t>Test</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590</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1,013</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643</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258</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112</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bl>
          </a:graphicData>
        </a:graphic>
      </p:graphicFrame>
      <p:sp>
        <p:nvSpPr>
          <p:cNvPr id="33" name="Google Shape;33;p4"/>
          <p:cNvSpPr/>
          <p:nvPr/>
        </p:nvSpPr>
        <p:spPr>
          <a:xfrm>
            <a:off x="777240" y="5029200"/>
            <a:ext cx="10634472" cy="1005840"/>
          </a:xfrm>
          <a:prstGeom prst="roundRect">
            <a:avLst>
              <a:gd fmla="val 4545" name="adj"/>
            </a:avLst>
          </a:prstGeom>
          <a:solidFill>
            <a:srgbClr val="F2F5F6"/>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
          <p:cNvSpPr txBox="1"/>
          <p:nvPr/>
        </p:nvSpPr>
        <p:spPr>
          <a:xfrm>
            <a:off x="1005840" y="514807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500"/>
              <a:buFont typeface="Palatino Linotype"/>
              <a:buNone/>
            </a:pPr>
            <a:r>
              <a:rPr b="1" i="0" lang="en-US" sz="1500" u="none" cap="none" strike="noStrike">
                <a:solidFill>
                  <a:srgbClr val="16191C"/>
                </a:solidFill>
                <a:latin typeface="Palatino Linotype"/>
                <a:ea typeface="Palatino Linotype"/>
                <a:cs typeface="Palatino Linotype"/>
                <a:sym typeface="Palatino Linotype"/>
              </a:rPr>
              <a:t>No patient appears in two splits</a:t>
            </a:r>
            <a:endParaRPr b="0" i="0" sz="1500" u="none" cap="none" strike="noStrike">
              <a:solidFill>
                <a:schemeClr val="dk1"/>
              </a:solidFill>
              <a:latin typeface="Calibri"/>
              <a:ea typeface="Calibri"/>
              <a:cs typeface="Calibri"/>
              <a:sym typeface="Calibri"/>
            </a:endParaRPr>
          </a:p>
        </p:txBody>
      </p:sp>
      <p:sp>
        <p:nvSpPr>
          <p:cNvPr id="35" name="Google Shape;35;p4"/>
          <p:cNvSpPr txBox="1"/>
          <p:nvPr/>
        </p:nvSpPr>
        <p:spPr>
          <a:xfrm>
            <a:off x="1005840" y="5449824"/>
            <a:ext cx="10177272"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191C"/>
              </a:buClr>
              <a:buSzPts val="1200"/>
              <a:buFont typeface="Quattrocento Sans"/>
              <a:buNone/>
            </a:pPr>
            <a:r>
              <a:rPr b="0" i="0" lang="en-US" sz="1200" u="none" cap="none" strike="noStrike">
                <a:solidFill>
                  <a:srgbClr val="16191C"/>
                </a:solidFill>
                <a:latin typeface="Quattrocento Sans"/>
                <a:ea typeface="Quattrocento Sans"/>
                <a:cs typeface="Quattrocento Sans"/>
                <a:sym typeface="Quattrocento Sans"/>
              </a:rPr>
              <a:t>3,924 distinct patient IDs, recovered from the filename field of the XML annotations. Splitting per lesion instead would put two lesions of the same jaw on both sides of the wall; the split is patient-level, and every run re-checks it.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5"/>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State of the art</a:t>
            </a:r>
            <a:endParaRPr b="0" i="0" sz="2900" u="none" cap="none" strike="noStrike">
              <a:solidFill>
                <a:schemeClr val="dk1"/>
              </a:solidFill>
              <a:latin typeface="Calibri"/>
              <a:ea typeface="Calibri"/>
              <a:cs typeface="Calibri"/>
              <a:sym typeface="Calibri"/>
            </a:endParaRPr>
          </a:p>
        </p:txBody>
      </p:sp>
      <p:cxnSp>
        <p:nvCxnSpPr>
          <p:cNvPr id="42" name="Google Shape;42;p5"/>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43" name="Google Shape;43;p5"/>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3 / 17</a:t>
            </a:r>
            <a:endParaRPr b="0" i="0" sz="1000" u="none" cap="none" strike="noStrike">
              <a:solidFill>
                <a:schemeClr val="dk1"/>
              </a:solidFill>
              <a:latin typeface="Calibri"/>
              <a:ea typeface="Calibri"/>
              <a:cs typeface="Calibri"/>
              <a:sym typeface="Calibri"/>
            </a:endParaRPr>
          </a:p>
        </p:txBody>
      </p:sp>
      <p:sp>
        <p:nvSpPr>
          <p:cNvPr id="44" name="Google Shape;44;p5"/>
          <p:cNvSpPr txBox="1"/>
          <p:nvPr/>
        </p:nvSpPr>
        <p:spPr>
          <a:xfrm>
            <a:off x="777240" y="1691640"/>
            <a:ext cx="10637215"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000"/>
              <a:buFont typeface="Palatino Linotype"/>
              <a:buNone/>
            </a:pPr>
            <a:r>
              <a:rPr b="0" i="0" lang="en-US" sz="2000" u="none" cap="none" strike="noStrike">
                <a:solidFill>
                  <a:srgbClr val="16191C"/>
                </a:solidFill>
                <a:latin typeface="Palatino Linotype"/>
                <a:ea typeface="Palatino Linotype"/>
                <a:cs typeface="Palatino Linotype"/>
                <a:sym typeface="Palatino Linotype"/>
              </a:rPr>
              <a:t>I-JEPA   </a:t>
            </a:r>
            <a:r>
              <a:rPr b="0" i="0" lang="en-US" sz="1200" u="none" cap="none" strike="noStrike">
                <a:solidFill>
                  <a:srgbClr val="6E767C"/>
                </a:solidFill>
                <a:latin typeface="Quattrocento Sans"/>
                <a:ea typeface="Quattrocento Sans"/>
                <a:cs typeface="Quattrocento Sans"/>
                <a:sym typeface="Quattrocento Sans"/>
              </a:rPr>
              <a:t>Assran et al., CVPR 2023</a:t>
            </a:r>
            <a:endParaRPr b="0" i="0" sz="2000" u="none" cap="none" strike="noStrike">
              <a:solidFill>
                <a:schemeClr val="dk1"/>
              </a:solidFill>
              <a:latin typeface="Calibri"/>
              <a:ea typeface="Calibri"/>
              <a:cs typeface="Calibri"/>
              <a:sym typeface="Calibri"/>
            </a:endParaRPr>
          </a:p>
        </p:txBody>
      </p:sp>
      <p:sp>
        <p:nvSpPr>
          <p:cNvPr id="45" name="Google Shape;45;p5"/>
          <p:cNvSpPr txBox="1"/>
          <p:nvPr/>
        </p:nvSpPr>
        <p:spPr>
          <a:xfrm>
            <a:off x="777240" y="2039112"/>
            <a:ext cx="1063721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300"/>
              <a:buFont typeface="Quattrocento Sans"/>
              <a:buNone/>
            </a:pPr>
            <a:r>
              <a:rPr b="0" i="0" lang="en-US" sz="1300" u="none" cap="none" strike="noStrike">
                <a:solidFill>
                  <a:srgbClr val="6E767C"/>
                </a:solidFill>
                <a:latin typeface="Quattrocento Sans"/>
                <a:ea typeface="Quattrocento Sans"/>
                <a:cs typeface="Quattrocento Sans"/>
                <a:sym typeface="Quattrocento Sans"/>
              </a:rPr>
              <a:t>predicts representations, not pixels — the architecture the assignment prescribes</a:t>
            </a:r>
            <a:endParaRPr b="0" i="0" sz="1300" u="none" cap="none" strike="noStrike">
              <a:solidFill>
                <a:schemeClr val="dk1"/>
              </a:solidFill>
              <a:latin typeface="Calibri"/>
              <a:ea typeface="Calibri"/>
              <a:cs typeface="Calibri"/>
              <a:sym typeface="Calibri"/>
            </a:endParaRPr>
          </a:p>
        </p:txBody>
      </p:sp>
      <p:cxnSp>
        <p:nvCxnSpPr>
          <p:cNvPr id="46" name="Google Shape;46;p5"/>
          <p:cNvCxnSpPr/>
          <p:nvPr/>
        </p:nvCxnSpPr>
        <p:spPr>
          <a:xfrm>
            <a:off x="777240" y="2441448"/>
            <a:ext cx="10637215" cy="0"/>
          </a:xfrm>
          <a:prstGeom prst="straightConnector1">
            <a:avLst/>
          </a:prstGeom>
          <a:noFill/>
          <a:ln cap="flat" cmpd="sng" w="9525">
            <a:solidFill>
              <a:srgbClr val="D3D8DB"/>
            </a:solidFill>
            <a:prstDash val="solid"/>
            <a:round/>
            <a:headEnd len="sm" w="sm" type="none"/>
            <a:tailEnd len="sm" w="sm" type="none"/>
          </a:ln>
        </p:spPr>
      </p:cxnSp>
      <p:sp>
        <p:nvSpPr>
          <p:cNvPr id="47" name="Google Shape;47;p5"/>
          <p:cNvSpPr txBox="1"/>
          <p:nvPr/>
        </p:nvSpPr>
        <p:spPr>
          <a:xfrm>
            <a:off x="777240" y="2624328"/>
            <a:ext cx="10637215"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000"/>
              <a:buFont typeface="Palatino Linotype"/>
              <a:buNone/>
            </a:pPr>
            <a:r>
              <a:rPr b="0" i="0" lang="en-US" sz="2000" u="none" cap="none" strike="noStrike">
                <a:solidFill>
                  <a:srgbClr val="16191C"/>
                </a:solidFill>
                <a:latin typeface="Palatino Linotype"/>
                <a:ea typeface="Palatino Linotype"/>
                <a:cs typeface="Palatino Linotype"/>
                <a:sym typeface="Palatino Linotype"/>
              </a:rPr>
              <a:t>Attention-based deep MIL   </a:t>
            </a:r>
            <a:r>
              <a:rPr b="0" i="0" lang="en-US" sz="1200" u="none" cap="none" strike="noStrike">
                <a:solidFill>
                  <a:srgbClr val="6E767C"/>
                </a:solidFill>
                <a:latin typeface="Quattrocento Sans"/>
                <a:ea typeface="Quattrocento Sans"/>
                <a:cs typeface="Quattrocento Sans"/>
                <a:sym typeface="Quattrocento Sans"/>
              </a:rPr>
              <a:t>Ilse et al., ICML 2018</a:t>
            </a:r>
            <a:endParaRPr b="0" i="0" sz="2000" u="none" cap="none" strike="noStrike">
              <a:solidFill>
                <a:schemeClr val="dk1"/>
              </a:solidFill>
              <a:latin typeface="Calibri"/>
              <a:ea typeface="Calibri"/>
              <a:cs typeface="Calibri"/>
              <a:sym typeface="Calibri"/>
            </a:endParaRPr>
          </a:p>
        </p:txBody>
      </p:sp>
      <p:sp>
        <p:nvSpPr>
          <p:cNvPr id="48" name="Google Shape;48;p5"/>
          <p:cNvSpPr txBox="1"/>
          <p:nvPr/>
        </p:nvSpPr>
        <p:spPr>
          <a:xfrm>
            <a:off x="777240" y="2971800"/>
            <a:ext cx="1063721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300"/>
              <a:buFont typeface="Quattrocento Sans"/>
              <a:buNone/>
            </a:pPr>
            <a:r>
              <a:rPr b="0" i="0" lang="en-US" sz="1300" u="none" cap="none" strike="noStrike">
                <a:solidFill>
                  <a:srgbClr val="6E767C"/>
                </a:solidFill>
                <a:latin typeface="Quattrocento Sans"/>
                <a:ea typeface="Quattrocento Sans"/>
                <a:cs typeface="Quattrocento Sans"/>
                <a:sym typeface="Quattrocento Sans"/>
              </a:rPr>
              <a:t>a lesion is a bag of tokens; embedding- against instance-level</a:t>
            </a:r>
            <a:endParaRPr b="0" i="0" sz="1300" u="none" cap="none" strike="noStrike">
              <a:solidFill>
                <a:schemeClr val="dk1"/>
              </a:solidFill>
              <a:latin typeface="Calibri"/>
              <a:ea typeface="Calibri"/>
              <a:cs typeface="Calibri"/>
              <a:sym typeface="Calibri"/>
            </a:endParaRPr>
          </a:p>
        </p:txBody>
      </p:sp>
      <p:cxnSp>
        <p:nvCxnSpPr>
          <p:cNvPr id="49" name="Google Shape;49;p5"/>
          <p:cNvCxnSpPr/>
          <p:nvPr/>
        </p:nvCxnSpPr>
        <p:spPr>
          <a:xfrm>
            <a:off x="777240" y="3374136"/>
            <a:ext cx="10637215" cy="0"/>
          </a:xfrm>
          <a:prstGeom prst="straightConnector1">
            <a:avLst/>
          </a:prstGeom>
          <a:noFill/>
          <a:ln cap="flat" cmpd="sng" w="9525">
            <a:solidFill>
              <a:srgbClr val="D3D8DB"/>
            </a:solidFill>
            <a:prstDash val="solid"/>
            <a:round/>
            <a:headEnd len="sm" w="sm" type="none"/>
            <a:tailEnd len="sm" w="sm" type="none"/>
          </a:ln>
        </p:spPr>
      </p:cxnSp>
      <p:sp>
        <p:nvSpPr>
          <p:cNvPr id="50" name="Google Shape;50;p5"/>
          <p:cNvSpPr txBox="1"/>
          <p:nvPr/>
        </p:nvSpPr>
        <p:spPr>
          <a:xfrm>
            <a:off x="777240" y="3557016"/>
            <a:ext cx="10637215"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000"/>
              <a:buFont typeface="Palatino Linotype"/>
              <a:buNone/>
            </a:pPr>
            <a:r>
              <a:rPr b="0" i="0" lang="en-US" sz="2000" u="none" cap="none" strike="noStrike">
                <a:solidFill>
                  <a:srgbClr val="16191C"/>
                </a:solidFill>
                <a:latin typeface="Palatino Linotype"/>
                <a:ea typeface="Palatino Linotype"/>
                <a:cs typeface="Palatino Linotype"/>
                <a:sym typeface="Palatino Linotype"/>
              </a:rPr>
              <a:t>Bag-size bias   </a:t>
            </a:r>
            <a:r>
              <a:rPr b="0" i="0" lang="en-US" sz="1200" u="none" cap="none" strike="noStrike">
                <a:solidFill>
                  <a:srgbClr val="6E767C"/>
                </a:solidFill>
                <a:latin typeface="Quattrocento Sans"/>
                <a:ea typeface="Quattrocento Sans"/>
                <a:cs typeface="Quattrocento Sans"/>
                <a:sym typeface="Quattrocento Sans"/>
              </a:rPr>
              <a:t>the known failure mode of MIL</a:t>
            </a:r>
            <a:endParaRPr b="0" i="0" sz="2000" u="none" cap="none" strike="noStrike">
              <a:solidFill>
                <a:schemeClr val="dk1"/>
              </a:solidFill>
              <a:latin typeface="Calibri"/>
              <a:ea typeface="Calibri"/>
              <a:cs typeface="Calibri"/>
              <a:sym typeface="Calibri"/>
            </a:endParaRPr>
          </a:p>
        </p:txBody>
      </p:sp>
      <p:sp>
        <p:nvSpPr>
          <p:cNvPr id="51" name="Google Shape;51;p5"/>
          <p:cNvSpPr txBox="1"/>
          <p:nvPr/>
        </p:nvSpPr>
        <p:spPr>
          <a:xfrm>
            <a:off x="777240" y="3904488"/>
            <a:ext cx="1063721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300"/>
              <a:buFont typeface="Quattrocento Sans"/>
              <a:buNone/>
            </a:pPr>
            <a:r>
              <a:rPr b="0" i="0" lang="en-US" sz="1300" u="none" cap="none" strike="noStrike">
                <a:solidFill>
                  <a:srgbClr val="6E767C"/>
                </a:solidFill>
                <a:latin typeface="Quattrocento Sans"/>
                <a:ea typeface="Quattrocento Sans"/>
                <a:cs typeface="Quattrocento Sans"/>
                <a:sym typeface="Quattrocento Sans"/>
              </a:rPr>
              <a:t>named in the literature, never measured where cardinality is the label</a:t>
            </a:r>
            <a:endParaRPr b="0" i="0" sz="1300" u="none" cap="none" strike="noStrike">
              <a:solidFill>
                <a:schemeClr val="dk1"/>
              </a:solidFill>
              <a:latin typeface="Calibri"/>
              <a:ea typeface="Calibri"/>
              <a:cs typeface="Calibri"/>
              <a:sym typeface="Calibri"/>
            </a:endParaRPr>
          </a:p>
        </p:txBody>
      </p:sp>
      <p:cxnSp>
        <p:nvCxnSpPr>
          <p:cNvPr id="52" name="Google Shape;52;p5"/>
          <p:cNvCxnSpPr/>
          <p:nvPr/>
        </p:nvCxnSpPr>
        <p:spPr>
          <a:xfrm>
            <a:off x="777240" y="4306824"/>
            <a:ext cx="10637215" cy="0"/>
          </a:xfrm>
          <a:prstGeom prst="straightConnector1">
            <a:avLst/>
          </a:prstGeom>
          <a:noFill/>
          <a:ln cap="flat" cmpd="sng" w="9525">
            <a:solidFill>
              <a:srgbClr val="D3D8DB"/>
            </a:solidFill>
            <a:prstDash val="solid"/>
            <a:round/>
            <a:headEnd len="sm" w="sm" type="none"/>
            <a:tailEnd len="sm" w="sm" type="none"/>
          </a:ln>
        </p:spPr>
      </p:cxnSp>
      <p:sp>
        <p:nvSpPr>
          <p:cNvPr id="53" name="Google Shape;53;p5"/>
          <p:cNvSpPr txBox="1"/>
          <p:nvPr/>
        </p:nvSpPr>
        <p:spPr>
          <a:xfrm>
            <a:off x="777240" y="4489704"/>
            <a:ext cx="10637215"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000"/>
              <a:buFont typeface="Palatino Linotype"/>
              <a:buNone/>
            </a:pPr>
            <a:r>
              <a:rPr b="0" i="0" lang="en-US" sz="2000" u="none" cap="none" strike="noStrike">
                <a:solidFill>
                  <a:srgbClr val="16191C"/>
                </a:solidFill>
                <a:latin typeface="Palatino Linotype"/>
                <a:ea typeface="Palatino Linotype"/>
                <a:cs typeface="Palatino Linotype"/>
                <a:sym typeface="Palatino Linotype"/>
              </a:rPr>
              <a:t>PR </a:t>
            </a:r>
            <a:r>
              <a:rPr b="0" i="0" lang="en-US" sz="2000" u="none" cap="none" strike="noStrike">
                <a:solidFill>
                  <a:srgbClr val="16191C"/>
                </a:solidFill>
                <a:latin typeface="Palatino Linotype"/>
                <a:ea typeface="Palatino Linotype"/>
                <a:cs typeface="Palatino Linotype"/>
                <a:sym typeface="Palatino Linotype"/>
              </a:rPr>
              <a:t>over ROC </a:t>
            </a:r>
            <a:r>
              <a:rPr b="0" i="0" lang="en-US" sz="2000" u="none" cap="none" strike="noStrike">
                <a:solidFill>
                  <a:srgbClr val="16191C"/>
                </a:solidFill>
                <a:latin typeface="Palatino Linotype"/>
                <a:ea typeface="Palatino Linotype"/>
                <a:cs typeface="Palatino Linotype"/>
                <a:sym typeface="Palatino Linotype"/>
              </a:rPr>
              <a:t>  </a:t>
            </a:r>
            <a:r>
              <a:rPr b="0" i="0" lang="en-US" sz="1200" u="none" cap="none" strike="noStrike">
                <a:solidFill>
                  <a:srgbClr val="6E767C"/>
                </a:solidFill>
                <a:latin typeface="Quattrocento Sans"/>
                <a:ea typeface="Quattrocento Sans"/>
                <a:cs typeface="Quattrocento Sans"/>
                <a:sym typeface="Quattrocento Sans"/>
              </a:rPr>
              <a:t>Saito &amp; Rehmsmeier, 2015</a:t>
            </a:r>
            <a:endParaRPr b="0" i="0" sz="2000" u="none" cap="none" strike="noStrike">
              <a:solidFill>
                <a:schemeClr val="dk1"/>
              </a:solidFill>
              <a:latin typeface="Calibri"/>
              <a:ea typeface="Calibri"/>
              <a:cs typeface="Calibri"/>
              <a:sym typeface="Calibri"/>
            </a:endParaRPr>
          </a:p>
        </p:txBody>
      </p:sp>
      <p:sp>
        <p:nvSpPr>
          <p:cNvPr id="54" name="Google Shape;54;p5"/>
          <p:cNvSpPr txBox="1"/>
          <p:nvPr/>
        </p:nvSpPr>
        <p:spPr>
          <a:xfrm>
            <a:off x="777240" y="4837176"/>
            <a:ext cx="1063721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300"/>
              <a:buFont typeface="Quattrocento Sans"/>
              <a:buNone/>
            </a:pPr>
            <a:r>
              <a:rPr b="0" i="0" lang="en-US" sz="1300" u="none" cap="none" strike="noStrike">
                <a:solidFill>
                  <a:srgbClr val="6E767C"/>
                </a:solidFill>
                <a:latin typeface="Quattrocento Sans"/>
                <a:ea typeface="Quattrocento Sans"/>
                <a:cs typeface="Quattrocento Sans"/>
                <a:sym typeface="Quattrocento Sans"/>
              </a:rPr>
              <a:t>fixes our primary metric: PR-AUC on PAI 5</a:t>
            </a:r>
            <a:endParaRPr b="0" i="0" sz="1300" u="none" cap="none" strike="noStrike">
              <a:solidFill>
                <a:schemeClr val="dk1"/>
              </a:solidFill>
              <a:latin typeface="Calibri"/>
              <a:ea typeface="Calibri"/>
              <a:cs typeface="Calibri"/>
              <a:sym typeface="Calibri"/>
            </a:endParaRPr>
          </a:p>
        </p:txBody>
      </p:sp>
      <p:cxnSp>
        <p:nvCxnSpPr>
          <p:cNvPr id="55" name="Google Shape;55;p5"/>
          <p:cNvCxnSpPr/>
          <p:nvPr/>
        </p:nvCxnSpPr>
        <p:spPr>
          <a:xfrm>
            <a:off x="777240" y="5239512"/>
            <a:ext cx="10637215" cy="0"/>
          </a:xfrm>
          <a:prstGeom prst="straightConnector1">
            <a:avLst/>
          </a:prstGeom>
          <a:noFill/>
          <a:ln cap="flat" cmpd="sng" w="9525">
            <a:solidFill>
              <a:srgbClr val="D3D8DB"/>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6"/>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Experimental setup</a:t>
            </a:r>
            <a:endParaRPr b="0" i="0" sz="2900" u="none" cap="none" strike="noStrike">
              <a:solidFill>
                <a:schemeClr val="dk1"/>
              </a:solidFill>
              <a:latin typeface="Calibri"/>
              <a:ea typeface="Calibri"/>
              <a:cs typeface="Calibri"/>
              <a:sym typeface="Calibri"/>
            </a:endParaRPr>
          </a:p>
        </p:txBody>
      </p:sp>
      <p:cxnSp>
        <p:nvCxnSpPr>
          <p:cNvPr id="62" name="Google Shape;62;p6"/>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63" name="Google Shape;63;p6"/>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Experimental setup</a:t>
            </a:r>
            <a:endParaRPr b="0" i="0" sz="1000" u="none" cap="none" strike="noStrike">
              <a:solidFill>
                <a:schemeClr val="dk1"/>
              </a:solidFill>
              <a:latin typeface="Calibri"/>
              <a:ea typeface="Calibri"/>
              <a:cs typeface="Calibri"/>
              <a:sym typeface="Calibri"/>
            </a:endParaRPr>
          </a:p>
        </p:txBody>
      </p:sp>
      <p:sp>
        <p:nvSpPr>
          <p:cNvPr id="64" name="Google Shape;64;p6"/>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4 / 17</a:t>
            </a:r>
            <a:endParaRPr b="0" i="0" sz="1000" u="none" cap="none" strike="noStrike">
              <a:solidFill>
                <a:schemeClr val="dk1"/>
              </a:solidFill>
              <a:latin typeface="Calibri"/>
              <a:ea typeface="Calibri"/>
              <a:cs typeface="Calibri"/>
              <a:sym typeface="Calibri"/>
            </a:endParaRPr>
          </a:p>
        </p:txBody>
      </p:sp>
      <p:graphicFrame>
        <p:nvGraphicFramePr>
          <p:cNvPr id="65" name="Google Shape;65;p6"/>
          <p:cNvGraphicFramePr/>
          <p:nvPr/>
        </p:nvGraphicFramePr>
        <p:xfrm>
          <a:off x="777240" y="1463040"/>
          <a:ext cx="3000000" cy="3000000"/>
        </p:xfrm>
        <a:graphic>
          <a:graphicData uri="http://schemas.openxmlformats.org/drawingml/2006/table">
            <a:tbl>
              <a:tblPr>
                <a:noFill/>
                <a:tableStyleId>{27E33D80-D22A-43B9-9D80-FE20F8DDA145}</a:tableStyleId>
              </a:tblPr>
              <a:tblGrid>
                <a:gridCol w="2011675"/>
                <a:gridCol w="8622800"/>
              </a:tblGrid>
              <a:tr h="566925">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Windowing</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224 px crop at native resolution → 14 × 14 grid → 196 tokens, fixed by construction</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566925">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Pre-training</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ViT-S/16 · context + EMA target + shallow predictor · lr 3e-5, EMA τ 0.9996 · 300 epochs</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566925">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Downstream</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encoder frozen · attention pooling · blocks 2, 7, 11 concatenated · 5 seeds per cell</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566925">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Primary metric</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PR-AUC on PAI 5 </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bl>
          </a:graphicData>
        </a:graphic>
      </p:graphicFrame>
      <p:sp>
        <p:nvSpPr>
          <p:cNvPr id="66" name="Google Shape;66;p6"/>
          <p:cNvSpPr/>
          <p:nvPr/>
        </p:nvSpPr>
        <p:spPr>
          <a:xfrm>
            <a:off x="777290" y="4059973"/>
            <a:ext cx="3300900" cy="1965900"/>
          </a:xfrm>
          <a:prstGeom prst="roundRect">
            <a:avLst>
              <a:gd fmla="val 2326" name="adj"/>
            </a:avLst>
          </a:prstGeom>
          <a:solidFill>
            <a:srgbClr val="FFFFFF"/>
          </a:solidFill>
          <a:ln cap="flat" cmpd="sng" w="2030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
          <p:cNvSpPr txBox="1"/>
          <p:nvPr/>
        </p:nvSpPr>
        <p:spPr>
          <a:xfrm>
            <a:off x="1005890" y="4206277"/>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200"/>
              <a:buFont typeface="Quattrocento Sans"/>
              <a:buNone/>
            </a:pPr>
            <a:r>
              <a:rPr b="1" i="0" lang="en-US" sz="1200" u="none" cap="none" strike="noStrike">
                <a:solidFill>
                  <a:srgbClr val="16191C"/>
                </a:solidFill>
                <a:latin typeface="Quattrocento Sans"/>
                <a:ea typeface="Quattrocento Sans"/>
                <a:cs typeface="Quattrocento Sans"/>
                <a:sym typeface="Quattrocento Sans"/>
              </a:rPr>
              <a:t>1</a:t>
            </a:r>
            <a:endParaRPr b="0" i="0" sz="1200" u="none" cap="none" strike="noStrike">
              <a:solidFill>
                <a:schemeClr val="dk1"/>
              </a:solidFill>
              <a:latin typeface="Calibri"/>
              <a:ea typeface="Calibri"/>
              <a:cs typeface="Calibri"/>
              <a:sym typeface="Calibri"/>
            </a:endParaRPr>
          </a:p>
        </p:txBody>
      </p:sp>
      <p:sp>
        <p:nvSpPr>
          <p:cNvPr id="68" name="Google Shape;68;p6"/>
          <p:cNvSpPr txBox="1"/>
          <p:nvPr/>
        </p:nvSpPr>
        <p:spPr>
          <a:xfrm>
            <a:off x="1005890" y="4498885"/>
            <a:ext cx="28437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400"/>
              <a:buFont typeface="Palatino Linotype"/>
              <a:buNone/>
            </a:pPr>
            <a:r>
              <a:rPr b="1" i="0" lang="en-US" sz="2400" u="none" cap="none" strike="noStrike">
                <a:solidFill>
                  <a:srgbClr val="16191C"/>
                </a:solidFill>
                <a:latin typeface="Palatino Linotype"/>
                <a:ea typeface="Palatino Linotype"/>
                <a:cs typeface="Palatino Linotype"/>
                <a:sym typeface="Palatino Linotype"/>
              </a:rPr>
              <a:t>Build</a:t>
            </a:r>
            <a:endParaRPr b="0" i="0" sz="2400" u="none" cap="none" strike="noStrike">
              <a:solidFill>
                <a:schemeClr val="dk1"/>
              </a:solidFill>
              <a:latin typeface="Calibri"/>
              <a:ea typeface="Calibri"/>
              <a:cs typeface="Calibri"/>
              <a:sym typeface="Calibri"/>
            </a:endParaRPr>
          </a:p>
        </p:txBody>
      </p:sp>
      <p:sp>
        <p:nvSpPr>
          <p:cNvPr id="69" name="Google Shape;69;p6"/>
          <p:cNvSpPr txBox="1"/>
          <p:nvPr/>
        </p:nvSpPr>
        <p:spPr>
          <a:xfrm>
            <a:off x="1005890" y="4992661"/>
            <a:ext cx="2843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300"/>
              <a:buFont typeface="Quattrocento Sans"/>
              <a:buNone/>
            </a:pPr>
            <a:r>
              <a:rPr b="1" i="0" lang="en-US" sz="1300" u="none" cap="none" strike="noStrike">
                <a:solidFill>
                  <a:srgbClr val="16191C"/>
                </a:solidFill>
                <a:latin typeface="Quattrocento Sans"/>
                <a:ea typeface="Quattrocento Sans"/>
                <a:cs typeface="Quattrocento Sans"/>
                <a:sym typeface="Quattrocento Sans"/>
              </a:rPr>
              <a:t>We pre-train I-JEPA ourselves.</a:t>
            </a:r>
            <a:endParaRPr b="0" i="0" sz="1300" u="none" cap="none" strike="noStrike">
              <a:solidFill>
                <a:schemeClr val="dk1"/>
              </a:solidFill>
              <a:latin typeface="Calibri"/>
              <a:ea typeface="Calibri"/>
              <a:cs typeface="Calibri"/>
              <a:sym typeface="Calibri"/>
            </a:endParaRPr>
          </a:p>
        </p:txBody>
      </p:sp>
      <p:sp>
        <p:nvSpPr>
          <p:cNvPr id="70" name="Google Shape;70;p6"/>
          <p:cNvSpPr txBox="1"/>
          <p:nvPr/>
        </p:nvSpPr>
        <p:spPr>
          <a:xfrm>
            <a:off x="1005890" y="5321845"/>
            <a:ext cx="2843700" cy="594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4,719 lesions, no labels, 289 epochs.</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No downloaded weights, no fine-tuning.</a:t>
            </a:r>
            <a:endParaRPr b="0" i="0" sz="1100" u="none" cap="none" strike="noStrike">
              <a:solidFill>
                <a:schemeClr val="dk1"/>
              </a:solidFill>
              <a:latin typeface="Calibri"/>
              <a:ea typeface="Calibri"/>
              <a:cs typeface="Calibri"/>
              <a:sym typeface="Calibri"/>
            </a:endParaRPr>
          </a:p>
        </p:txBody>
      </p:sp>
      <p:cxnSp>
        <p:nvCxnSpPr>
          <p:cNvPr id="71" name="Google Shape;71;p6"/>
          <p:cNvCxnSpPr/>
          <p:nvPr/>
        </p:nvCxnSpPr>
        <p:spPr>
          <a:xfrm>
            <a:off x="4133138" y="5038381"/>
            <a:ext cx="255900" cy="0"/>
          </a:xfrm>
          <a:prstGeom prst="straightConnector1">
            <a:avLst/>
          </a:prstGeom>
          <a:noFill/>
          <a:ln cap="flat" cmpd="sng" w="17775">
            <a:solidFill>
              <a:srgbClr val="6E767C"/>
            </a:solidFill>
            <a:prstDash val="solid"/>
            <a:round/>
            <a:headEnd len="sm" w="sm" type="none"/>
            <a:tailEnd len="med" w="med" type="triangle"/>
          </a:ln>
        </p:spPr>
      </p:cxnSp>
      <p:sp>
        <p:nvSpPr>
          <p:cNvPr id="72" name="Google Shape;72;p6"/>
          <p:cNvSpPr/>
          <p:nvPr/>
        </p:nvSpPr>
        <p:spPr>
          <a:xfrm>
            <a:off x="4444034" y="4059973"/>
            <a:ext cx="3300900" cy="1965900"/>
          </a:xfrm>
          <a:prstGeom prst="roundRect">
            <a:avLst>
              <a:gd fmla="val 2326" name="adj"/>
            </a:avLst>
          </a:prstGeom>
          <a:solidFill>
            <a:srgbClr val="FFFFFF"/>
          </a:solidFill>
          <a:ln cap="flat" cmpd="sng" w="2030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6"/>
          <p:cNvSpPr txBox="1"/>
          <p:nvPr/>
        </p:nvSpPr>
        <p:spPr>
          <a:xfrm>
            <a:off x="4672634" y="4206277"/>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200"/>
              <a:buFont typeface="Quattrocento Sans"/>
              <a:buNone/>
            </a:pPr>
            <a:r>
              <a:rPr b="1" i="0" lang="en-US" sz="1200" u="none" cap="none" strike="noStrike">
                <a:solidFill>
                  <a:srgbClr val="16191C"/>
                </a:solidFill>
                <a:latin typeface="Quattrocento Sans"/>
                <a:ea typeface="Quattrocento Sans"/>
                <a:cs typeface="Quattrocento Sans"/>
                <a:sym typeface="Quattrocento Sans"/>
              </a:rPr>
              <a:t>2</a:t>
            </a:r>
            <a:endParaRPr b="0" i="0" sz="1200" u="none" cap="none" strike="noStrike">
              <a:solidFill>
                <a:schemeClr val="dk1"/>
              </a:solidFill>
              <a:latin typeface="Calibri"/>
              <a:ea typeface="Calibri"/>
              <a:cs typeface="Calibri"/>
              <a:sym typeface="Calibri"/>
            </a:endParaRPr>
          </a:p>
        </p:txBody>
      </p:sp>
      <p:sp>
        <p:nvSpPr>
          <p:cNvPr id="74" name="Google Shape;74;p6"/>
          <p:cNvSpPr txBox="1"/>
          <p:nvPr/>
        </p:nvSpPr>
        <p:spPr>
          <a:xfrm>
            <a:off x="4672634" y="4498885"/>
            <a:ext cx="28437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400"/>
              <a:buFont typeface="Palatino Linotype"/>
              <a:buNone/>
            </a:pPr>
            <a:r>
              <a:rPr b="1" i="0" lang="en-US" sz="2400" u="none" cap="none" strike="noStrike">
                <a:solidFill>
                  <a:srgbClr val="16191C"/>
                </a:solidFill>
                <a:latin typeface="Palatino Linotype"/>
                <a:ea typeface="Palatino Linotype"/>
                <a:cs typeface="Palatino Linotype"/>
                <a:sym typeface="Palatino Linotype"/>
              </a:rPr>
              <a:t>Measure</a:t>
            </a:r>
            <a:endParaRPr b="0" i="0" sz="2400" u="none" cap="none" strike="noStrike">
              <a:solidFill>
                <a:schemeClr val="dk1"/>
              </a:solidFill>
              <a:latin typeface="Calibri"/>
              <a:ea typeface="Calibri"/>
              <a:cs typeface="Calibri"/>
              <a:sym typeface="Calibri"/>
            </a:endParaRPr>
          </a:p>
        </p:txBody>
      </p:sp>
      <p:sp>
        <p:nvSpPr>
          <p:cNvPr id="75" name="Google Shape;75;p6"/>
          <p:cNvSpPr txBox="1"/>
          <p:nvPr/>
        </p:nvSpPr>
        <p:spPr>
          <a:xfrm>
            <a:off x="4672634" y="4992661"/>
            <a:ext cx="2843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300"/>
              <a:buFont typeface="Quattrocento Sans"/>
              <a:buNone/>
            </a:pPr>
            <a:r>
              <a:rPr b="1" i="0" lang="en-US" sz="1300" u="none" cap="none" strike="noStrike">
                <a:solidFill>
                  <a:srgbClr val="16191C"/>
                </a:solidFill>
                <a:latin typeface="Quattrocento Sans"/>
                <a:ea typeface="Quattrocento Sans"/>
                <a:cs typeface="Quattrocento Sans"/>
                <a:sym typeface="Quattrocento Sans"/>
              </a:rPr>
              <a:t>Freeze it and read it as prescribed.</a:t>
            </a:r>
            <a:endParaRPr b="0" i="0" sz="1300" u="none" cap="none" strike="noStrike">
              <a:solidFill>
                <a:schemeClr val="dk1"/>
              </a:solidFill>
              <a:latin typeface="Calibri"/>
              <a:ea typeface="Calibri"/>
              <a:cs typeface="Calibri"/>
              <a:sym typeface="Calibri"/>
            </a:endParaRPr>
          </a:p>
        </p:txBody>
      </p:sp>
      <p:sp>
        <p:nvSpPr>
          <p:cNvPr id="76" name="Google Shape;76;p6"/>
          <p:cNvSpPr txBox="1"/>
          <p:nvPr/>
        </p:nvSpPr>
        <p:spPr>
          <a:xfrm>
            <a:off x="4672634" y="5321845"/>
            <a:ext cx="2843700" cy="594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The trained encoder does not separate</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itself from one with random weights.</a:t>
            </a:r>
            <a:endParaRPr b="0" i="0" sz="1100" u="none" cap="none" strike="noStrike">
              <a:solidFill>
                <a:schemeClr val="dk1"/>
              </a:solidFill>
              <a:latin typeface="Calibri"/>
              <a:ea typeface="Calibri"/>
              <a:cs typeface="Calibri"/>
              <a:sym typeface="Calibri"/>
            </a:endParaRPr>
          </a:p>
        </p:txBody>
      </p:sp>
      <p:cxnSp>
        <p:nvCxnSpPr>
          <p:cNvPr id="77" name="Google Shape;77;p6"/>
          <p:cNvCxnSpPr/>
          <p:nvPr/>
        </p:nvCxnSpPr>
        <p:spPr>
          <a:xfrm>
            <a:off x="7799882" y="5038381"/>
            <a:ext cx="255900" cy="0"/>
          </a:xfrm>
          <a:prstGeom prst="straightConnector1">
            <a:avLst/>
          </a:prstGeom>
          <a:noFill/>
          <a:ln cap="flat" cmpd="sng" w="17775">
            <a:solidFill>
              <a:srgbClr val="6E767C"/>
            </a:solidFill>
            <a:prstDash val="solid"/>
            <a:round/>
            <a:headEnd len="sm" w="sm" type="none"/>
            <a:tailEnd len="med" w="med" type="triangle"/>
          </a:ln>
        </p:spPr>
      </p:cxnSp>
      <p:sp>
        <p:nvSpPr>
          <p:cNvPr id="78" name="Google Shape;78;p6"/>
          <p:cNvSpPr/>
          <p:nvPr/>
        </p:nvSpPr>
        <p:spPr>
          <a:xfrm>
            <a:off x="8110778" y="4059973"/>
            <a:ext cx="3300900" cy="1965900"/>
          </a:xfrm>
          <a:prstGeom prst="roundRect">
            <a:avLst>
              <a:gd fmla="val 2326" name="adj"/>
            </a:avLst>
          </a:prstGeom>
          <a:solidFill>
            <a:srgbClr val="F2F5F6"/>
          </a:solidFill>
          <a:ln cap="flat" cmpd="sng" w="20300">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6"/>
          <p:cNvSpPr txBox="1"/>
          <p:nvPr/>
        </p:nvSpPr>
        <p:spPr>
          <a:xfrm>
            <a:off x="8339378" y="4206277"/>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03325"/>
              </a:buClr>
              <a:buSzPts val="1200"/>
              <a:buFont typeface="Quattrocento Sans"/>
              <a:buNone/>
            </a:pPr>
            <a:r>
              <a:rPr b="1" i="0" lang="en-US" sz="1200" u="none" cap="none" strike="noStrike">
                <a:solidFill>
                  <a:srgbClr val="A03325"/>
                </a:solidFill>
                <a:latin typeface="Quattrocento Sans"/>
                <a:ea typeface="Quattrocento Sans"/>
                <a:cs typeface="Quattrocento Sans"/>
                <a:sym typeface="Quattrocento Sans"/>
              </a:rPr>
              <a:t>3</a:t>
            </a:r>
            <a:endParaRPr b="0" i="0" sz="1200" u="none" cap="none" strike="noStrike">
              <a:solidFill>
                <a:schemeClr val="dk1"/>
              </a:solidFill>
              <a:latin typeface="Calibri"/>
              <a:ea typeface="Calibri"/>
              <a:cs typeface="Calibri"/>
              <a:sym typeface="Calibri"/>
            </a:endParaRPr>
          </a:p>
        </p:txBody>
      </p:sp>
      <p:sp>
        <p:nvSpPr>
          <p:cNvPr id="80" name="Google Shape;80;p6"/>
          <p:cNvSpPr txBox="1"/>
          <p:nvPr/>
        </p:nvSpPr>
        <p:spPr>
          <a:xfrm>
            <a:off x="8339378" y="4498885"/>
            <a:ext cx="28437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03325"/>
              </a:buClr>
              <a:buSzPts val="2400"/>
              <a:buFont typeface="Palatino Linotype"/>
              <a:buNone/>
            </a:pPr>
            <a:r>
              <a:rPr b="1" i="0" lang="en-US" sz="2400" u="none" cap="none" strike="noStrike">
                <a:solidFill>
                  <a:srgbClr val="A03325"/>
                </a:solidFill>
                <a:latin typeface="Palatino Linotype"/>
                <a:ea typeface="Palatino Linotype"/>
                <a:cs typeface="Palatino Linotype"/>
                <a:sym typeface="Palatino Linotype"/>
              </a:rPr>
              <a:t>Grading</a:t>
            </a:r>
            <a:endParaRPr b="0" i="0" sz="2400" u="none" cap="none" strike="noStrike">
              <a:solidFill>
                <a:schemeClr val="dk1"/>
              </a:solidFill>
              <a:latin typeface="Calibri"/>
              <a:ea typeface="Calibri"/>
              <a:cs typeface="Calibri"/>
              <a:sym typeface="Calibri"/>
            </a:endParaRPr>
          </a:p>
        </p:txBody>
      </p:sp>
      <p:sp>
        <p:nvSpPr>
          <p:cNvPr id="81" name="Google Shape;81;p6"/>
          <p:cNvSpPr txBox="1"/>
          <p:nvPr/>
        </p:nvSpPr>
        <p:spPr>
          <a:xfrm>
            <a:off x="8339378" y="4992661"/>
            <a:ext cx="2843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300"/>
              <a:buFont typeface="Quattrocento Sans"/>
              <a:buNone/>
            </a:pPr>
            <a:r>
              <a:rPr b="1" i="0" lang="en-US" sz="1300" u="none" cap="none" strike="noStrike">
                <a:solidFill>
                  <a:srgbClr val="16191C"/>
                </a:solidFill>
                <a:latin typeface="Quattrocento Sans"/>
                <a:ea typeface="Quattrocento Sans"/>
                <a:cs typeface="Quattrocento Sans"/>
                <a:sym typeface="Quattrocento Sans"/>
              </a:rPr>
              <a:t>The patch is graded</a:t>
            </a:r>
            <a:endParaRPr b="0" i="0" sz="1300" u="none" cap="none" strike="noStrike">
              <a:solidFill>
                <a:schemeClr val="dk1"/>
              </a:solidFill>
              <a:latin typeface="Calibri"/>
              <a:ea typeface="Calibri"/>
              <a:cs typeface="Calibri"/>
              <a:sym typeface="Calibri"/>
            </a:endParaRPr>
          </a:p>
        </p:txBody>
      </p:sp>
      <p:sp>
        <p:nvSpPr>
          <p:cNvPr id="82" name="Google Shape;82;p6"/>
          <p:cNvSpPr txBox="1"/>
          <p:nvPr/>
        </p:nvSpPr>
        <p:spPr>
          <a:xfrm>
            <a:off x="8339378" y="5321845"/>
            <a:ext cx="2843700" cy="594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The model decides the gravity of lesion by giving it PAI 3/4/5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7"/>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Two stages, one frozen encoder</a:t>
            </a:r>
            <a:endParaRPr b="0" i="0" sz="2900" u="none" cap="none" strike="noStrike">
              <a:solidFill>
                <a:schemeClr val="dk1"/>
              </a:solidFill>
              <a:latin typeface="Calibri"/>
              <a:ea typeface="Calibri"/>
              <a:cs typeface="Calibri"/>
              <a:sym typeface="Calibri"/>
            </a:endParaRPr>
          </a:p>
        </p:txBody>
      </p:sp>
      <p:cxnSp>
        <p:nvCxnSpPr>
          <p:cNvPr id="89" name="Google Shape;89;p7"/>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90" name="Google Shape;90;p7"/>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5 / 17</a:t>
            </a:r>
            <a:endParaRPr b="0" i="0" sz="1000" u="none" cap="none" strike="noStrike">
              <a:solidFill>
                <a:schemeClr val="dk1"/>
              </a:solidFill>
              <a:latin typeface="Calibri"/>
              <a:ea typeface="Calibri"/>
              <a:cs typeface="Calibri"/>
              <a:sym typeface="Calibri"/>
            </a:endParaRPr>
          </a:p>
        </p:txBody>
      </p:sp>
      <p:sp>
        <p:nvSpPr>
          <p:cNvPr id="91" name="Google Shape;91;p7"/>
          <p:cNvSpPr txBox="1"/>
          <p:nvPr/>
        </p:nvSpPr>
        <p:spPr>
          <a:xfrm>
            <a:off x="777240" y="1572768"/>
            <a:ext cx="1063721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00"/>
              <a:buFont typeface="Quattrocento Sans"/>
              <a:buNone/>
            </a:pPr>
            <a:r>
              <a:rPr b="0" i="1" lang="en-US" sz="1100" u="none" cap="none" strike="noStrike">
                <a:solidFill>
                  <a:srgbClr val="6E767C"/>
                </a:solidFill>
                <a:latin typeface="Quattrocento Sans"/>
                <a:ea typeface="Quattrocento Sans"/>
                <a:cs typeface="Quattrocento Sans"/>
                <a:sym typeface="Quattrocento Sans"/>
              </a:rPr>
              <a:t>self-supervised, no labels</a:t>
            </a:r>
            <a:endParaRPr b="0" i="0" sz="1100" u="none" cap="none" strike="noStrike">
              <a:solidFill>
                <a:schemeClr val="dk1"/>
              </a:solidFill>
              <a:latin typeface="Calibri"/>
              <a:ea typeface="Calibri"/>
              <a:cs typeface="Calibri"/>
              <a:sym typeface="Calibri"/>
            </a:endParaRPr>
          </a:p>
        </p:txBody>
      </p:sp>
      <p:sp>
        <p:nvSpPr>
          <p:cNvPr id="92" name="Google Shape;92;p7"/>
          <p:cNvSpPr/>
          <p:nvPr/>
        </p:nvSpPr>
        <p:spPr>
          <a:xfrm>
            <a:off x="777240" y="1847088"/>
            <a:ext cx="3291840" cy="1783080"/>
          </a:xfrm>
          <a:prstGeom prst="rect">
            <a:avLst/>
          </a:prstGeom>
          <a:solidFill>
            <a:srgbClr val="FFFFFF"/>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7"/>
          <p:cNvSpPr txBox="1"/>
          <p:nvPr/>
        </p:nvSpPr>
        <p:spPr>
          <a:xfrm>
            <a:off x="914400" y="2011680"/>
            <a:ext cx="3017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Context encoder</a:t>
            </a:r>
            <a:endParaRPr b="0" i="0" sz="1600" u="none" cap="none" strike="noStrike">
              <a:solidFill>
                <a:schemeClr val="dk1"/>
              </a:solidFill>
              <a:latin typeface="Calibri"/>
              <a:ea typeface="Calibri"/>
              <a:cs typeface="Calibri"/>
              <a:sym typeface="Calibri"/>
            </a:endParaRPr>
          </a:p>
        </p:txBody>
      </p:sp>
      <p:sp>
        <p:nvSpPr>
          <p:cNvPr id="94" name="Google Shape;94;p7"/>
          <p:cNvSpPr txBox="1"/>
          <p:nvPr/>
        </p:nvSpPr>
        <p:spPr>
          <a:xfrm>
            <a:off x="914400" y="2350008"/>
            <a:ext cx="3017520" cy="86868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ViT-S/16</a:t>
            </a:r>
            <a:endParaRPr b="0" i="0" sz="1150" u="none" cap="none" strike="noStrike">
              <a:solidFill>
                <a:schemeClr val="dk1"/>
              </a:solidFill>
              <a:latin typeface="Calibri"/>
              <a:ea typeface="Calibri"/>
              <a:cs typeface="Calibri"/>
              <a:sym typeface="Calibri"/>
            </a:endParaRPr>
          </a:p>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12 blocks, dim 384</a:t>
            </a:r>
            <a:endParaRPr b="0" i="0" sz="1150" u="none" cap="none" strike="noStrike">
              <a:solidFill>
                <a:schemeClr val="dk1"/>
              </a:solidFill>
              <a:latin typeface="Calibri"/>
              <a:ea typeface="Calibri"/>
              <a:cs typeface="Calibri"/>
              <a:sym typeface="Calibri"/>
            </a:endParaRPr>
          </a:p>
        </p:txBody>
      </p:sp>
      <p:sp>
        <p:nvSpPr>
          <p:cNvPr id="95" name="Google Shape;95;p7"/>
          <p:cNvSpPr txBox="1"/>
          <p:nvPr/>
        </p:nvSpPr>
        <p:spPr>
          <a:xfrm>
            <a:off x="914400" y="3264408"/>
            <a:ext cx="30175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21.6 M</a:t>
            </a:r>
            <a:endParaRPr b="0" i="0" sz="1150" u="none" cap="none" strike="noStrike">
              <a:solidFill>
                <a:schemeClr val="dk1"/>
              </a:solidFill>
              <a:latin typeface="Calibri"/>
              <a:ea typeface="Calibri"/>
              <a:cs typeface="Calibri"/>
              <a:sym typeface="Calibri"/>
            </a:endParaRPr>
          </a:p>
        </p:txBody>
      </p:sp>
      <p:sp>
        <p:nvSpPr>
          <p:cNvPr id="96" name="Google Shape;96;p7"/>
          <p:cNvSpPr/>
          <p:nvPr/>
        </p:nvSpPr>
        <p:spPr>
          <a:xfrm>
            <a:off x="4434840" y="1847088"/>
            <a:ext cx="3291840" cy="1783080"/>
          </a:xfrm>
          <a:prstGeom prst="rect">
            <a:avLst/>
          </a:prstGeom>
          <a:solidFill>
            <a:srgbClr val="FFFFFF"/>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7"/>
          <p:cNvSpPr txBox="1"/>
          <p:nvPr/>
        </p:nvSpPr>
        <p:spPr>
          <a:xfrm>
            <a:off x="4572000" y="2011680"/>
            <a:ext cx="3017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Predictor</a:t>
            </a:r>
            <a:endParaRPr b="0" i="0" sz="1600" u="none" cap="none" strike="noStrike">
              <a:solidFill>
                <a:schemeClr val="dk1"/>
              </a:solidFill>
              <a:latin typeface="Calibri"/>
              <a:ea typeface="Calibri"/>
              <a:cs typeface="Calibri"/>
              <a:sym typeface="Calibri"/>
            </a:endParaRPr>
          </a:p>
        </p:txBody>
      </p:sp>
      <p:sp>
        <p:nvSpPr>
          <p:cNvPr id="98" name="Google Shape;98;p7"/>
          <p:cNvSpPr txBox="1"/>
          <p:nvPr/>
        </p:nvSpPr>
        <p:spPr>
          <a:xfrm>
            <a:off x="4572000" y="2350008"/>
            <a:ext cx="3017520" cy="86868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4 blocks — narrow</a:t>
            </a:r>
            <a:endParaRPr b="0" i="0" sz="1150" u="none" cap="none" strike="noStrike">
              <a:solidFill>
                <a:schemeClr val="dk1"/>
              </a:solidFill>
              <a:latin typeface="Calibri"/>
              <a:ea typeface="Calibri"/>
              <a:cs typeface="Calibri"/>
              <a:sym typeface="Calibri"/>
            </a:endParaRPr>
          </a:p>
        </p:txBody>
      </p:sp>
      <p:sp>
        <p:nvSpPr>
          <p:cNvPr id="99" name="Google Shape;99;p7"/>
          <p:cNvSpPr txBox="1"/>
          <p:nvPr/>
        </p:nvSpPr>
        <p:spPr>
          <a:xfrm>
            <a:off x="4572000" y="3264408"/>
            <a:ext cx="30175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0.5 M   2.4 %</a:t>
            </a:r>
            <a:endParaRPr b="0" i="0" sz="1150" u="none" cap="none" strike="noStrike">
              <a:solidFill>
                <a:schemeClr val="dk1"/>
              </a:solidFill>
              <a:latin typeface="Calibri"/>
              <a:ea typeface="Calibri"/>
              <a:cs typeface="Calibri"/>
              <a:sym typeface="Calibri"/>
            </a:endParaRPr>
          </a:p>
        </p:txBody>
      </p:sp>
      <p:sp>
        <p:nvSpPr>
          <p:cNvPr id="100" name="Google Shape;100;p7"/>
          <p:cNvSpPr/>
          <p:nvPr/>
        </p:nvSpPr>
        <p:spPr>
          <a:xfrm>
            <a:off x="8092440" y="1847088"/>
            <a:ext cx="3319272" cy="1783080"/>
          </a:xfrm>
          <a:prstGeom prst="rect">
            <a:avLst/>
          </a:prstGeom>
          <a:solidFill>
            <a:srgbClr val="FFFFFF"/>
          </a:solidFill>
          <a:ln cap="flat" cmpd="sng" w="1905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7"/>
          <p:cNvSpPr txBox="1"/>
          <p:nvPr/>
        </p:nvSpPr>
        <p:spPr>
          <a:xfrm>
            <a:off x="8229600" y="2011680"/>
            <a:ext cx="3044952"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Target encoder</a:t>
            </a:r>
            <a:endParaRPr b="0" i="0" sz="1600" u="none" cap="none" strike="noStrike">
              <a:solidFill>
                <a:schemeClr val="dk1"/>
              </a:solidFill>
              <a:latin typeface="Calibri"/>
              <a:ea typeface="Calibri"/>
              <a:cs typeface="Calibri"/>
              <a:sym typeface="Calibri"/>
            </a:endParaRPr>
          </a:p>
        </p:txBody>
      </p:sp>
      <p:sp>
        <p:nvSpPr>
          <p:cNvPr id="102" name="Google Shape;102;p7"/>
          <p:cNvSpPr txBox="1"/>
          <p:nvPr/>
        </p:nvSpPr>
        <p:spPr>
          <a:xfrm>
            <a:off x="8229600" y="2350008"/>
            <a:ext cx="3044952" cy="86868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ViT-S/16</a:t>
            </a:r>
            <a:endParaRPr b="0" i="0" sz="1150" u="none" cap="none" strike="noStrike">
              <a:solidFill>
                <a:schemeClr val="dk1"/>
              </a:solidFill>
              <a:latin typeface="Calibri"/>
              <a:ea typeface="Calibri"/>
              <a:cs typeface="Calibri"/>
              <a:sym typeface="Calibri"/>
            </a:endParaRPr>
          </a:p>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12 blocks, dim 384</a:t>
            </a:r>
            <a:endParaRPr b="0" i="0" sz="1150" u="none" cap="none" strike="noStrike">
              <a:solidFill>
                <a:srgbClr val="6E767C"/>
              </a:solidFill>
              <a:latin typeface="Quattrocento Sans"/>
              <a:ea typeface="Quattrocento Sans"/>
              <a:cs typeface="Quattrocento Sans"/>
              <a:sym typeface="Quattrocento Sans"/>
            </a:endParaRPr>
          </a:p>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EMA only, no gradient</a:t>
            </a:r>
            <a:endParaRPr b="0" i="0" sz="1150" u="none" cap="none" strike="noStrike">
              <a:solidFill>
                <a:schemeClr val="dk1"/>
              </a:solidFill>
              <a:latin typeface="Calibri"/>
              <a:ea typeface="Calibri"/>
              <a:cs typeface="Calibri"/>
              <a:sym typeface="Calibri"/>
            </a:endParaRPr>
          </a:p>
        </p:txBody>
      </p:sp>
      <p:sp>
        <p:nvSpPr>
          <p:cNvPr id="103" name="Google Shape;103;p7"/>
          <p:cNvSpPr txBox="1"/>
          <p:nvPr/>
        </p:nvSpPr>
        <p:spPr>
          <a:xfrm>
            <a:off x="8229600" y="3264408"/>
            <a:ext cx="304495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150"/>
              <a:buFont typeface="Quattrocento Sans"/>
              <a:buNone/>
            </a:pPr>
            <a:r>
              <a:rPr b="0" i="0" lang="en-US" sz="1150" u="none" cap="none" strike="noStrike">
                <a:solidFill>
                  <a:srgbClr val="16191C"/>
                </a:solidFill>
                <a:latin typeface="Quattrocento Sans"/>
                <a:ea typeface="Quattrocento Sans"/>
                <a:cs typeface="Quattrocento Sans"/>
                <a:sym typeface="Quattrocento Sans"/>
              </a:rPr>
              <a:t>21.6 M</a:t>
            </a:r>
            <a:endParaRPr b="0" i="0" sz="1150" u="none" cap="none" strike="noStrike">
              <a:solidFill>
                <a:schemeClr val="dk1"/>
              </a:solidFill>
              <a:latin typeface="Calibri"/>
              <a:ea typeface="Calibri"/>
              <a:cs typeface="Calibri"/>
              <a:sym typeface="Calibri"/>
            </a:endParaRPr>
          </a:p>
        </p:txBody>
      </p:sp>
      <p:sp>
        <p:nvSpPr>
          <p:cNvPr id="104" name="Google Shape;104;p7"/>
          <p:cNvSpPr txBox="1"/>
          <p:nvPr/>
        </p:nvSpPr>
        <p:spPr>
          <a:xfrm>
            <a:off x="777240" y="3721608"/>
            <a:ext cx="10637215"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250"/>
              <a:buFont typeface="Quattrocento Sans"/>
              <a:buNone/>
            </a:pPr>
            <a:r>
              <a:rPr b="0" i="1" lang="en-US" sz="1250" u="none" cap="none" strike="noStrike">
                <a:solidFill>
                  <a:srgbClr val="6E767C"/>
                </a:solidFill>
                <a:latin typeface="Quattrocento Sans"/>
                <a:ea typeface="Quattrocento Sans"/>
                <a:cs typeface="Quattrocento Sans"/>
                <a:sym typeface="Quattrocento Sans"/>
              </a:rPr>
              <a:t>predicts representations, not pixels</a:t>
            </a:r>
            <a:endParaRPr b="0" i="0" sz="1250" u="none" cap="none" strike="noStrike">
              <a:solidFill>
                <a:schemeClr val="dk1"/>
              </a:solidFill>
              <a:latin typeface="Calibri"/>
              <a:ea typeface="Calibri"/>
              <a:cs typeface="Calibri"/>
              <a:sym typeface="Calibri"/>
            </a:endParaRPr>
          </a:p>
        </p:txBody>
      </p:sp>
      <p:cxnSp>
        <p:nvCxnSpPr>
          <p:cNvPr id="105" name="Google Shape;105;p7"/>
          <p:cNvCxnSpPr/>
          <p:nvPr/>
        </p:nvCxnSpPr>
        <p:spPr>
          <a:xfrm>
            <a:off x="777240" y="4114800"/>
            <a:ext cx="10637215" cy="0"/>
          </a:xfrm>
          <a:prstGeom prst="straightConnector1">
            <a:avLst/>
          </a:prstGeom>
          <a:noFill/>
          <a:ln cap="flat" cmpd="sng" w="12700">
            <a:solidFill>
              <a:srgbClr val="16191C"/>
            </a:solidFill>
            <a:prstDash val="solid"/>
            <a:round/>
            <a:headEnd len="sm" w="sm" type="none"/>
            <a:tailEnd len="sm" w="sm" type="none"/>
          </a:ln>
        </p:spPr>
      </p:cxnSp>
      <p:sp>
        <p:nvSpPr>
          <p:cNvPr id="106" name="Google Shape;106;p7"/>
          <p:cNvSpPr txBox="1"/>
          <p:nvPr/>
        </p:nvSpPr>
        <p:spPr>
          <a:xfrm>
            <a:off x="777240" y="4169664"/>
            <a:ext cx="10637215"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500"/>
              <a:buFont typeface="Palatino Linotype"/>
              <a:buNone/>
            </a:pPr>
            <a:r>
              <a:rPr b="0" i="1" lang="en-US" sz="1500" u="none" cap="none" strike="noStrike">
                <a:solidFill>
                  <a:srgbClr val="16191C"/>
                </a:solidFill>
                <a:latin typeface="Palatino Linotype"/>
                <a:ea typeface="Palatino Linotype"/>
                <a:cs typeface="Palatino Linotype"/>
                <a:sym typeface="Palatino Linotype"/>
              </a:rPr>
              <a:t>the target encoder is then frozen</a:t>
            </a:r>
            <a:endParaRPr b="0" i="0" sz="1500" u="none" cap="none" strike="noStrike">
              <a:solidFill>
                <a:schemeClr val="dk1"/>
              </a:solidFill>
              <a:latin typeface="Calibri"/>
              <a:ea typeface="Calibri"/>
              <a:cs typeface="Calibri"/>
              <a:sym typeface="Calibri"/>
            </a:endParaRPr>
          </a:p>
        </p:txBody>
      </p:sp>
      <p:sp>
        <p:nvSpPr>
          <p:cNvPr id="107" name="Google Shape;107;p7"/>
          <p:cNvSpPr txBox="1"/>
          <p:nvPr/>
        </p:nvSpPr>
        <p:spPr>
          <a:xfrm>
            <a:off x="777240" y="4617720"/>
            <a:ext cx="1063721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00"/>
              <a:buFont typeface="Quattrocento Sans"/>
              <a:buNone/>
            </a:pPr>
            <a:r>
              <a:rPr b="0" i="1" lang="en-US" sz="1100" u="none" cap="none" strike="noStrike">
                <a:solidFill>
                  <a:srgbClr val="6E767C"/>
                </a:solidFill>
                <a:latin typeface="Quattrocento Sans"/>
                <a:ea typeface="Quattrocento Sans"/>
                <a:cs typeface="Quattrocento Sans"/>
                <a:sym typeface="Quattrocento Sans"/>
              </a:rPr>
              <a:t>downstream, supervised</a:t>
            </a:r>
            <a:endParaRPr b="0" i="0" sz="1100" u="none" cap="none" strike="noStrike">
              <a:solidFill>
                <a:schemeClr val="dk1"/>
              </a:solidFill>
              <a:latin typeface="Calibri"/>
              <a:ea typeface="Calibri"/>
              <a:cs typeface="Calibri"/>
              <a:sym typeface="Calibri"/>
            </a:endParaRPr>
          </a:p>
        </p:txBody>
      </p:sp>
      <p:sp>
        <p:nvSpPr>
          <p:cNvPr id="108" name="Google Shape;108;p7"/>
          <p:cNvSpPr/>
          <p:nvPr/>
        </p:nvSpPr>
        <p:spPr>
          <a:xfrm>
            <a:off x="777240" y="4892040"/>
            <a:ext cx="3291840" cy="1280160"/>
          </a:xfrm>
          <a:prstGeom prst="rect">
            <a:avLst/>
          </a:prstGeom>
          <a:solidFill>
            <a:srgbClr val="FFFFFF"/>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7"/>
          <p:cNvSpPr txBox="1"/>
          <p:nvPr/>
        </p:nvSpPr>
        <p:spPr>
          <a:xfrm>
            <a:off x="914400" y="5056632"/>
            <a:ext cx="3017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Token selection</a:t>
            </a:r>
            <a:endParaRPr b="0" i="0" sz="1600" u="none" cap="none" strike="noStrike">
              <a:solidFill>
                <a:schemeClr val="dk1"/>
              </a:solidFill>
              <a:latin typeface="Calibri"/>
              <a:ea typeface="Calibri"/>
              <a:cs typeface="Calibri"/>
              <a:sym typeface="Calibri"/>
            </a:endParaRPr>
          </a:p>
        </p:txBody>
      </p:sp>
      <p:sp>
        <p:nvSpPr>
          <p:cNvPr id="110" name="Google Shape;110;p7"/>
          <p:cNvSpPr txBox="1"/>
          <p:nvPr/>
        </p:nvSpPr>
        <p:spPr>
          <a:xfrm>
            <a:off x="914400" y="5394960"/>
            <a:ext cx="3017520" cy="36576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t/>
            </a:r>
            <a:endParaRPr b="0" i="0" sz="1150" u="none" cap="none" strike="noStrike">
              <a:solidFill>
                <a:schemeClr val="dk1"/>
              </a:solidFill>
              <a:latin typeface="Calibri"/>
              <a:ea typeface="Calibri"/>
              <a:cs typeface="Calibri"/>
              <a:sym typeface="Calibri"/>
            </a:endParaRPr>
          </a:p>
        </p:txBody>
      </p:sp>
      <p:sp>
        <p:nvSpPr>
          <p:cNvPr id="111" name="Google Shape;111;p7"/>
          <p:cNvSpPr txBox="1"/>
          <p:nvPr/>
        </p:nvSpPr>
        <p:spPr>
          <a:xfrm>
            <a:off x="914400" y="5806440"/>
            <a:ext cx="30175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lang="en-US" sz="1150">
                <a:solidFill>
                  <a:srgbClr val="6E767C"/>
                </a:solidFill>
                <a:latin typeface="Quattrocento Sans"/>
                <a:ea typeface="Quattrocento Sans"/>
                <a:cs typeface="Quattrocento Sans"/>
                <a:sym typeface="Quattrocento Sans"/>
              </a:rPr>
              <a:t>Fixed size</a:t>
            </a:r>
            <a:endParaRPr b="0" i="0" sz="1150" u="none" cap="none" strike="noStrike">
              <a:solidFill>
                <a:schemeClr val="dk1"/>
              </a:solidFill>
              <a:latin typeface="Calibri"/>
              <a:ea typeface="Calibri"/>
              <a:cs typeface="Calibri"/>
              <a:sym typeface="Calibri"/>
            </a:endParaRPr>
          </a:p>
        </p:txBody>
      </p:sp>
      <p:sp>
        <p:nvSpPr>
          <p:cNvPr id="112" name="Google Shape;112;p7"/>
          <p:cNvSpPr/>
          <p:nvPr/>
        </p:nvSpPr>
        <p:spPr>
          <a:xfrm>
            <a:off x="4434840" y="4892040"/>
            <a:ext cx="3291840" cy="1280160"/>
          </a:xfrm>
          <a:prstGeom prst="rect">
            <a:avLst/>
          </a:prstGeom>
          <a:solidFill>
            <a:srgbClr val="FFFFFF"/>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7"/>
          <p:cNvSpPr txBox="1"/>
          <p:nvPr/>
        </p:nvSpPr>
        <p:spPr>
          <a:xfrm>
            <a:off x="4572000" y="5056632"/>
            <a:ext cx="3017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Attention pooling</a:t>
            </a:r>
            <a:endParaRPr b="0" i="0" sz="1600" u="none" cap="none" strike="noStrike">
              <a:solidFill>
                <a:schemeClr val="dk1"/>
              </a:solidFill>
              <a:latin typeface="Calibri"/>
              <a:ea typeface="Calibri"/>
              <a:cs typeface="Calibri"/>
              <a:sym typeface="Calibri"/>
            </a:endParaRPr>
          </a:p>
        </p:txBody>
      </p:sp>
      <p:sp>
        <p:nvSpPr>
          <p:cNvPr id="114" name="Google Shape;114;p7"/>
          <p:cNvSpPr txBox="1"/>
          <p:nvPr/>
        </p:nvSpPr>
        <p:spPr>
          <a:xfrm>
            <a:off x="4572000" y="5394960"/>
            <a:ext cx="3017520" cy="36576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t/>
            </a:r>
            <a:endParaRPr b="0" i="0" sz="1150" u="none" cap="none" strike="noStrike">
              <a:solidFill>
                <a:schemeClr val="dk1"/>
              </a:solidFill>
              <a:latin typeface="Calibri"/>
              <a:ea typeface="Calibri"/>
              <a:cs typeface="Calibri"/>
              <a:sym typeface="Calibri"/>
            </a:endParaRPr>
          </a:p>
        </p:txBody>
      </p:sp>
      <p:sp>
        <p:nvSpPr>
          <p:cNvPr id="115" name="Google Shape;115;p7"/>
          <p:cNvSpPr txBox="1"/>
          <p:nvPr/>
        </p:nvSpPr>
        <p:spPr>
          <a:xfrm>
            <a:off x="4572000" y="5806440"/>
            <a:ext cx="30175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5.3 M</a:t>
            </a:r>
            <a:endParaRPr b="0" i="0" sz="1150" u="none" cap="none" strike="noStrike">
              <a:solidFill>
                <a:schemeClr val="dk1"/>
              </a:solidFill>
              <a:latin typeface="Calibri"/>
              <a:ea typeface="Calibri"/>
              <a:cs typeface="Calibri"/>
              <a:sym typeface="Calibri"/>
            </a:endParaRPr>
          </a:p>
        </p:txBody>
      </p:sp>
      <p:sp>
        <p:nvSpPr>
          <p:cNvPr id="116" name="Google Shape;116;p7"/>
          <p:cNvSpPr/>
          <p:nvPr/>
        </p:nvSpPr>
        <p:spPr>
          <a:xfrm>
            <a:off x="8092440" y="4892040"/>
            <a:ext cx="3319272" cy="1280160"/>
          </a:xfrm>
          <a:prstGeom prst="rect">
            <a:avLst/>
          </a:prstGeom>
          <a:solidFill>
            <a:srgbClr val="FFFFFF"/>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7"/>
          <p:cNvSpPr txBox="1"/>
          <p:nvPr/>
        </p:nvSpPr>
        <p:spPr>
          <a:xfrm>
            <a:off x="8229600" y="5056632"/>
            <a:ext cx="3044952"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Classifier head</a:t>
            </a:r>
            <a:endParaRPr b="0" i="0" sz="1600" u="none" cap="none" strike="noStrike">
              <a:solidFill>
                <a:schemeClr val="dk1"/>
              </a:solidFill>
              <a:latin typeface="Calibri"/>
              <a:ea typeface="Calibri"/>
              <a:cs typeface="Calibri"/>
              <a:sym typeface="Calibri"/>
            </a:endParaRPr>
          </a:p>
        </p:txBody>
      </p:sp>
      <p:sp>
        <p:nvSpPr>
          <p:cNvPr id="118" name="Google Shape;118;p7"/>
          <p:cNvSpPr txBox="1"/>
          <p:nvPr/>
        </p:nvSpPr>
        <p:spPr>
          <a:xfrm>
            <a:off x="8229600" y="5394960"/>
            <a:ext cx="3044952" cy="36576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one Linear, 1,152</a:t>
            </a:r>
            <a:endParaRPr b="0" i="0" sz="1150" u="none" cap="none" strike="noStrike">
              <a:solidFill>
                <a:schemeClr val="dk1"/>
              </a:solidFill>
              <a:latin typeface="Calibri"/>
              <a:ea typeface="Calibri"/>
              <a:cs typeface="Calibri"/>
              <a:sym typeface="Calibri"/>
            </a:endParaRPr>
          </a:p>
        </p:txBody>
      </p:sp>
      <p:sp>
        <p:nvSpPr>
          <p:cNvPr id="119" name="Google Shape;119;p7"/>
          <p:cNvSpPr txBox="1"/>
          <p:nvPr/>
        </p:nvSpPr>
        <p:spPr>
          <a:xfrm>
            <a:off x="8229600" y="5806440"/>
            <a:ext cx="304495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3,459   0.1 %</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8"/>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How I-JEPA works</a:t>
            </a:r>
            <a:endParaRPr b="0" i="0" sz="2900" u="none" cap="none" strike="noStrike">
              <a:solidFill>
                <a:schemeClr val="dk1"/>
              </a:solidFill>
              <a:latin typeface="Calibri"/>
              <a:ea typeface="Calibri"/>
              <a:cs typeface="Calibri"/>
              <a:sym typeface="Calibri"/>
            </a:endParaRPr>
          </a:p>
        </p:txBody>
      </p:sp>
      <p:cxnSp>
        <p:nvCxnSpPr>
          <p:cNvPr id="126" name="Google Shape;126;p8"/>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127" name="Google Shape;127;p8"/>
          <p:cNvSpPr txBox="1"/>
          <p:nvPr/>
        </p:nvSpPr>
        <p:spPr>
          <a:xfrm>
            <a:off x="777240" y="1225296"/>
            <a:ext cx="106344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Assran et al., CVPR 2023  ·  the prediction happens in representation space — no pixel is ever reconstructed</a:t>
            </a:r>
            <a:endParaRPr b="0" i="0" sz="1050" u="none" cap="none" strike="noStrike">
              <a:solidFill>
                <a:schemeClr val="dk1"/>
              </a:solidFill>
              <a:latin typeface="Calibri"/>
              <a:ea typeface="Calibri"/>
              <a:cs typeface="Calibri"/>
              <a:sym typeface="Calibri"/>
            </a:endParaRPr>
          </a:p>
        </p:txBody>
      </p:sp>
      <p:sp>
        <p:nvSpPr>
          <p:cNvPr id="128" name="Google Shape;128;p8"/>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Background  ·  the prescribed architecture</a:t>
            </a:r>
            <a:endParaRPr b="0" i="0" sz="1000" u="none" cap="none" strike="noStrike">
              <a:solidFill>
                <a:schemeClr val="dk1"/>
              </a:solidFill>
              <a:latin typeface="Calibri"/>
              <a:ea typeface="Calibri"/>
              <a:cs typeface="Calibri"/>
              <a:sym typeface="Calibri"/>
            </a:endParaRPr>
          </a:p>
        </p:txBody>
      </p:sp>
      <p:sp>
        <p:nvSpPr>
          <p:cNvPr id="129" name="Google Shape;129;p8"/>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6 / 17</a:t>
            </a:r>
            <a:endParaRPr b="0" i="0" sz="1000" u="none" cap="none" strike="noStrike">
              <a:solidFill>
                <a:schemeClr val="dk1"/>
              </a:solidFill>
              <a:latin typeface="Calibri"/>
              <a:ea typeface="Calibri"/>
              <a:cs typeface="Calibri"/>
              <a:sym typeface="Calibri"/>
            </a:endParaRPr>
          </a:p>
        </p:txBody>
      </p:sp>
      <p:sp>
        <p:nvSpPr>
          <p:cNvPr id="130" name="Google Shape;130;p8"/>
          <p:cNvSpPr/>
          <p:nvPr/>
        </p:nvSpPr>
        <p:spPr>
          <a:xfrm>
            <a:off x="777240"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8"/>
          <p:cNvSpPr/>
          <p:nvPr/>
        </p:nvSpPr>
        <p:spPr>
          <a:xfrm>
            <a:off x="894283"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8"/>
          <p:cNvSpPr/>
          <p:nvPr/>
        </p:nvSpPr>
        <p:spPr>
          <a:xfrm>
            <a:off x="1011326"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8"/>
          <p:cNvSpPr/>
          <p:nvPr/>
        </p:nvSpPr>
        <p:spPr>
          <a:xfrm>
            <a:off x="1128370"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8"/>
          <p:cNvSpPr/>
          <p:nvPr/>
        </p:nvSpPr>
        <p:spPr>
          <a:xfrm>
            <a:off x="1245413"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8"/>
          <p:cNvSpPr/>
          <p:nvPr/>
        </p:nvSpPr>
        <p:spPr>
          <a:xfrm>
            <a:off x="1362456"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8"/>
          <p:cNvSpPr/>
          <p:nvPr/>
        </p:nvSpPr>
        <p:spPr>
          <a:xfrm>
            <a:off x="1479499"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8"/>
          <p:cNvSpPr/>
          <p:nvPr/>
        </p:nvSpPr>
        <p:spPr>
          <a:xfrm>
            <a:off x="1596542"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8"/>
          <p:cNvSpPr/>
          <p:nvPr/>
        </p:nvSpPr>
        <p:spPr>
          <a:xfrm>
            <a:off x="1713586"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8"/>
          <p:cNvSpPr/>
          <p:nvPr/>
        </p:nvSpPr>
        <p:spPr>
          <a:xfrm>
            <a:off x="1830629"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8"/>
          <p:cNvSpPr/>
          <p:nvPr/>
        </p:nvSpPr>
        <p:spPr>
          <a:xfrm>
            <a:off x="1947672"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8"/>
          <p:cNvSpPr/>
          <p:nvPr/>
        </p:nvSpPr>
        <p:spPr>
          <a:xfrm>
            <a:off x="2064715"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8"/>
          <p:cNvSpPr/>
          <p:nvPr/>
        </p:nvSpPr>
        <p:spPr>
          <a:xfrm>
            <a:off x="2181758"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8"/>
          <p:cNvSpPr/>
          <p:nvPr/>
        </p:nvSpPr>
        <p:spPr>
          <a:xfrm>
            <a:off x="2298802"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8"/>
          <p:cNvSpPr/>
          <p:nvPr/>
        </p:nvSpPr>
        <p:spPr>
          <a:xfrm>
            <a:off x="777240"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8"/>
          <p:cNvSpPr/>
          <p:nvPr/>
        </p:nvSpPr>
        <p:spPr>
          <a:xfrm>
            <a:off x="894283"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8"/>
          <p:cNvSpPr/>
          <p:nvPr/>
        </p:nvSpPr>
        <p:spPr>
          <a:xfrm>
            <a:off x="1011326"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8"/>
          <p:cNvSpPr/>
          <p:nvPr/>
        </p:nvSpPr>
        <p:spPr>
          <a:xfrm>
            <a:off x="1128370"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8"/>
          <p:cNvSpPr/>
          <p:nvPr/>
        </p:nvSpPr>
        <p:spPr>
          <a:xfrm>
            <a:off x="1245413"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8"/>
          <p:cNvSpPr/>
          <p:nvPr/>
        </p:nvSpPr>
        <p:spPr>
          <a:xfrm>
            <a:off x="1362456"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8"/>
          <p:cNvSpPr/>
          <p:nvPr/>
        </p:nvSpPr>
        <p:spPr>
          <a:xfrm>
            <a:off x="1479499"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8"/>
          <p:cNvSpPr/>
          <p:nvPr/>
        </p:nvSpPr>
        <p:spPr>
          <a:xfrm>
            <a:off x="1596542"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8"/>
          <p:cNvSpPr/>
          <p:nvPr/>
        </p:nvSpPr>
        <p:spPr>
          <a:xfrm>
            <a:off x="1713586"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8"/>
          <p:cNvSpPr/>
          <p:nvPr/>
        </p:nvSpPr>
        <p:spPr>
          <a:xfrm>
            <a:off x="1830629"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8"/>
          <p:cNvSpPr/>
          <p:nvPr/>
        </p:nvSpPr>
        <p:spPr>
          <a:xfrm>
            <a:off x="1947672"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8"/>
          <p:cNvSpPr/>
          <p:nvPr/>
        </p:nvSpPr>
        <p:spPr>
          <a:xfrm>
            <a:off x="2064715"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8"/>
          <p:cNvSpPr/>
          <p:nvPr/>
        </p:nvSpPr>
        <p:spPr>
          <a:xfrm>
            <a:off x="2181758"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8"/>
          <p:cNvSpPr/>
          <p:nvPr/>
        </p:nvSpPr>
        <p:spPr>
          <a:xfrm>
            <a:off x="2298802"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8"/>
          <p:cNvSpPr/>
          <p:nvPr/>
        </p:nvSpPr>
        <p:spPr>
          <a:xfrm>
            <a:off x="777240"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8"/>
          <p:cNvSpPr/>
          <p:nvPr/>
        </p:nvSpPr>
        <p:spPr>
          <a:xfrm>
            <a:off x="894283"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8"/>
          <p:cNvSpPr/>
          <p:nvPr/>
        </p:nvSpPr>
        <p:spPr>
          <a:xfrm>
            <a:off x="1011326"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8"/>
          <p:cNvSpPr/>
          <p:nvPr/>
        </p:nvSpPr>
        <p:spPr>
          <a:xfrm>
            <a:off x="1128370"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8"/>
          <p:cNvSpPr/>
          <p:nvPr/>
        </p:nvSpPr>
        <p:spPr>
          <a:xfrm>
            <a:off x="1245413"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8"/>
          <p:cNvSpPr/>
          <p:nvPr/>
        </p:nvSpPr>
        <p:spPr>
          <a:xfrm>
            <a:off x="1362456"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8"/>
          <p:cNvSpPr/>
          <p:nvPr/>
        </p:nvSpPr>
        <p:spPr>
          <a:xfrm>
            <a:off x="1479499"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8"/>
          <p:cNvSpPr/>
          <p:nvPr/>
        </p:nvSpPr>
        <p:spPr>
          <a:xfrm>
            <a:off x="1596542"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8"/>
          <p:cNvSpPr/>
          <p:nvPr/>
        </p:nvSpPr>
        <p:spPr>
          <a:xfrm>
            <a:off x="1713586"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8"/>
          <p:cNvSpPr/>
          <p:nvPr/>
        </p:nvSpPr>
        <p:spPr>
          <a:xfrm>
            <a:off x="1830629"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8"/>
          <p:cNvSpPr/>
          <p:nvPr/>
        </p:nvSpPr>
        <p:spPr>
          <a:xfrm>
            <a:off x="1947672"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8"/>
          <p:cNvSpPr/>
          <p:nvPr/>
        </p:nvSpPr>
        <p:spPr>
          <a:xfrm>
            <a:off x="2064715"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8"/>
          <p:cNvSpPr/>
          <p:nvPr/>
        </p:nvSpPr>
        <p:spPr>
          <a:xfrm>
            <a:off x="2181758"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8"/>
          <p:cNvSpPr/>
          <p:nvPr/>
        </p:nvSpPr>
        <p:spPr>
          <a:xfrm>
            <a:off x="2298802"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8"/>
          <p:cNvSpPr/>
          <p:nvPr/>
        </p:nvSpPr>
        <p:spPr>
          <a:xfrm>
            <a:off x="777240"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8"/>
          <p:cNvSpPr/>
          <p:nvPr/>
        </p:nvSpPr>
        <p:spPr>
          <a:xfrm>
            <a:off x="894283"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8"/>
          <p:cNvSpPr/>
          <p:nvPr/>
        </p:nvSpPr>
        <p:spPr>
          <a:xfrm>
            <a:off x="1011326"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8"/>
          <p:cNvSpPr/>
          <p:nvPr/>
        </p:nvSpPr>
        <p:spPr>
          <a:xfrm>
            <a:off x="1128370"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8"/>
          <p:cNvSpPr/>
          <p:nvPr/>
        </p:nvSpPr>
        <p:spPr>
          <a:xfrm>
            <a:off x="1245413"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8"/>
          <p:cNvSpPr/>
          <p:nvPr/>
        </p:nvSpPr>
        <p:spPr>
          <a:xfrm>
            <a:off x="1362456"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8"/>
          <p:cNvSpPr/>
          <p:nvPr/>
        </p:nvSpPr>
        <p:spPr>
          <a:xfrm>
            <a:off x="1479499"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8"/>
          <p:cNvSpPr/>
          <p:nvPr/>
        </p:nvSpPr>
        <p:spPr>
          <a:xfrm>
            <a:off x="1596542"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8"/>
          <p:cNvSpPr/>
          <p:nvPr/>
        </p:nvSpPr>
        <p:spPr>
          <a:xfrm>
            <a:off x="1713586"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8"/>
          <p:cNvSpPr/>
          <p:nvPr/>
        </p:nvSpPr>
        <p:spPr>
          <a:xfrm>
            <a:off x="1830629"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8"/>
          <p:cNvSpPr/>
          <p:nvPr/>
        </p:nvSpPr>
        <p:spPr>
          <a:xfrm>
            <a:off x="1947672"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8"/>
          <p:cNvSpPr/>
          <p:nvPr/>
        </p:nvSpPr>
        <p:spPr>
          <a:xfrm>
            <a:off x="2064715"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8"/>
          <p:cNvSpPr/>
          <p:nvPr/>
        </p:nvSpPr>
        <p:spPr>
          <a:xfrm>
            <a:off x="2181758"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8"/>
          <p:cNvSpPr/>
          <p:nvPr/>
        </p:nvSpPr>
        <p:spPr>
          <a:xfrm>
            <a:off x="2298802"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8"/>
          <p:cNvSpPr/>
          <p:nvPr/>
        </p:nvSpPr>
        <p:spPr>
          <a:xfrm>
            <a:off x="777240"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8"/>
          <p:cNvSpPr/>
          <p:nvPr/>
        </p:nvSpPr>
        <p:spPr>
          <a:xfrm>
            <a:off x="894283"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8"/>
          <p:cNvSpPr/>
          <p:nvPr/>
        </p:nvSpPr>
        <p:spPr>
          <a:xfrm>
            <a:off x="1011326"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1128370"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8"/>
          <p:cNvSpPr/>
          <p:nvPr/>
        </p:nvSpPr>
        <p:spPr>
          <a:xfrm>
            <a:off x="1245413"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8"/>
          <p:cNvSpPr/>
          <p:nvPr/>
        </p:nvSpPr>
        <p:spPr>
          <a:xfrm>
            <a:off x="1362456"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8"/>
          <p:cNvSpPr/>
          <p:nvPr/>
        </p:nvSpPr>
        <p:spPr>
          <a:xfrm>
            <a:off x="1479499"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8"/>
          <p:cNvSpPr/>
          <p:nvPr/>
        </p:nvSpPr>
        <p:spPr>
          <a:xfrm>
            <a:off x="1596542"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8"/>
          <p:cNvSpPr/>
          <p:nvPr/>
        </p:nvSpPr>
        <p:spPr>
          <a:xfrm>
            <a:off x="1713586"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8"/>
          <p:cNvSpPr/>
          <p:nvPr/>
        </p:nvSpPr>
        <p:spPr>
          <a:xfrm>
            <a:off x="1830629"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8"/>
          <p:cNvSpPr/>
          <p:nvPr/>
        </p:nvSpPr>
        <p:spPr>
          <a:xfrm>
            <a:off x="1947672"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8"/>
          <p:cNvSpPr/>
          <p:nvPr/>
        </p:nvSpPr>
        <p:spPr>
          <a:xfrm>
            <a:off x="2064715"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8"/>
          <p:cNvSpPr/>
          <p:nvPr/>
        </p:nvSpPr>
        <p:spPr>
          <a:xfrm>
            <a:off x="2181758"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8"/>
          <p:cNvSpPr/>
          <p:nvPr/>
        </p:nvSpPr>
        <p:spPr>
          <a:xfrm>
            <a:off x="2298802"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8"/>
          <p:cNvSpPr/>
          <p:nvPr/>
        </p:nvSpPr>
        <p:spPr>
          <a:xfrm>
            <a:off x="777240"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8"/>
          <p:cNvSpPr/>
          <p:nvPr/>
        </p:nvSpPr>
        <p:spPr>
          <a:xfrm>
            <a:off x="894283"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8"/>
          <p:cNvSpPr/>
          <p:nvPr/>
        </p:nvSpPr>
        <p:spPr>
          <a:xfrm>
            <a:off x="1011326"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8"/>
          <p:cNvSpPr/>
          <p:nvPr/>
        </p:nvSpPr>
        <p:spPr>
          <a:xfrm>
            <a:off x="1128370"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8"/>
          <p:cNvSpPr/>
          <p:nvPr/>
        </p:nvSpPr>
        <p:spPr>
          <a:xfrm>
            <a:off x="1245413"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8"/>
          <p:cNvSpPr/>
          <p:nvPr/>
        </p:nvSpPr>
        <p:spPr>
          <a:xfrm>
            <a:off x="1362456"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8"/>
          <p:cNvSpPr/>
          <p:nvPr/>
        </p:nvSpPr>
        <p:spPr>
          <a:xfrm>
            <a:off x="1479499"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8"/>
          <p:cNvSpPr/>
          <p:nvPr/>
        </p:nvSpPr>
        <p:spPr>
          <a:xfrm>
            <a:off x="1596542"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8"/>
          <p:cNvSpPr/>
          <p:nvPr/>
        </p:nvSpPr>
        <p:spPr>
          <a:xfrm>
            <a:off x="1713586"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8"/>
          <p:cNvSpPr/>
          <p:nvPr/>
        </p:nvSpPr>
        <p:spPr>
          <a:xfrm>
            <a:off x="1830629"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8"/>
          <p:cNvSpPr/>
          <p:nvPr/>
        </p:nvSpPr>
        <p:spPr>
          <a:xfrm>
            <a:off x="1947672"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8"/>
          <p:cNvSpPr/>
          <p:nvPr/>
        </p:nvSpPr>
        <p:spPr>
          <a:xfrm>
            <a:off x="2064715"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8"/>
          <p:cNvSpPr/>
          <p:nvPr/>
        </p:nvSpPr>
        <p:spPr>
          <a:xfrm>
            <a:off x="2181758"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8"/>
          <p:cNvSpPr/>
          <p:nvPr/>
        </p:nvSpPr>
        <p:spPr>
          <a:xfrm>
            <a:off x="2298802" y="245973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8"/>
          <p:cNvSpPr/>
          <p:nvPr/>
        </p:nvSpPr>
        <p:spPr>
          <a:xfrm>
            <a:off x="777240"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8"/>
          <p:cNvSpPr/>
          <p:nvPr/>
        </p:nvSpPr>
        <p:spPr>
          <a:xfrm>
            <a:off x="894283"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8"/>
          <p:cNvSpPr/>
          <p:nvPr/>
        </p:nvSpPr>
        <p:spPr>
          <a:xfrm>
            <a:off x="1011326"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8"/>
          <p:cNvSpPr/>
          <p:nvPr/>
        </p:nvSpPr>
        <p:spPr>
          <a:xfrm>
            <a:off x="1128370"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8"/>
          <p:cNvSpPr/>
          <p:nvPr/>
        </p:nvSpPr>
        <p:spPr>
          <a:xfrm>
            <a:off x="1245413"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8"/>
          <p:cNvSpPr/>
          <p:nvPr/>
        </p:nvSpPr>
        <p:spPr>
          <a:xfrm>
            <a:off x="1362456"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8"/>
          <p:cNvSpPr/>
          <p:nvPr/>
        </p:nvSpPr>
        <p:spPr>
          <a:xfrm>
            <a:off x="1479499"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8"/>
          <p:cNvSpPr/>
          <p:nvPr/>
        </p:nvSpPr>
        <p:spPr>
          <a:xfrm>
            <a:off x="1596542"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8"/>
          <p:cNvSpPr/>
          <p:nvPr/>
        </p:nvSpPr>
        <p:spPr>
          <a:xfrm>
            <a:off x="1713586"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8"/>
          <p:cNvSpPr/>
          <p:nvPr/>
        </p:nvSpPr>
        <p:spPr>
          <a:xfrm>
            <a:off x="1830629"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8"/>
          <p:cNvSpPr/>
          <p:nvPr/>
        </p:nvSpPr>
        <p:spPr>
          <a:xfrm>
            <a:off x="1947672"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8"/>
          <p:cNvSpPr/>
          <p:nvPr/>
        </p:nvSpPr>
        <p:spPr>
          <a:xfrm>
            <a:off x="2064715"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8"/>
          <p:cNvSpPr/>
          <p:nvPr/>
        </p:nvSpPr>
        <p:spPr>
          <a:xfrm>
            <a:off x="2181758"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8"/>
          <p:cNvSpPr/>
          <p:nvPr/>
        </p:nvSpPr>
        <p:spPr>
          <a:xfrm>
            <a:off x="2298802" y="2576779"/>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8"/>
          <p:cNvSpPr/>
          <p:nvPr/>
        </p:nvSpPr>
        <p:spPr>
          <a:xfrm>
            <a:off x="777240"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8"/>
          <p:cNvSpPr/>
          <p:nvPr/>
        </p:nvSpPr>
        <p:spPr>
          <a:xfrm>
            <a:off x="894283"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8"/>
          <p:cNvSpPr/>
          <p:nvPr/>
        </p:nvSpPr>
        <p:spPr>
          <a:xfrm>
            <a:off x="1011326"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8"/>
          <p:cNvSpPr/>
          <p:nvPr/>
        </p:nvSpPr>
        <p:spPr>
          <a:xfrm>
            <a:off x="1128370"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8"/>
          <p:cNvSpPr/>
          <p:nvPr/>
        </p:nvSpPr>
        <p:spPr>
          <a:xfrm>
            <a:off x="1245413"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8"/>
          <p:cNvSpPr/>
          <p:nvPr/>
        </p:nvSpPr>
        <p:spPr>
          <a:xfrm>
            <a:off x="1362456"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8"/>
          <p:cNvSpPr/>
          <p:nvPr/>
        </p:nvSpPr>
        <p:spPr>
          <a:xfrm>
            <a:off x="1479499"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8"/>
          <p:cNvSpPr/>
          <p:nvPr/>
        </p:nvSpPr>
        <p:spPr>
          <a:xfrm>
            <a:off x="1596542"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8"/>
          <p:cNvSpPr/>
          <p:nvPr/>
        </p:nvSpPr>
        <p:spPr>
          <a:xfrm>
            <a:off x="1713586"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8"/>
          <p:cNvSpPr/>
          <p:nvPr/>
        </p:nvSpPr>
        <p:spPr>
          <a:xfrm>
            <a:off x="1830629"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8"/>
          <p:cNvSpPr/>
          <p:nvPr/>
        </p:nvSpPr>
        <p:spPr>
          <a:xfrm>
            <a:off x="1947672"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8"/>
          <p:cNvSpPr/>
          <p:nvPr/>
        </p:nvSpPr>
        <p:spPr>
          <a:xfrm>
            <a:off x="2064715"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8"/>
          <p:cNvSpPr/>
          <p:nvPr/>
        </p:nvSpPr>
        <p:spPr>
          <a:xfrm>
            <a:off x="2181758"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8"/>
          <p:cNvSpPr/>
          <p:nvPr/>
        </p:nvSpPr>
        <p:spPr>
          <a:xfrm>
            <a:off x="2298802" y="269382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8"/>
          <p:cNvSpPr/>
          <p:nvPr/>
        </p:nvSpPr>
        <p:spPr>
          <a:xfrm>
            <a:off x="777240"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8"/>
          <p:cNvSpPr/>
          <p:nvPr/>
        </p:nvSpPr>
        <p:spPr>
          <a:xfrm>
            <a:off x="894283"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8"/>
          <p:cNvSpPr/>
          <p:nvPr/>
        </p:nvSpPr>
        <p:spPr>
          <a:xfrm>
            <a:off x="1011326"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8"/>
          <p:cNvSpPr/>
          <p:nvPr/>
        </p:nvSpPr>
        <p:spPr>
          <a:xfrm>
            <a:off x="1128370"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8"/>
          <p:cNvSpPr/>
          <p:nvPr/>
        </p:nvSpPr>
        <p:spPr>
          <a:xfrm>
            <a:off x="1245413"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8"/>
          <p:cNvSpPr/>
          <p:nvPr/>
        </p:nvSpPr>
        <p:spPr>
          <a:xfrm>
            <a:off x="1362456"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8"/>
          <p:cNvSpPr/>
          <p:nvPr/>
        </p:nvSpPr>
        <p:spPr>
          <a:xfrm>
            <a:off x="1479499"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8"/>
          <p:cNvSpPr/>
          <p:nvPr/>
        </p:nvSpPr>
        <p:spPr>
          <a:xfrm>
            <a:off x="1596542"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8"/>
          <p:cNvSpPr/>
          <p:nvPr/>
        </p:nvSpPr>
        <p:spPr>
          <a:xfrm>
            <a:off x="1713586"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8"/>
          <p:cNvSpPr/>
          <p:nvPr/>
        </p:nvSpPr>
        <p:spPr>
          <a:xfrm>
            <a:off x="1830629"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8"/>
          <p:cNvSpPr/>
          <p:nvPr/>
        </p:nvSpPr>
        <p:spPr>
          <a:xfrm>
            <a:off x="1947672"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8"/>
          <p:cNvSpPr/>
          <p:nvPr/>
        </p:nvSpPr>
        <p:spPr>
          <a:xfrm>
            <a:off x="2064715"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8"/>
          <p:cNvSpPr/>
          <p:nvPr/>
        </p:nvSpPr>
        <p:spPr>
          <a:xfrm>
            <a:off x="2181758"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8"/>
          <p:cNvSpPr/>
          <p:nvPr/>
        </p:nvSpPr>
        <p:spPr>
          <a:xfrm>
            <a:off x="2298802" y="281086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8"/>
          <p:cNvSpPr/>
          <p:nvPr/>
        </p:nvSpPr>
        <p:spPr>
          <a:xfrm>
            <a:off x="777240"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8"/>
          <p:cNvSpPr/>
          <p:nvPr/>
        </p:nvSpPr>
        <p:spPr>
          <a:xfrm>
            <a:off x="894283"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8"/>
          <p:cNvSpPr/>
          <p:nvPr/>
        </p:nvSpPr>
        <p:spPr>
          <a:xfrm>
            <a:off x="1011326"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8"/>
          <p:cNvSpPr/>
          <p:nvPr/>
        </p:nvSpPr>
        <p:spPr>
          <a:xfrm>
            <a:off x="1128370"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8"/>
          <p:cNvSpPr/>
          <p:nvPr/>
        </p:nvSpPr>
        <p:spPr>
          <a:xfrm>
            <a:off x="1245413"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8"/>
          <p:cNvSpPr/>
          <p:nvPr/>
        </p:nvSpPr>
        <p:spPr>
          <a:xfrm>
            <a:off x="1362456"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8"/>
          <p:cNvSpPr/>
          <p:nvPr/>
        </p:nvSpPr>
        <p:spPr>
          <a:xfrm>
            <a:off x="1479499"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8"/>
          <p:cNvSpPr/>
          <p:nvPr/>
        </p:nvSpPr>
        <p:spPr>
          <a:xfrm>
            <a:off x="1596542"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8"/>
          <p:cNvSpPr/>
          <p:nvPr/>
        </p:nvSpPr>
        <p:spPr>
          <a:xfrm>
            <a:off x="1713586"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8"/>
          <p:cNvSpPr/>
          <p:nvPr/>
        </p:nvSpPr>
        <p:spPr>
          <a:xfrm>
            <a:off x="1830629"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8"/>
          <p:cNvSpPr/>
          <p:nvPr/>
        </p:nvSpPr>
        <p:spPr>
          <a:xfrm>
            <a:off x="1947672"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8"/>
          <p:cNvSpPr/>
          <p:nvPr/>
        </p:nvSpPr>
        <p:spPr>
          <a:xfrm>
            <a:off x="2064715"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8"/>
          <p:cNvSpPr/>
          <p:nvPr/>
        </p:nvSpPr>
        <p:spPr>
          <a:xfrm>
            <a:off x="2181758"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8"/>
          <p:cNvSpPr/>
          <p:nvPr/>
        </p:nvSpPr>
        <p:spPr>
          <a:xfrm>
            <a:off x="2298802" y="2927909"/>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8"/>
          <p:cNvSpPr/>
          <p:nvPr/>
        </p:nvSpPr>
        <p:spPr>
          <a:xfrm>
            <a:off x="777240" y="304495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8"/>
          <p:cNvSpPr/>
          <p:nvPr/>
        </p:nvSpPr>
        <p:spPr>
          <a:xfrm>
            <a:off x="894283" y="304495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8"/>
          <p:cNvSpPr/>
          <p:nvPr/>
        </p:nvSpPr>
        <p:spPr>
          <a:xfrm>
            <a:off x="1011326"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8"/>
          <p:cNvSpPr/>
          <p:nvPr/>
        </p:nvSpPr>
        <p:spPr>
          <a:xfrm>
            <a:off x="1128370"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8"/>
          <p:cNvSpPr/>
          <p:nvPr/>
        </p:nvSpPr>
        <p:spPr>
          <a:xfrm>
            <a:off x="1245413"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8"/>
          <p:cNvSpPr/>
          <p:nvPr/>
        </p:nvSpPr>
        <p:spPr>
          <a:xfrm>
            <a:off x="1362456"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8"/>
          <p:cNvSpPr/>
          <p:nvPr/>
        </p:nvSpPr>
        <p:spPr>
          <a:xfrm>
            <a:off x="1479499"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8"/>
          <p:cNvSpPr/>
          <p:nvPr/>
        </p:nvSpPr>
        <p:spPr>
          <a:xfrm>
            <a:off x="1596542"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8"/>
          <p:cNvSpPr/>
          <p:nvPr/>
        </p:nvSpPr>
        <p:spPr>
          <a:xfrm>
            <a:off x="1713586"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8"/>
          <p:cNvSpPr/>
          <p:nvPr/>
        </p:nvSpPr>
        <p:spPr>
          <a:xfrm>
            <a:off x="1830629"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8"/>
          <p:cNvSpPr/>
          <p:nvPr/>
        </p:nvSpPr>
        <p:spPr>
          <a:xfrm>
            <a:off x="1947672"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8"/>
          <p:cNvSpPr/>
          <p:nvPr/>
        </p:nvSpPr>
        <p:spPr>
          <a:xfrm>
            <a:off x="2064715"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8"/>
          <p:cNvSpPr/>
          <p:nvPr/>
        </p:nvSpPr>
        <p:spPr>
          <a:xfrm>
            <a:off x="2181758" y="304495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8"/>
          <p:cNvSpPr/>
          <p:nvPr/>
        </p:nvSpPr>
        <p:spPr>
          <a:xfrm>
            <a:off x="2298802" y="304495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8"/>
          <p:cNvSpPr/>
          <p:nvPr/>
        </p:nvSpPr>
        <p:spPr>
          <a:xfrm>
            <a:off x="777240" y="3161995"/>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8"/>
          <p:cNvSpPr/>
          <p:nvPr/>
        </p:nvSpPr>
        <p:spPr>
          <a:xfrm>
            <a:off x="894283" y="3161995"/>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8"/>
          <p:cNvSpPr/>
          <p:nvPr/>
        </p:nvSpPr>
        <p:spPr>
          <a:xfrm>
            <a:off x="1011326"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8"/>
          <p:cNvSpPr/>
          <p:nvPr/>
        </p:nvSpPr>
        <p:spPr>
          <a:xfrm>
            <a:off x="1128370"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8"/>
          <p:cNvSpPr/>
          <p:nvPr/>
        </p:nvSpPr>
        <p:spPr>
          <a:xfrm>
            <a:off x="1245413"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8"/>
          <p:cNvSpPr/>
          <p:nvPr/>
        </p:nvSpPr>
        <p:spPr>
          <a:xfrm>
            <a:off x="1362456"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8"/>
          <p:cNvSpPr/>
          <p:nvPr/>
        </p:nvSpPr>
        <p:spPr>
          <a:xfrm>
            <a:off x="1479499"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8"/>
          <p:cNvSpPr/>
          <p:nvPr/>
        </p:nvSpPr>
        <p:spPr>
          <a:xfrm>
            <a:off x="1596542"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8"/>
          <p:cNvSpPr/>
          <p:nvPr/>
        </p:nvSpPr>
        <p:spPr>
          <a:xfrm>
            <a:off x="1713586"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8"/>
          <p:cNvSpPr/>
          <p:nvPr/>
        </p:nvSpPr>
        <p:spPr>
          <a:xfrm>
            <a:off x="1830629"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8"/>
          <p:cNvSpPr/>
          <p:nvPr/>
        </p:nvSpPr>
        <p:spPr>
          <a:xfrm>
            <a:off x="1947672"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8"/>
          <p:cNvSpPr/>
          <p:nvPr/>
        </p:nvSpPr>
        <p:spPr>
          <a:xfrm>
            <a:off x="2064715"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8"/>
          <p:cNvSpPr/>
          <p:nvPr/>
        </p:nvSpPr>
        <p:spPr>
          <a:xfrm>
            <a:off x="2181758" y="3161995"/>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8"/>
          <p:cNvSpPr/>
          <p:nvPr/>
        </p:nvSpPr>
        <p:spPr>
          <a:xfrm>
            <a:off x="2298802" y="3161995"/>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8"/>
          <p:cNvSpPr/>
          <p:nvPr/>
        </p:nvSpPr>
        <p:spPr>
          <a:xfrm>
            <a:off x="777240"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8"/>
          <p:cNvSpPr/>
          <p:nvPr/>
        </p:nvSpPr>
        <p:spPr>
          <a:xfrm>
            <a:off x="894283"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8"/>
          <p:cNvSpPr/>
          <p:nvPr/>
        </p:nvSpPr>
        <p:spPr>
          <a:xfrm>
            <a:off x="1011326"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8"/>
          <p:cNvSpPr/>
          <p:nvPr/>
        </p:nvSpPr>
        <p:spPr>
          <a:xfrm>
            <a:off x="1128370"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8"/>
          <p:cNvSpPr/>
          <p:nvPr/>
        </p:nvSpPr>
        <p:spPr>
          <a:xfrm>
            <a:off x="1245413"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8"/>
          <p:cNvSpPr/>
          <p:nvPr/>
        </p:nvSpPr>
        <p:spPr>
          <a:xfrm>
            <a:off x="1362456"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8"/>
          <p:cNvSpPr/>
          <p:nvPr/>
        </p:nvSpPr>
        <p:spPr>
          <a:xfrm>
            <a:off x="1479499"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8"/>
          <p:cNvSpPr/>
          <p:nvPr/>
        </p:nvSpPr>
        <p:spPr>
          <a:xfrm>
            <a:off x="1596542"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8"/>
          <p:cNvSpPr/>
          <p:nvPr/>
        </p:nvSpPr>
        <p:spPr>
          <a:xfrm>
            <a:off x="1713586"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8"/>
          <p:cNvSpPr/>
          <p:nvPr/>
        </p:nvSpPr>
        <p:spPr>
          <a:xfrm>
            <a:off x="1830629"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8"/>
          <p:cNvSpPr/>
          <p:nvPr/>
        </p:nvSpPr>
        <p:spPr>
          <a:xfrm>
            <a:off x="1947672"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8"/>
          <p:cNvSpPr/>
          <p:nvPr/>
        </p:nvSpPr>
        <p:spPr>
          <a:xfrm>
            <a:off x="2064715"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8"/>
          <p:cNvSpPr/>
          <p:nvPr/>
        </p:nvSpPr>
        <p:spPr>
          <a:xfrm>
            <a:off x="2181758"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8"/>
          <p:cNvSpPr/>
          <p:nvPr/>
        </p:nvSpPr>
        <p:spPr>
          <a:xfrm>
            <a:off x="2298802"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8"/>
          <p:cNvSpPr/>
          <p:nvPr/>
        </p:nvSpPr>
        <p:spPr>
          <a:xfrm>
            <a:off x="777240"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8"/>
          <p:cNvSpPr/>
          <p:nvPr/>
        </p:nvSpPr>
        <p:spPr>
          <a:xfrm>
            <a:off x="894283"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8"/>
          <p:cNvSpPr/>
          <p:nvPr/>
        </p:nvSpPr>
        <p:spPr>
          <a:xfrm>
            <a:off x="1011326"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8"/>
          <p:cNvSpPr/>
          <p:nvPr/>
        </p:nvSpPr>
        <p:spPr>
          <a:xfrm>
            <a:off x="1128370"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8"/>
          <p:cNvSpPr/>
          <p:nvPr/>
        </p:nvSpPr>
        <p:spPr>
          <a:xfrm>
            <a:off x="1245413"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8"/>
          <p:cNvSpPr/>
          <p:nvPr/>
        </p:nvSpPr>
        <p:spPr>
          <a:xfrm>
            <a:off x="1362456"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8"/>
          <p:cNvSpPr/>
          <p:nvPr/>
        </p:nvSpPr>
        <p:spPr>
          <a:xfrm>
            <a:off x="1479499"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8"/>
          <p:cNvSpPr/>
          <p:nvPr/>
        </p:nvSpPr>
        <p:spPr>
          <a:xfrm>
            <a:off x="1596542"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8"/>
          <p:cNvSpPr/>
          <p:nvPr/>
        </p:nvSpPr>
        <p:spPr>
          <a:xfrm>
            <a:off x="1713586"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8"/>
          <p:cNvSpPr/>
          <p:nvPr/>
        </p:nvSpPr>
        <p:spPr>
          <a:xfrm>
            <a:off x="1830629"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8"/>
          <p:cNvSpPr/>
          <p:nvPr/>
        </p:nvSpPr>
        <p:spPr>
          <a:xfrm>
            <a:off x="1947672"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8"/>
          <p:cNvSpPr/>
          <p:nvPr/>
        </p:nvSpPr>
        <p:spPr>
          <a:xfrm>
            <a:off x="2064715"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8"/>
          <p:cNvSpPr/>
          <p:nvPr/>
        </p:nvSpPr>
        <p:spPr>
          <a:xfrm>
            <a:off x="2181758"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8"/>
          <p:cNvSpPr/>
          <p:nvPr/>
        </p:nvSpPr>
        <p:spPr>
          <a:xfrm>
            <a:off x="2298802"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8"/>
          <p:cNvSpPr txBox="1"/>
          <p:nvPr/>
        </p:nvSpPr>
        <p:spPr>
          <a:xfrm>
            <a:off x="777240" y="1600200"/>
            <a:ext cx="2651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050"/>
              <a:buFont typeface="Quattrocento Sans"/>
              <a:buNone/>
            </a:pPr>
            <a:r>
              <a:rPr b="1" i="0" lang="en-US" sz="1050" u="none" cap="none" strike="noStrike">
                <a:solidFill>
                  <a:srgbClr val="16191C"/>
                </a:solidFill>
                <a:latin typeface="Quattrocento Sans"/>
                <a:ea typeface="Quattrocento Sans"/>
                <a:cs typeface="Quattrocento Sans"/>
                <a:sym typeface="Quattrocento Sans"/>
              </a:rPr>
              <a:t>224 px tile  →  14 × 14 = 196 tokens</a:t>
            </a:r>
            <a:endParaRPr b="0" i="0" sz="1050" u="none" cap="none" strike="noStrike">
              <a:solidFill>
                <a:schemeClr val="dk1"/>
              </a:solidFill>
              <a:latin typeface="Calibri"/>
              <a:ea typeface="Calibri"/>
              <a:cs typeface="Calibri"/>
              <a:sym typeface="Calibri"/>
            </a:endParaRPr>
          </a:p>
        </p:txBody>
      </p:sp>
      <p:sp>
        <p:nvSpPr>
          <p:cNvPr id="327" name="Google Shape;327;p8"/>
          <p:cNvSpPr txBox="1"/>
          <p:nvPr/>
        </p:nvSpPr>
        <p:spPr>
          <a:xfrm>
            <a:off x="777240" y="3641141"/>
            <a:ext cx="2468880" cy="640080"/>
          </a:xfrm>
          <a:prstGeom prst="rect">
            <a:avLst/>
          </a:prstGeom>
          <a:noFill/>
          <a:ln>
            <a:noFill/>
          </a:ln>
        </p:spPr>
        <p:txBody>
          <a:bodyPr anchorCtr="0" anchor="ctr" bIns="0" lIns="0" spcFirstLastPara="1" rIns="0" wrap="square" tIns="0">
            <a:noAutofit/>
          </a:bodyPr>
          <a:lstStyle/>
          <a:p>
            <a:pPr indent="0" lvl="0" marL="0" marR="0" rtl="0" algn="l">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one context block minus four target blocks</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a real draw: 105 masked, 91 as context (46 %)</a:t>
            </a:r>
            <a:endParaRPr b="0" i="0" sz="950" u="none" cap="none" strike="noStrike">
              <a:solidFill>
                <a:schemeClr val="dk1"/>
              </a:solidFill>
              <a:latin typeface="Calibri"/>
              <a:ea typeface="Calibri"/>
              <a:cs typeface="Calibri"/>
              <a:sym typeface="Calibri"/>
            </a:endParaRPr>
          </a:p>
        </p:txBody>
      </p:sp>
      <p:sp>
        <p:nvSpPr>
          <p:cNvPr id="328" name="Google Shape;328;p8"/>
          <p:cNvSpPr/>
          <p:nvPr/>
        </p:nvSpPr>
        <p:spPr>
          <a:xfrm>
            <a:off x="3310128" y="1783080"/>
            <a:ext cx="2194560" cy="960120"/>
          </a:xfrm>
          <a:prstGeom prst="roundRect">
            <a:avLst>
              <a:gd fmla="val 4762" name="adj"/>
            </a:avLst>
          </a:prstGeom>
          <a:solidFill>
            <a:srgbClr val="FFFFFF"/>
          </a:solidFill>
          <a:ln cap="flat" cmpd="sng" w="1905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8"/>
          <p:cNvSpPr txBox="1"/>
          <p:nvPr/>
        </p:nvSpPr>
        <p:spPr>
          <a:xfrm>
            <a:off x="3383280" y="2057400"/>
            <a:ext cx="2048256"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250"/>
              <a:buFont typeface="Quattrocento Sans"/>
              <a:buNone/>
            </a:pPr>
            <a:r>
              <a:rPr b="1" i="0" lang="en-US" sz="1250" u="none" cap="none" strike="noStrike">
                <a:solidFill>
                  <a:srgbClr val="16191C"/>
                </a:solidFill>
                <a:latin typeface="Quattrocento Sans"/>
                <a:ea typeface="Quattrocento Sans"/>
                <a:cs typeface="Quattrocento Sans"/>
                <a:sym typeface="Quattrocento Sans"/>
              </a:rPr>
              <a:t>Context encoder</a:t>
            </a:r>
            <a:endParaRPr b="0" i="0" sz="1250" u="none" cap="none" strike="noStrike">
              <a:solidFill>
                <a:schemeClr val="dk1"/>
              </a:solidFill>
              <a:latin typeface="Calibri"/>
              <a:ea typeface="Calibri"/>
              <a:cs typeface="Calibri"/>
              <a:sym typeface="Calibri"/>
            </a:endParaRPr>
          </a:p>
        </p:txBody>
      </p:sp>
      <p:sp>
        <p:nvSpPr>
          <p:cNvPr id="330" name="Google Shape;330;p8"/>
          <p:cNvSpPr txBox="1"/>
          <p:nvPr/>
        </p:nvSpPr>
        <p:spPr>
          <a:xfrm>
            <a:off x="3383280" y="2350008"/>
            <a:ext cx="2048256" cy="33832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ViT-S/16 · 21.6 M</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receives the gradient</a:t>
            </a:r>
            <a:endParaRPr b="0" i="0" sz="950" u="none" cap="none" strike="noStrike">
              <a:solidFill>
                <a:schemeClr val="dk1"/>
              </a:solidFill>
              <a:latin typeface="Calibri"/>
              <a:ea typeface="Calibri"/>
              <a:cs typeface="Calibri"/>
              <a:sym typeface="Calibri"/>
            </a:endParaRPr>
          </a:p>
        </p:txBody>
      </p:sp>
      <p:sp>
        <p:nvSpPr>
          <p:cNvPr id="331" name="Google Shape;331;p8"/>
          <p:cNvSpPr/>
          <p:nvPr/>
        </p:nvSpPr>
        <p:spPr>
          <a:xfrm>
            <a:off x="3310128" y="3063240"/>
            <a:ext cx="2194560" cy="960120"/>
          </a:xfrm>
          <a:prstGeom prst="roundRect">
            <a:avLst>
              <a:gd fmla="val 4762" name="adj"/>
            </a:avLst>
          </a:prstGeom>
          <a:solidFill>
            <a:srgbClr val="F2F5F6"/>
          </a:solidFill>
          <a:ln cap="flat" cmpd="sng" w="19050">
            <a:solidFill>
              <a:srgbClr val="6E76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8"/>
          <p:cNvSpPr txBox="1"/>
          <p:nvPr/>
        </p:nvSpPr>
        <p:spPr>
          <a:xfrm>
            <a:off x="3383280" y="3337560"/>
            <a:ext cx="2048256"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250"/>
              <a:buFont typeface="Quattrocento Sans"/>
              <a:buNone/>
            </a:pPr>
            <a:r>
              <a:rPr b="1" i="0" lang="en-US" sz="1250" u="none" cap="none" strike="noStrike">
                <a:solidFill>
                  <a:srgbClr val="6E767C"/>
                </a:solidFill>
                <a:latin typeface="Quattrocento Sans"/>
                <a:ea typeface="Quattrocento Sans"/>
                <a:cs typeface="Quattrocento Sans"/>
                <a:sym typeface="Quattrocento Sans"/>
              </a:rPr>
              <a:t>Target encoder</a:t>
            </a:r>
            <a:endParaRPr b="0" i="0" sz="1250" u="none" cap="none" strike="noStrike">
              <a:solidFill>
                <a:schemeClr val="dk1"/>
              </a:solidFill>
              <a:latin typeface="Calibri"/>
              <a:ea typeface="Calibri"/>
              <a:cs typeface="Calibri"/>
              <a:sym typeface="Calibri"/>
            </a:endParaRPr>
          </a:p>
        </p:txBody>
      </p:sp>
      <p:sp>
        <p:nvSpPr>
          <p:cNvPr id="333" name="Google Shape;333;p8"/>
          <p:cNvSpPr txBox="1"/>
          <p:nvPr/>
        </p:nvSpPr>
        <p:spPr>
          <a:xfrm>
            <a:off x="3383280" y="3630168"/>
            <a:ext cx="2048256" cy="33832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same architecture · 21.6 M</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EMA copy, no gradient</a:t>
            </a:r>
            <a:endParaRPr b="0" i="0" sz="950" u="none" cap="none" strike="noStrike">
              <a:solidFill>
                <a:schemeClr val="dk1"/>
              </a:solidFill>
              <a:latin typeface="Calibri"/>
              <a:ea typeface="Calibri"/>
              <a:cs typeface="Calibri"/>
              <a:sym typeface="Calibri"/>
            </a:endParaRPr>
          </a:p>
        </p:txBody>
      </p:sp>
      <p:sp>
        <p:nvSpPr>
          <p:cNvPr id="334" name="Google Shape;334;p8"/>
          <p:cNvSpPr/>
          <p:nvPr/>
        </p:nvSpPr>
        <p:spPr>
          <a:xfrm>
            <a:off x="5925312" y="1783080"/>
            <a:ext cx="2194560" cy="960120"/>
          </a:xfrm>
          <a:prstGeom prst="roundRect">
            <a:avLst>
              <a:gd fmla="val 4762" name="adj"/>
            </a:avLst>
          </a:prstGeom>
          <a:solidFill>
            <a:srgbClr val="FFFFFF"/>
          </a:solidFill>
          <a:ln cap="flat" cmpd="sng" w="19050">
            <a:solidFill>
              <a:srgbClr val="1D5E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8"/>
          <p:cNvSpPr txBox="1"/>
          <p:nvPr/>
        </p:nvSpPr>
        <p:spPr>
          <a:xfrm>
            <a:off x="5998464" y="2057400"/>
            <a:ext cx="2048256"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5E42"/>
              </a:buClr>
              <a:buSzPts val="1250"/>
              <a:buFont typeface="Quattrocento Sans"/>
              <a:buNone/>
            </a:pPr>
            <a:r>
              <a:rPr b="1" i="0" lang="en-US" sz="1250" u="none" cap="none" strike="noStrike">
                <a:solidFill>
                  <a:srgbClr val="1D5E42"/>
                </a:solidFill>
                <a:latin typeface="Quattrocento Sans"/>
                <a:ea typeface="Quattrocento Sans"/>
                <a:cs typeface="Quattrocento Sans"/>
                <a:sym typeface="Quattrocento Sans"/>
              </a:rPr>
              <a:t>Predictor</a:t>
            </a:r>
            <a:endParaRPr b="0" i="0" sz="1250" u="none" cap="none" strike="noStrike">
              <a:solidFill>
                <a:schemeClr val="dk1"/>
              </a:solidFill>
              <a:latin typeface="Calibri"/>
              <a:ea typeface="Calibri"/>
              <a:cs typeface="Calibri"/>
              <a:sym typeface="Calibri"/>
            </a:endParaRPr>
          </a:p>
        </p:txBody>
      </p:sp>
      <p:sp>
        <p:nvSpPr>
          <p:cNvPr id="336" name="Google Shape;336;p8"/>
          <p:cNvSpPr txBox="1"/>
          <p:nvPr/>
        </p:nvSpPr>
        <p:spPr>
          <a:xfrm>
            <a:off x="5998464" y="2350008"/>
            <a:ext cx="2048256" cy="33832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4 blocks · dim 96 · 0.5 M</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shallow, as prescribed</a:t>
            </a:r>
            <a:endParaRPr b="0" i="0" sz="950" u="none" cap="none" strike="noStrike">
              <a:solidFill>
                <a:schemeClr val="dk1"/>
              </a:solidFill>
              <a:latin typeface="Calibri"/>
              <a:ea typeface="Calibri"/>
              <a:cs typeface="Calibri"/>
              <a:sym typeface="Calibri"/>
            </a:endParaRPr>
          </a:p>
        </p:txBody>
      </p:sp>
      <p:sp>
        <p:nvSpPr>
          <p:cNvPr id="337" name="Google Shape;337;p8"/>
          <p:cNvSpPr/>
          <p:nvPr/>
        </p:nvSpPr>
        <p:spPr>
          <a:xfrm>
            <a:off x="5925312" y="3063240"/>
            <a:ext cx="2194560" cy="960120"/>
          </a:xfrm>
          <a:prstGeom prst="roundRect">
            <a:avLst>
              <a:gd fmla="val 4762" name="adj"/>
            </a:avLst>
          </a:prstGeom>
          <a:solidFill>
            <a:srgbClr val="F2F5F6"/>
          </a:solidFill>
          <a:ln cap="flat" cmpd="sng" w="19050">
            <a:solidFill>
              <a:srgbClr val="6E76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8"/>
          <p:cNvSpPr txBox="1"/>
          <p:nvPr/>
        </p:nvSpPr>
        <p:spPr>
          <a:xfrm>
            <a:off x="5998464" y="3337560"/>
            <a:ext cx="2048256"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250"/>
              <a:buFont typeface="Quattrocento Sans"/>
              <a:buNone/>
            </a:pPr>
            <a:r>
              <a:rPr b="1" i="0" lang="en-US" sz="1250" u="none" cap="none" strike="noStrike">
                <a:solidFill>
                  <a:srgbClr val="6E767C"/>
                </a:solidFill>
                <a:latin typeface="Quattrocento Sans"/>
                <a:ea typeface="Quattrocento Sans"/>
                <a:cs typeface="Quattrocento Sans"/>
                <a:sym typeface="Quattrocento Sans"/>
              </a:rPr>
              <a:t>LayerNorm</a:t>
            </a:r>
            <a:endParaRPr b="0" i="0" sz="1250" u="none" cap="none" strike="noStrike">
              <a:solidFill>
                <a:schemeClr val="dk1"/>
              </a:solidFill>
              <a:latin typeface="Calibri"/>
              <a:ea typeface="Calibri"/>
              <a:cs typeface="Calibri"/>
              <a:sym typeface="Calibri"/>
            </a:endParaRPr>
          </a:p>
        </p:txBody>
      </p:sp>
      <p:sp>
        <p:nvSpPr>
          <p:cNvPr id="339" name="Google Shape;339;p8"/>
          <p:cNvSpPr txBox="1"/>
          <p:nvPr/>
        </p:nvSpPr>
        <p:spPr>
          <a:xfrm>
            <a:off x="5998464" y="3630168"/>
            <a:ext cx="2048256" cy="33832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on the target representations</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so the scale cannot be gamed</a:t>
            </a:r>
            <a:endParaRPr b="0" i="0" sz="950" u="none" cap="none" strike="noStrike">
              <a:solidFill>
                <a:schemeClr val="dk1"/>
              </a:solidFill>
              <a:latin typeface="Calibri"/>
              <a:ea typeface="Calibri"/>
              <a:cs typeface="Calibri"/>
              <a:sym typeface="Calibri"/>
            </a:endParaRPr>
          </a:p>
        </p:txBody>
      </p:sp>
      <p:cxnSp>
        <p:nvCxnSpPr>
          <p:cNvPr id="340" name="Google Shape;340;p8"/>
          <p:cNvCxnSpPr/>
          <p:nvPr/>
        </p:nvCxnSpPr>
        <p:spPr>
          <a:xfrm>
            <a:off x="2487168" y="2258568"/>
            <a:ext cx="749808" cy="0"/>
          </a:xfrm>
          <a:prstGeom prst="straightConnector1">
            <a:avLst/>
          </a:prstGeom>
          <a:noFill/>
          <a:ln cap="flat" cmpd="sng" w="17775">
            <a:solidFill>
              <a:srgbClr val="6E767C"/>
            </a:solidFill>
            <a:prstDash val="solid"/>
            <a:round/>
            <a:headEnd len="sm" w="sm" type="none"/>
            <a:tailEnd len="med" w="med" type="triangle"/>
          </a:ln>
        </p:spPr>
      </p:cxnSp>
      <p:cxnSp>
        <p:nvCxnSpPr>
          <p:cNvPr id="341" name="Google Shape;341;p8"/>
          <p:cNvCxnSpPr/>
          <p:nvPr/>
        </p:nvCxnSpPr>
        <p:spPr>
          <a:xfrm>
            <a:off x="2487168" y="3538728"/>
            <a:ext cx="749808" cy="0"/>
          </a:xfrm>
          <a:prstGeom prst="straightConnector1">
            <a:avLst/>
          </a:prstGeom>
          <a:noFill/>
          <a:ln cap="flat" cmpd="sng" w="17775">
            <a:solidFill>
              <a:srgbClr val="6E767C"/>
            </a:solidFill>
            <a:prstDash val="solid"/>
            <a:round/>
            <a:headEnd len="sm" w="sm" type="none"/>
            <a:tailEnd len="med" w="med" type="triangle"/>
          </a:ln>
        </p:spPr>
      </p:cxnSp>
      <p:cxnSp>
        <p:nvCxnSpPr>
          <p:cNvPr id="342" name="Google Shape;342;p8"/>
          <p:cNvCxnSpPr/>
          <p:nvPr/>
        </p:nvCxnSpPr>
        <p:spPr>
          <a:xfrm>
            <a:off x="5504688" y="2258568"/>
            <a:ext cx="365760" cy="0"/>
          </a:xfrm>
          <a:prstGeom prst="straightConnector1">
            <a:avLst/>
          </a:prstGeom>
          <a:noFill/>
          <a:ln cap="flat" cmpd="sng" w="17775">
            <a:solidFill>
              <a:srgbClr val="6E767C"/>
            </a:solidFill>
            <a:prstDash val="solid"/>
            <a:round/>
            <a:headEnd len="sm" w="sm" type="none"/>
            <a:tailEnd len="med" w="med" type="triangle"/>
          </a:ln>
        </p:spPr>
      </p:cxnSp>
      <p:cxnSp>
        <p:nvCxnSpPr>
          <p:cNvPr id="343" name="Google Shape;343;p8"/>
          <p:cNvCxnSpPr/>
          <p:nvPr/>
        </p:nvCxnSpPr>
        <p:spPr>
          <a:xfrm>
            <a:off x="5504688" y="3538728"/>
            <a:ext cx="365760" cy="0"/>
          </a:xfrm>
          <a:prstGeom prst="straightConnector1">
            <a:avLst/>
          </a:prstGeom>
          <a:noFill/>
          <a:ln cap="flat" cmpd="sng" w="17775">
            <a:solidFill>
              <a:srgbClr val="6E767C"/>
            </a:solidFill>
            <a:prstDash val="solid"/>
            <a:round/>
            <a:headEnd len="sm" w="sm" type="none"/>
            <a:tailEnd len="med" w="med" type="triangle"/>
          </a:ln>
        </p:spPr>
      </p:cxnSp>
      <p:sp>
        <p:nvSpPr>
          <p:cNvPr id="344" name="Google Shape;344;p8"/>
          <p:cNvSpPr txBox="1"/>
          <p:nvPr/>
        </p:nvSpPr>
        <p:spPr>
          <a:xfrm>
            <a:off x="2450592" y="1993392"/>
            <a:ext cx="841248"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800"/>
              <a:buFont typeface="Quattrocento Sans"/>
              <a:buNone/>
            </a:pPr>
            <a:r>
              <a:rPr b="0" i="0" lang="en-US" sz="800" u="none" cap="none" strike="noStrike">
                <a:solidFill>
                  <a:srgbClr val="6E767C"/>
                </a:solidFill>
                <a:latin typeface="Quattrocento Sans"/>
                <a:ea typeface="Quattrocento Sans"/>
                <a:cs typeface="Quattrocento Sans"/>
                <a:sym typeface="Quattrocento Sans"/>
              </a:rPr>
              <a:t>context patches</a:t>
            </a:r>
            <a:endParaRPr b="0" i="0" sz="800" u="none" cap="none" strike="noStrike">
              <a:solidFill>
                <a:schemeClr val="dk1"/>
              </a:solidFill>
              <a:latin typeface="Calibri"/>
              <a:ea typeface="Calibri"/>
              <a:cs typeface="Calibri"/>
              <a:sym typeface="Calibri"/>
            </a:endParaRPr>
          </a:p>
        </p:txBody>
      </p:sp>
      <p:sp>
        <p:nvSpPr>
          <p:cNvPr id="345" name="Google Shape;345;p8"/>
          <p:cNvSpPr txBox="1"/>
          <p:nvPr/>
        </p:nvSpPr>
        <p:spPr>
          <a:xfrm>
            <a:off x="2450592" y="3273552"/>
            <a:ext cx="841248"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800"/>
              <a:buFont typeface="Quattrocento Sans"/>
              <a:buNone/>
            </a:pPr>
            <a:r>
              <a:rPr b="0" i="0" lang="en-US" sz="800" u="none" cap="none" strike="noStrike">
                <a:solidFill>
                  <a:srgbClr val="6E767C"/>
                </a:solidFill>
                <a:latin typeface="Quattrocento Sans"/>
                <a:ea typeface="Quattrocento Sans"/>
                <a:cs typeface="Quattrocento Sans"/>
                <a:sym typeface="Quattrocento Sans"/>
              </a:rPr>
              <a:t>the whole tile</a:t>
            </a:r>
            <a:endParaRPr b="0" i="0" sz="800" u="none" cap="none" strike="noStrike">
              <a:solidFill>
                <a:schemeClr val="dk1"/>
              </a:solidFill>
              <a:latin typeface="Calibri"/>
              <a:ea typeface="Calibri"/>
              <a:cs typeface="Calibri"/>
              <a:sym typeface="Calibri"/>
            </a:endParaRPr>
          </a:p>
        </p:txBody>
      </p:sp>
      <p:cxnSp>
        <p:nvCxnSpPr>
          <p:cNvPr id="346" name="Google Shape;346;p8"/>
          <p:cNvCxnSpPr/>
          <p:nvPr/>
        </p:nvCxnSpPr>
        <p:spPr>
          <a:xfrm>
            <a:off x="4407408" y="2743200"/>
            <a:ext cx="0" cy="320040"/>
          </a:xfrm>
          <a:prstGeom prst="straightConnector1">
            <a:avLst/>
          </a:prstGeom>
          <a:noFill/>
          <a:ln cap="flat" cmpd="sng" w="15225">
            <a:solidFill>
              <a:srgbClr val="6E767C"/>
            </a:solidFill>
            <a:prstDash val="dash"/>
            <a:round/>
            <a:headEnd len="sm" w="sm" type="none"/>
            <a:tailEnd len="med" w="med" type="triangle"/>
          </a:ln>
        </p:spPr>
      </p:cxnSp>
      <p:sp>
        <p:nvSpPr>
          <p:cNvPr id="347" name="Google Shape;347;p8"/>
          <p:cNvSpPr txBox="1"/>
          <p:nvPr/>
        </p:nvSpPr>
        <p:spPr>
          <a:xfrm>
            <a:off x="4526280" y="2788920"/>
            <a:ext cx="14630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900"/>
              <a:buFont typeface="Quattrocento Sans"/>
              <a:buNone/>
            </a:pPr>
            <a:r>
              <a:rPr b="0" i="0" lang="en-US" sz="900" u="none" cap="none" strike="noStrike">
                <a:solidFill>
                  <a:srgbClr val="6E767C"/>
                </a:solidFill>
                <a:latin typeface="Quattrocento Sans"/>
                <a:ea typeface="Quattrocento Sans"/>
                <a:cs typeface="Quattrocento Sans"/>
                <a:sym typeface="Quattrocento Sans"/>
              </a:rPr>
              <a:t>EMA  τ 0.9996 → 1</a:t>
            </a:r>
            <a:endParaRPr b="0" i="0" sz="900" u="none" cap="none" strike="noStrike">
              <a:solidFill>
                <a:schemeClr val="dk1"/>
              </a:solidFill>
              <a:latin typeface="Calibri"/>
              <a:ea typeface="Calibri"/>
              <a:cs typeface="Calibri"/>
              <a:sym typeface="Calibri"/>
            </a:endParaRPr>
          </a:p>
        </p:txBody>
      </p:sp>
      <p:sp>
        <p:nvSpPr>
          <p:cNvPr id="348" name="Google Shape;348;p8"/>
          <p:cNvSpPr/>
          <p:nvPr/>
        </p:nvSpPr>
        <p:spPr>
          <a:xfrm>
            <a:off x="8549640" y="2103120"/>
            <a:ext cx="2862072" cy="1600200"/>
          </a:xfrm>
          <a:prstGeom prst="roundRect">
            <a:avLst>
              <a:gd fmla="val 2857" name="adj"/>
            </a:avLst>
          </a:prstGeom>
          <a:solidFill>
            <a:srgbClr val="FFFFFF"/>
          </a:solidFill>
          <a:ln cap="flat" cmpd="sng" w="22850">
            <a:solidFill>
              <a:srgbClr val="1D5E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8"/>
          <p:cNvSpPr txBox="1"/>
          <p:nvPr/>
        </p:nvSpPr>
        <p:spPr>
          <a:xfrm>
            <a:off x="8622792" y="2240280"/>
            <a:ext cx="271576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5E42"/>
              </a:buClr>
              <a:buSzPts val="1400"/>
              <a:buFont typeface="Quattrocento Sans"/>
              <a:buNone/>
            </a:pPr>
            <a:r>
              <a:rPr b="1" i="0" lang="en-US" sz="1400" u="none" cap="none" strike="noStrike">
                <a:solidFill>
                  <a:srgbClr val="1D5E42"/>
                </a:solidFill>
                <a:latin typeface="Quattrocento Sans"/>
                <a:ea typeface="Quattrocento Sans"/>
                <a:cs typeface="Quattrocento Sans"/>
                <a:sym typeface="Quattrocento Sans"/>
              </a:rPr>
              <a:t>smooth L1</a:t>
            </a:r>
            <a:endParaRPr b="0" i="0" sz="1400" u="none" cap="none" strike="noStrike">
              <a:solidFill>
                <a:schemeClr val="dk1"/>
              </a:solidFill>
              <a:latin typeface="Calibri"/>
              <a:ea typeface="Calibri"/>
              <a:cs typeface="Calibri"/>
              <a:sym typeface="Calibri"/>
            </a:endParaRPr>
          </a:p>
        </p:txBody>
      </p:sp>
      <p:sp>
        <p:nvSpPr>
          <p:cNvPr id="350" name="Google Shape;350;p8"/>
          <p:cNvSpPr txBox="1"/>
          <p:nvPr/>
        </p:nvSpPr>
        <p:spPr>
          <a:xfrm>
            <a:off x="8622792" y="2606040"/>
            <a:ext cx="2715768" cy="9144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6191C"/>
              </a:buClr>
              <a:buSzPts val="1000"/>
              <a:buFont typeface="Quattrocento Sans"/>
              <a:buNone/>
            </a:pPr>
            <a:r>
              <a:rPr b="0" i="0" lang="en-US" sz="1000" u="none" cap="none" strike="noStrike">
                <a:solidFill>
                  <a:srgbClr val="16191C"/>
                </a:solidFill>
                <a:latin typeface="Quattrocento Sans"/>
                <a:ea typeface="Quattrocento Sans"/>
                <a:cs typeface="Quattrocento Sans"/>
                <a:sym typeface="Quattrocento Sans"/>
              </a:rPr>
              <a:t>predicted representation</a:t>
            </a:r>
            <a:endParaRPr b="0" i="0" sz="1000" u="none" cap="none" strike="noStrike">
              <a:solidFill>
                <a:schemeClr val="dk1"/>
              </a:solidFill>
              <a:latin typeface="Calibri"/>
              <a:ea typeface="Calibri"/>
              <a:cs typeface="Calibri"/>
              <a:sym typeface="Calibri"/>
            </a:endParaRPr>
          </a:p>
          <a:p>
            <a:pPr indent="0" lvl="0" marL="0" marR="0" rtl="0" algn="ctr">
              <a:lnSpc>
                <a:spcPct val="140000"/>
              </a:lnSpc>
              <a:spcBef>
                <a:spcPts val="0"/>
              </a:spcBef>
              <a:spcAft>
                <a:spcPts val="0"/>
              </a:spcAft>
              <a:buClr>
                <a:srgbClr val="16191C"/>
              </a:buClr>
              <a:buSzPts val="1000"/>
              <a:buFont typeface="Quattrocento Sans"/>
              <a:buNone/>
            </a:pPr>
            <a:r>
              <a:rPr b="0" i="0" lang="en-US" sz="1000" u="none" cap="none" strike="noStrike">
                <a:solidFill>
                  <a:srgbClr val="16191C"/>
                </a:solidFill>
                <a:latin typeface="Quattrocento Sans"/>
                <a:ea typeface="Quattrocento Sans"/>
                <a:cs typeface="Quattrocento Sans"/>
                <a:sym typeface="Quattrocento Sans"/>
              </a:rPr>
              <a:t>against target representation,</a:t>
            </a:r>
            <a:endParaRPr b="0" i="0" sz="1000" u="none" cap="none" strike="noStrike">
              <a:solidFill>
                <a:schemeClr val="dk1"/>
              </a:solidFill>
              <a:latin typeface="Calibri"/>
              <a:ea typeface="Calibri"/>
              <a:cs typeface="Calibri"/>
              <a:sym typeface="Calibri"/>
            </a:endParaRPr>
          </a:p>
          <a:p>
            <a:pPr indent="0" lvl="0" marL="0" marR="0" rtl="0" algn="ctr">
              <a:lnSpc>
                <a:spcPct val="140000"/>
              </a:lnSpc>
              <a:spcBef>
                <a:spcPts val="0"/>
              </a:spcBef>
              <a:spcAft>
                <a:spcPts val="0"/>
              </a:spcAft>
              <a:buClr>
                <a:srgbClr val="16191C"/>
              </a:buClr>
              <a:buSzPts val="1000"/>
              <a:buFont typeface="Quattrocento Sans"/>
              <a:buNone/>
            </a:pPr>
            <a:r>
              <a:rPr b="0" i="0" lang="en-US" sz="1000" u="none" cap="none" strike="noStrike">
                <a:solidFill>
                  <a:srgbClr val="16191C"/>
                </a:solidFill>
                <a:latin typeface="Quattrocento Sans"/>
                <a:ea typeface="Quattrocento Sans"/>
                <a:cs typeface="Quattrocento Sans"/>
                <a:sym typeface="Quattrocento Sans"/>
              </a:rPr>
              <a:t>averaged over the four blocks</a:t>
            </a:r>
            <a:endParaRPr b="0" i="0" sz="1000" u="none" cap="none" strike="noStrike">
              <a:solidFill>
                <a:schemeClr val="dk1"/>
              </a:solidFill>
              <a:latin typeface="Calibri"/>
              <a:ea typeface="Calibri"/>
              <a:cs typeface="Calibri"/>
              <a:sym typeface="Calibri"/>
            </a:endParaRPr>
          </a:p>
        </p:txBody>
      </p:sp>
      <p:cxnSp>
        <p:nvCxnSpPr>
          <p:cNvPr id="351" name="Google Shape;351;p8"/>
          <p:cNvCxnSpPr/>
          <p:nvPr/>
        </p:nvCxnSpPr>
        <p:spPr>
          <a:xfrm>
            <a:off x="8092440" y="2258568"/>
            <a:ext cx="384048" cy="0"/>
          </a:xfrm>
          <a:prstGeom prst="straightConnector1">
            <a:avLst/>
          </a:prstGeom>
          <a:noFill/>
          <a:ln cap="flat" cmpd="sng" w="17775">
            <a:solidFill>
              <a:srgbClr val="6E767C"/>
            </a:solidFill>
            <a:prstDash val="solid"/>
            <a:round/>
            <a:headEnd len="sm" w="sm" type="none"/>
            <a:tailEnd len="med" w="med" type="triangle"/>
          </a:ln>
        </p:spPr>
      </p:cxnSp>
      <p:cxnSp>
        <p:nvCxnSpPr>
          <p:cNvPr id="352" name="Google Shape;352;p8"/>
          <p:cNvCxnSpPr/>
          <p:nvPr/>
        </p:nvCxnSpPr>
        <p:spPr>
          <a:xfrm>
            <a:off x="8092440" y="3538728"/>
            <a:ext cx="384048" cy="0"/>
          </a:xfrm>
          <a:prstGeom prst="straightConnector1">
            <a:avLst/>
          </a:prstGeom>
          <a:noFill/>
          <a:ln cap="flat" cmpd="sng" w="17775">
            <a:solidFill>
              <a:srgbClr val="6E767C"/>
            </a:solidFill>
            <a:prstDash val="solid"/>
            <a:round/>
            <a:headEnd len="sm" w="sm" type="none"/>
            <a:tailEnd len="med" w="med" type="triangle"/>
          </a:ln>
        </p:spPr>
      </p:cxnSp>
      <p:cxnSp>
        <p:nvCxnSpPr>
          <p:cNvPr id="353" name="Google Shape;353;p8"/>
          <p:cNvCxnSpPr/>
          <p:nvPr/>
        </p:nvCxnSpPr>
        <p:spPr>
          <a:xfrm>
            <a:off x="8476488" y="3538728"/>
            <a:ext cx="0" cy="0"/>
          </a:xfrm>
          <a:prstGeom prst="straightConnector1">
            <a:avLst/>
          </a:prstGeom>
          <a:noFill/>
          <a:ln cap="flat" cmpd="sng" w="12700">
            <a:solidFill>
              <a:srgbClr val="1D5E42"/>
            </a:solidFill>
            <a:prstDash val="solid"/>
            <a:round/>
            <a:headEnd len="sm" w="sm" type="none"/>
            <a:tailEnd len="sm" w="sm" type="none"/>
          </a:ln>
        </p:spPr>
      </p:cxnSp>
      <p:cxnSp>
        <p:nvCxnSpPr>
          <p:cNvPr id="354" name="Google Shape;354;p8"/>
          <p:cNvCxnSpPr/>
          <p:nvPr/>
        </p:nvCxnSpPr>
        <p:spPr>
          <a:xfrm>
            <a:off x="777240" y="4937760"/>
            <a:ext cx="10634472" cy="0"/>
          </a:xfrm>
          <a:prstGeom prst="straightConnector1">
            <a:avLst/>
          </a:prstGeom>
          <a:noFill/>
          <a:ln cap="flat" cmpd="sng" w="12700">
            <a:solidFill>
              <a:srgbClr val="D3D8DB"/>
            </a:solidFill>
            <a:prstDash val="solid"/>
            <a:round/>
            <a:headEnd len="sm" w="sm" type="none"/>
            <a:tailEnd len="sm" w="sm" type="none"/>
          </a:ln>
        </p:spPr>
      </p:cxnSp>
      <p:sp>
        <p:nvSpPr>
          <p:cNvPr id="355" name="Google Shape;355;p8"/>
          <p:cNvSpPr txBox="1"/>
          <p:nvPr/>
        </p:nvSpPr>
        <p:spPr>
          <a:xfrm>
            <a:off x="777240" y="5074920"/>
            <a:ext cx="10634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800"/>
              <a:buFont typeface="Quattrocento Sans"/>
              <a:buNone/>
            </a:pPr>
            <a:r>
              <a:rPr b="0" i="0" lang="en-US" sz="1800" u="none" cap="none" strike="noStrike">
                <a:solidFill>
                  <a:srgbClr val="16191C"/>
                </a:solidFill>
                <a:latin typeface="Quattrocento Sans"/>
                <a:ea typeface="Quattrocento Sans"/>
                <a:cs typeface="Quattrocento Sans"/>
                <a:sym typeface="Quattrocento Sans"/>
              </a:rPr>
              <a:t>The target is a representation the network produces itself — the loss never asks for texture.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9"/>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Does the encoder learn?</a:t>
            </a:r>
            <a:endParaRPr b="0" i="0" sz="2900" u="none" cap="none" strike="noStrike">
              <a:solidFill>
                <a:schemeClr val="dk1"/>
              </a:solidFill>
              <a:latin typeface="Calibri"/>
              <a:ea typeface="Calibri"/>
              <a:cs typeface="Calibri"/>
              <a:sym typeface="Calibri"/>
            </a:endParaRPr>
          </a:p>
        </p:txBody>
      </p:sp>
      <p:cxnSp>
        <p:nvCxnSpPr>
          <p:cNvPr id="362" name="Google Shape;362;p9"/>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363" name="Google Shape;363;p9"/>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7 / 17</a:t>
            </a:r>
            <a:endParaRPr b="0" i="0" sz="1000" u="none" cap="none" strike="noStrike">
              <a:solidFill>
                <a:schemeClr val="dk1"/>
              </a:solidFill>
              <a:latin typeface="Calibri"/>
              <a:ea typeface="Calibri"/>
              <a:cs typeface="Calibri"/>
              <a:sym typeface="Calibri"/>
            </a:endParaRPr>
          </a:p>
        </p:txBody>
      </p:sp>
      <p:sp>
        <p:nvSpPr>
          <p:cNvPr id="364" name="Google Shape;364;p9"/>
          <p:cNvSpPr/>
          <p:nvPr/>
        </p:nvSpPr>
        <p:spPr>
          <a:xfrm>
            <a:off x="769678" y="3118025"/>
            <a:ext cx="1828800" cy="868800"/>
          </a:xfrm>
          <a:prstGeom prst="roundRect">
            <a:avLst>
              <a:gd fmla="val 5263" name="adj"/>
            </a:avLst>
          </a:prstGeom>
          <a:solidFill>
            <a:srgbClr val="FFFFFF"/>
          </a:solidFill>
          <a:ln cap="flat" cmpd="sng" w="1905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9"/>
          <p:cNvSpPr txBox="1"/>
          <p:nvPr/>
        </p:nvSpPr>
        <p:spPr>
          <a:xfrm>
            <a:off x="842829" y="3392345"/>
            <a:ext cx="16824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250"/>
              <a:buFont typeface="Quattrocento Sans"/>
              <a:buNone/>
            </a:pPr>
            <a:r>
              <a:rPr b="1" i="0" lang="en-US" sz="1250" u="none" cap="none" strike="noStrike">
                <a:solidFill>
                  <a:srgbClr val="16191C"/>
                </a:solidFill>
                <a:latin typeface="Quattrocento Sans"/>
                <a:ea typeface="Quattrocento Sans"/>
                <a:cs typeface="Quattrocento Sans"/>
                <a:sym typeface="Quattrocento Sans"/>
              </a:rPr>
              <a:t>Frozen encoder</a:t>
            </a:r>
            <a:endParaRPr b="0" i="0" sz="1250" u="none" cap="none" strike="noStrike">
              <a:solidFill>
                <a:schemeClr val="dk1"/>
              </a:solidFill>
              <a:latin typeface="Calibri"/>
              <a:ea typeface="Calibri"/>
              <a:cs typeface="Calibri"/>
              <a:sym typeface="Calibri"/>
            </a:endParaRPr>
          </a:p>
        </p:txBody>
      </p:sp>
      <p:sp>
        <p:nvSpPr>
          <p:cNvPr id="366" name="Google Shape;366;p9"/>
          <p:cNvSpPr txBox="1"/>
          <p:nvPr/>
        </p:nvSpPr>
        <p:spPr>
          <a:xfrm>
            <a:off x="842829" y="3684953"/>
            <a:ext cx="1682400" cy="246900"/>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snapshot every</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ten epochs</a:t>
            </a:r>
            <a:endParaRPr b="0" i="0" sz="950" u="none" cap="none" strike="noStrike">
              <a:solidFill>
                <a:schemeClr val="dk1"/>
              </a:solidFill>
              <a:latin typeface="Calibri"/>
              <a:ea typeface="Calibri"/>
              <a:cs typeface="Calibri"/>
              <a:sym typeface="Calibri"/>
            </a:endParaRPr>
          </a:p>
        </p:txBody>
      </p:sp>
      <p:sp>
        <p:nvSpPr>
          <p:cNvPr id="367" name="Google Shape;367;p9"/>
          <p:cNvSpPr/>
          <p:nvPr/>
        </p:nvSpPr>
        <p:spPr>
          <a:xfrm>
            <a:off x="3055678" y="2477945"/>
            <a:ext cx="2148900" cy="777300"/>
          </a:xfrm>
          <a:prstGeom prst="roundRect">
            <a:avLst>
              <a:gd fmla="val 5882" name="adj"/>
            </a:avLst>
          </a:prstGeom>
          <a:solidFill>
            <a:srgbClr val="F2F5F6"/>
          </a:solidFill>
          <a:ln cap="flat" cmpd="sng" w="19050">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9"/>
          <p:cNvSpPr txBox="1"/>
          <p:nvPr/>
        </p:nvSpPr>
        <p:spPr>
          <a:xfrm>
            <a:off x="3128830" y="2752265"/>
            <a:ext cx="2002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03325"/>
              </a:buClr>
              <a:buSzPts val="1250"/>
              <a:buFont typeface="Quattrocento Sans"/>
              <a:buNone/>
            </a:pPr>
            <a:r>
              <a:rPr b="1" i="0" lang="en-US" sz="1250" u="none" cap="none" strike="noStrike">
                <a:solidFill>
                  <a:srgbClr val="A03325"/>
                </a:solidFill>
                <a:latin typeface="Quattrocento Sans"/>
                <a:ea typeface="Quattrocento Sans"/>
                <a:cs typeface="Quattrocento Sans"/>
                <a:sym typeface="Quattrocento Sans"/>
              </a:rPr>
              <a:t>Through the box</a:t>
            </a:r>
            <a:endParaRPr b="0" i="0" sz="1250" u="none" cap="none" strike="noStrike">
              <a:solidFill>
                <a:schemeClr val="dk1"/>
              </a:solidFill>
              <a:latin typeface="Calibri"/>
              <a:ea typeface="Calibri"/>
              <a:cs typeface="Calibri"/>
              <a:sym typeface="Calibri"/>
            </a:endParaRPr>
          </a:p>
        </p:txBody>
      </p:sp>
      <p:sp>
        <p:nvSpPr>
          <p:cNvPr id="369" name="Google Shape;369;p9"/>
          <p:cNvSpPr txBox="1"/>
          <p:nvPr/>
        </p:nvSpPr>
        <p:spPr>
          <a:xfrm>
            <a:off x="3128830" y="3044873"/>
            <a:ext cx="2002500" cy="155400"/>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the prescribed mask</a:t>
            </a:r>
            <a:endParaRPr b="0" i="0" sz="950" u="none" cap="none" strike="noStrike">
              <a:solidFill>
                <a:schemeClr val="dk1"/>
              </a:solidFill>
              <a:latin typeface="Calibri"/>
              <a:ea typeface="Calibri"/>
              <a:cs typeface="Calibri"/>
              <a:sym typeface="Calibri"/>
            </a:endParaRPr>
          </a:p>
        </p:txBody>
      </p:sp>
      <p:sp>
        <p:nvSpPr>
          <p:cNvPr id="370" name="Google Shape;370;p9"/>
          <p:cNvSpPr/>
          <p:nvPr/>
        </p:nvSpPr>
        <p:spPr>
          <a:xfrm>
            <a:off x="3055678" y="3849545"/>
            <a:ext cx="2148900" cy="777300"/>
          </a:xfrm>
          <a:prstGeom prst="roundRect">
            <a:avLst>
              <a:gd fmla="val 5882" name="adj"/>
            </a:avLst>
          </a:prstGeom>
          <a:solidFill>
            <a:srgbClr val="FFFFFF"/>
          </a:solidFill>
          <a:ln cap="flat" cmpd="sng" w="1905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9"/>
          <p:cNvSpPr txBox="1"/>
          <p:nvPr/>
        </p:nvSpPr>
        <p:spPr>
          <a:xfrm>
            <a:off x="3128830" y="4123865"/>
            <a:ext cx="2002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250"/>
              <a:buFont typeface="Quattrocento Sans"/>
              <a:buNone/>
            </a:pPr>
            <a:r>
              <a:rPr b="1" i="0" lang="en-US" sz="1250" u="none" cap="none" strike="noStrike">
                <a:solidFill>
                  <a:srgbClr val="16191C"/>
                </a:solidFill>
                <a:latin typeface="Quattrocento Sans"/>
                <a:ea typeface="Quattrocento Sans"/>
                <a:cs typeface="Quattrocento Sans"/>
                <a:sym typeface="Quattrocento Sans"/>
              </a:rPr>
              <a:t>At fixed count</a:t>
            </a:r>
            <a:endParaRPr b="0" i="0" sz="1250" u="none" cap="none" strike="noStrike">
              <a:solidFill>
                <a:schemeClr val="dk1"/>
              </a:solidFill>
              <a:latin typeface="Calibri"/>
              <a:ea typeface="Calibri"/>
              <a:cs typeface="Calibri"/>
              <a:sym typeface="Calibri"/>
            </a:endParaRPr>
          </a:p>
        </p:txBody>
      </p:sp>
      <p:sp>
        <p:nvSpPr>
          <p:cNvPr id="372" name="Google Shape;372;p9"/>
          <p:cNvSpPr txBox="1"/>
          <p:nvPr/>
        </p:nvSpPr>
        <p:spPr>
          <a:xfrm>
            <a:off x="3128830" y="4416473"/>
            <a:ext cx="2002500" cy="155400"/>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K = 16 tokens</a:t>
            </a:r>
            <a:endParaRPr b="0" i="0" sz="950" u="none" cap="none" strike="noStrike">
              <a:solidFill>
                <a:schemeClr val="dk1"/>
              </a:solidFill>
              <a:latin typeface="Calibri"/>
              <a:ea typeface="Calibri"/>
              <a:cs typeface="Calibri"/>
              <a:sym typeface="Calibri"/>
            </a:endParaRPr>
          </a:p>
        </p:txBody>
      </p:sp>
      <p:cxnSp>
        <p:nvCxnSpPr>
          <p:cNvPr id="373" name="Google Shape;373;p9"/>
          <p:cNvCxnSpPr/>
          <p:nvPr/>
        </p:nvCxnSpPr>
        <p:spPr>
          <a:xfrm>
            <a:off x="2598478" y="3547793"/>
            <a:ext cx="228600" cy="0"/>
          </a:xfrm>
          <a:prstGeom prst="straightConnector1">
            <a:avLst/>
          </a:prstGeom>
          <a:noFill/>
          <a:ln cap="flat" cmpd="sng" w="16500">
            <a:solidFill>
              <a:srgbClr val="6E767C"/>
            </a:solidFill>
            <a:prstDash val="solid"/>
            <a:round/>
            <a:headEnd len="sm" w="sm" type="none"/>
            <a:tailEnd len="sm" w="sm" type="none"/>
          </a:ln>
        </p:spPr>
      </p:cxnSp>
      <p:cxnSp>
        <p:nvCxnSpPr>
          <p:cNvPr id="374" name="Google Shape;374;p9"/>
          <p:cNvCxnSpPr/>
          <p:nvPr/>
        </p:nvCxnSpPr>
        <p:spPr>
          <a:xfrm>
            <a:off x="2827078" y="2866565"/>
            <a:ext cx="0" cy="681300"/>
          </a:xfrm>
          <a:prstGeom prst="straightConnector1">
            <a:avLst/>
          </a:prstGeom>
          <a:noFill/>
          <a:ln cap="flat" cmpd="sng" w="16500">
            <a:solidFill>
              <a:srgbClr val="6E767C"/>
            </a:solidFill>
            <a:prstDash val="solid"/>
            <a:round/>
            <a:headEnd len="sm" w="sm" type="none"/>
            <a:tailEnd len="sm" w="sm" type="none"/>
          </a:ln>
        </p:spPr>
      </p:cxnSp>
      <p:cxnSp>
        <p:nvCxnSpPr>
          <p:cNvPr id="375" name="Google Shape;375;p9"/>
          <p:cNvCxnSpPr/>
          <p:nvPr/>
        </p:nvCxnSpPr>
        <p:spPr>
          <a:xfrm>
            <a:off x="2827078" y="3547793"/>
            <a:ext cx="0" cy="690300"/>
          </a:xfrm>
          <a:prstGeom prst="straightConnector1">
            <a:avLst/>
          </a:prstGeom>
          <a:noFill/>
          <a:ln cap="flat" cmpd="sng" w="16500">
            <a:solidFill>
              <a:srgbClr val="6E767C"/>
            </a:solidFill>
            <a:prstDash val="solid"/>
            <a:round/>
            <a:headEnd len="sm" w="sm" type="none"/>
            <a:tailEnd len="sm" w="sm" type="none"/>
          </a:ln>
        </p:spPr>
      </p:cxnSp>
      <p:cxnSp>
        <p:nvCxnSpPr>
          <p:cNvPr id="376" name="Google Shape;376;p9"/>
          <p:cNvCxnSpPr/>
          <p:nvPr/>
        </p:nvCxnSpPr>
        <p:spPr>
          <a:xfrm>
            <a:off x="2827078" y="2866565"/>
            <a:ext cx="228600" cy="0"/>
          </a:xfrm>
          <a:prstGeom prst="straightConnector1">
            <a:avLst/>
          </a:prstGeom>
          <a:noFill/>
          <a:ln cap="flat" cmpd="sng" w="16500">
            <a:solidFill>
              <a:srgbClr val="6E767C"/>
            </a:solidFill>
            <a:prstDash val="solid"/>
            <a:round/>
            <a:headEnd len="sm" w="sm" type="none"/>
            <a:tailEnd len="med" w="med" type="triangle"/>
          </a:ln>
        </p:spPr>
      </p:cxnSp>
      <p:cxnSp>
        <p:nvCxnSpPr>
          <p:cNvPr id="377" name="Google Shape;377;p9"/>
          <p:cNvCxnSpPr/>
          <p:nvPr/>
        </p:nvCxnSpPr>
        <p:spPr>
          <a:xfrm>
            <a:off x="2827078" y="4238165"/>
            <a:ext cx="228600" cy="0"/>
          </a:xfrm>
          <a:prstGeom prst="straightConnector1">
            <a:avLst/>
          </a:prstGeom>
          <a:noFill/>
          <a:ln cap="flat" cmpd="sng" w="16500">
            <a:solidFill>
              <a:srgbClr val="6E767C"/>
            </a:solidFill>
            <a:prstDash val="solid"/>
            <a:round/>
            <a:headEnd len="sm" w="sm" type="none"/>
            <a:tailEnd len="med" w="med" type="triangle"/>
          </a:ln>
        </p:spPr>
      </p:cxnSp>
      <p:sp>
        <p:nvSpPr>
          <p:cNvPr id="378" name="Google Shape;378;p9"/>
          <p:cNvSpPr txBox="1"/>
          <p:nvPr/>
        </p:nvSpPr>
        <p:spPr>
          <a:xfrm>
            <a:off x="769678" y="4855385"/>
            <a:ext cx="4480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same head, same seeds, same epochs — only the mask changes</a:t>
            </a:r>
            <a:endParaRPr b="0" i="0" sz="1050" u="none" cap="none" strike="noStrike">
              <a:solidFill>
                <a:schemeClr val="dk1"/>
              </a:solidFill>
              <a:latin typeface="Calibri"/>
              <a:ea typeface="Calibri"/>
              <a:cs typeface="Calibri"/>
              <a:sym typeface="Calibri"/>
            </a:endParaRPr>
          </a:p>
        </p:txBody>
      </p:sp>
      <p:cxnSp>
        <p:nvCxnSpPr>
          <p:cNvPr id="379" name="Google Shape;379;p9"/>
          <p:cNvCxnSpPr/>
          <p:nvPr/>
        </p:nvCxnSpPr>
        <p:spPr>
          <a:xfrm>
            <a:off x="6713277" y="2774723"/>
            <a:ext cx="3337500" cy="235200"/>
          </a:xfrm>
          <a:prstGeom prst="straightConnector1">
            <a:avLst/>
          </a:prstGeom>
          <a:noFill/>
          <a:ln cap="flat" cmpd="sng" w="25400">
            <a:solidFill>
              <a:srgbClr val="A03325"/>
            </a:solidFill>
            <a:prstDash val="solid"/>
            <a:round/>
            <a:headEnd len="sm" w="sm" type="none"/>
            <a:tailEnd len="sm" w="sm" type="none"/>
          </a:ln>
        </p:spPr>
      </p:cxnSp>
      <p:sp>
        <p:nvSpPr>
          <p:cNvPr id="380" name="Google Shape;380;p9"/>
          <p:cNvSpPr/>
          <p:nvPr/>
        </p:nvSpPr>
        <p:spPr>
          <a:xfrm>
            <a:off x="6649270" y="2710715"/>
            <a:ext cx="128100" cy="128100"/>
          </a:xfrm>
          <a:prstGeom prst="ellipse">
            <a:avLst/>
          </a:prstGeom>
          <a:solidFill>
            <a:srgbClr val="A03325"/>
          </a:solidFill>
          <a:ln cap="flat" cmpd="sng" w="12700">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9"/>
          <p:cNvSpPr/>
          <p:nvPr/>
        </p:nvSpPr>
        <p:spPr>
          <a:xfrm>
            <a:off x="9986830" y="2945971"/>
            <a:ext cx="128100" cy="128100"/>
          </a:xfrm>
          <a:prstGeom prst="ellipse">
            <a:avLst/>
          </a:prstGeom>
          <a:solidFill>
            <a:srgbClr val="A03325"/>
          </a:solidFill>
          <a:ln cap="flat" cmpd="sng" w="12700">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9"/>
          <p:cNvSpPr txBox="1"/>
          <p:nvPr/>
        </p:nvSpPr>
        <p:spPr>
          <a:xfrm>
            <a:off x="5798877" y="2354099"/>
            <a:ext cx="3840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03325"/>
              </a:buClr>
              <a:buSzPts val="1150"/>
              <a:buFont typeface="Quattrocento Sans"/>
              <a:buNone/>
            </a:pPr>
            <a:r>
              <a:rPr b="1" i="0" lang="en-US" sz="1150" u="none" cap="none" strike="noStrike">
                <a:solidFill>
                  <a:srgbClr val="A03325"/>
                </a:solidFill>
                <a:latin typeface="Quattrocento Sans"/>
                <a:ea typeface="Quattrocento Sans"/>
                <a:cs typeface="Quattrocento Sans"/>
                <a:sym typeface="Quattrocento Sans"/>
              </a:rPr>
              <a:t>read through the bounding box</a:t>
            </a:r>
            <a:endParaRPr b="0" i="0" sz="1150" u="none" cap="none" strike="noStrike">
              <a:solidFill>
                <a:schemeClr val="dk1"/>
              </a:solidFill>
              <a:latin typeface="Calibri"/>
              <a:ea typeface="Calibri"/>
              <a:cs typeface="Calibri"/>
              <a:sym typeface="Calibri"/>
            </a:endParaRPr>
          </a:p>
        </p:txBody>
      </p:sp>
      <p:sp>
        <p:nvSpPr>
          <p:cNvPr id="383" name="Google Shape;383;p9"/>
          <p:cNvSpPr txBox="1"/>
          <p:nvPr/>
        </p:nvSpPr>
        <p:spPr>
          <a:xfrm>
            <a:off x="5798878" y="2655851"/>
            <a:ext cx="822900" cy="237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200"/>
              <a:buFont typeface="Quattrocento Sans"/>
              <a:buNone/>
            </a:pPr>
            <a:r>
              <a:rPr b="0" i="0" lang="en-US" sz="1200" u="none" cap="none" strike="noStrike">
                <a:solidFill>
                  <a:srgbClr val="6E767C"/>
                </a:solidFill>
                <a:latin typeface="Quattrocento Sans"/>
                <a:ea typeface="Quattrocento Sans"/>
                <a:cs typeface="Quattrocento Sans"/>
                <a:sym typeface="Quattrocento Sans"/>
              </a:rPr>
              <a:t>0.7539</a:t>
            </a:r>
            <a:endParaRPr b="0" i="0" sz="1200" u="none" cap="none" strike="noStrike">
              <a:solidFill>
                <a:schemeClr val="dk1"/>
              </a:solidFill>
              <a:latin typeface="Calibri"/>
              <a:ea typeface="Calibri"/>
              <a:cs typeface="Calibri"/>
              <a:sym typeface="Calibri"/>
            </a:endParaRPr>
          </a:p>
        </p:txBody>
      </p:sp>
      <p:sp>
        <p:nvSpPr>
          <p:cNvPr id="384" name="Google Shape;384;p9"/>
          <p:cNvSpPr txBox="1"/>
          <p:nvPr/>
        </p:nvSpPr>
        <p:spPr>
          <a:xfrm>
            <a:off x="10233718" y="2872819"/>
            <a:ext cx="1188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03325"/>
              </a:buClr>
              <a:buSzPts val="1500"/>
              <a:buFont typeface="Quattrocento Sans"/>
              <a:buNone/>
            </a:pPr>
            <a:r>
              <a:rPr b="1" i="0" lang="en-US" sz="1500" u="none" cap="none" strike="noStrike">
                <a:solidFill>
                  <a:srgbClr val="A03325"/>
                </a:solidFill>
                <a:latin typeface="Quattrocento Sans"/>
                <a:ea typeface="Quattrocento Sans"/>
                <a:cs typeface="Quattrocento Sans"/>
                <a:sym typeface="Quattrocento Sans"/>
              </a:rPr>
              <a:t>0.7271</a:t>
            </a:r>
            <a:endParaRPr b="0" i="0" sz="1500" u="none" cap="none" strike="noStrike">
              <a:solidFill>
                <a:schemeClr val="dk1"/>
              </a:solidFill>
              <a:latin typeface="Calibri"/>
              <a:ea typeface="Calibri"/>
              <a:cs typeface="Calibri"/>
              <a:sym typeface="Calibri"/>
            </a:endParaRPr>
          </a:p>
        </p:txBody>
      </p:sp>
      <p:sp>
        <p:nvSpPr>
          <p:cNvPr id="385" name="Google Shape;385;p9"/>
          <p:cNvSpPr txBox="1"/>
          <p:nvPr/>
        </p:nvSpPr>
        <p:spPr>
          <a:xfrm>
            <a:off x="10233718" y="3156283"/>
            <a:ext cx="1188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z = −11.27</a:t>
            </a:r>
            <a:endParaRPr b="0" i="0" sz="1100" u="none" cap="none" strike="noStrike">
              <a:solidFill>
                <a:schemeClr val="dk1"/>
              </a:solidFill>
              <a:latin typeface="Calibri"/>
              <a:ea typeface="Calibri"/>
              <a:cs typeface="Calibri"/>
              <a:sym typeface="Calibri"/>
            </a:endParaRPr>
          </a:p>
        </p:txBody>
      </p:sp>
      <p:cxnSp>
        <p:nvCxnSpPr>
          <p:cNvPr id="386" name="Google Shape;386;p9"/>
          <p:cNvCxnSpPr/>
          <p:nvPr/>
        </p:nvCxnSpPr>
        <p:spPr>
          <a:xfrm flipH="1" rot="10800000">
            <a:off x="6713277" y="4580522"/>
            <a:ext cx="3337500" cy="66600"/>
          </a:xfrm>
          <a:prstGeom prst="straightConnector1">
            <a:avLst/>
          </a:prstGeom>
          <a:noFill/>
          <a:ln cap="flat" cmpd="sng" w="25400">
            <a:solidFill>
              <a:srgbClr val="16191C"/>
            </a:solidFill>
            <a:prstDash val="solid"/>
            <a:round/>
            <a:headEnd len="sm" w="sm" type="none"/>
            <a:tailEnd len="sm" w="sm" type="none"/>
          </a:ln>
        </p:spPr>
      </p:cxnSp>
      <p:sp>
        <p:nvSpPr>
          <p:cNvPr id="387" name="Google Shape;387;p9"/>
          <p:cNvSpPr/>
          <p:nvPr/>
        </p:nvSpPr>
        <p:spPr>
          <a:xfrm>
            <a:off x="6649270" y="4583113"/>
            <a:ext cx="128100" cy="128100"/>
          </a:xfrm>
          <a:prstGeom prst="ellipse">
            <a:avLst/>
          </a:prstGeom>
          <a:solidFill>
            <a:srgbClr val="16191C"/>
          </a:solidFill>
          <a:ln cap="flat" cmpd="sng" w="1270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9"/>
          <p:cNvSpPr/>
          <p:nvPr/>
        </p:nvSpPr>
        <p:spPr>
          <a:xfrm>
            <a:off x="9986830" y="4516399"/>
            <a:ext cx="128100" cy="128100"/>
          </a:xfrm>
          <a:prstGeom prst="ellipse">
            <a:avLst/>
          </a:prstGeom>
          <a:solidFill>
            <a:srgbClr val="16191C"/>
          </a:solidFill>
          <a:ln cap="flat" cmpd="sng" w="1270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9"/>
          <p:cNvSpPr txBox="1"/>
          <p:nvPr/>
        </p:nvSpPr>
        <p:spPr>
          <a:xfrm>
            <a:off x="5798877" y="4226497"/>
            <a:ext cx="3840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150"/>
              <a:buFont typeface="Quattrocento Sans"/>
              <a:buNone/>
            </a:pPr>
            <a:r>
              <a:rPr b="1" i="0" lang="en-US" sz="1150" u="none" cap="none" strike="noStrike">
                <a:solidFill>
                  <a:srgbClr val="16191C"/>
                </a:solidFill>
                <a:latin typeface="Quattrocento Sans"/>
                <a:ea typeface="Quattrocento Sans"/>
                <a:cs typeface="Quattrocento Sans"/>
                <a:sym typeface="Quattrocento Sans"/>
              </a:rPr>
              <a:t>read at fixed count, K = 16</a:t>
            </a:r>
            <a:endParaRPr b="0" i="0" sz="1150" u="none" cap="none" strike="noStrike">
              <a:solidFill>
                <a:schemeClr val="dk1"/>
              </a:solidFill>
              <a:latin typeface="Calibri"/>
              <a:ea typeface="Calibri"/>
              <a:cs typeface="Calibri"/>
              <a:sym typeface="Calibri"/>
            </a:endParaRPr>
          </a:p>
        </p:txBody>
      </p:sp>
      <p:sp>
        <p:nvSpPr>
          <p:cNvPr id="390" name="Google Shape;390;p9"/>
          <p:cNvSpPr txBox="1"/>
          <p:nvPr/>
        </p:nvSpPr>
        <p:spPr>
          <a:xfrm>
            <a:off x="5798878" y="4528249"/>
            <a:ext cx="822900" cy="237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200"/>
              <a:buFont typeface="Quattrocento Sans"/>
              <a:buNone/>
            </a:pPr>
            <a:r>
              <a:rPr b="0" i="0" lang="en-US" sz="1200" u="none" cap="none" strike="noStrike">
                <a:solidFill>
                  <a:srgbClr val="6E767C"/>
                </a:solidFill>
                <a:latin typeface="Quattrocento Sans"/>
                <a:ea typeface="Quattrocento Sans"/>
                <a:cs typeface="Quattrocento Sans"/>
                <a:sym typeface="Quattrocento Sans"/>
              </a:rPr>
              <a:t>0.5406</a:t>
            </a:r>
            <a:endParaRPr b="0" i="0" sz="1200" u="none" cap="none" strike="noStrike">
              <a:solidFill>
                <a:schemeClr val="dk1"/>
              </a:solidFill>
              <a:latin typeface="Calibri"/>
              <a:ea typeface="Calibri"/>
              <a:cs typeface="Calibri"/>
              <a:sym typeface="Calibri"/>
            </a:endParaRPr>
          </a:p>
        </p:txBody>
      </p:sp>
      <p:sp>
        <p:nvSpPr>
          <p:cNvPr id="391" name="Google Shape;391;p9"/>
          <p:cNvSpPr txBox="1"/>
          <p:nvPr/>
        </p:nvSpPr>
        <p:spPr>
          <a:xfrm>
            <a:off x="10233718" y="4443247"/>
            <a:ext cx="1188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500"/>
              <a:buFont typeface="Quattrocento Sans"/>
              <a:buNone/>
            </a:pPr>
            <a:r>
              <a:rPr b="1" i="0" lang="en-US" sz="1500" u="none" cap="none" strike="noStrike">
                <a:solidFill>
                  <a:srgbClr val="16191C"/>
                </a:solidFill>
                <a:latin typeface="Quattrocento Sans"/>
                <a:ea typeface="Quattrocento Sans"/>
                <a:cs typeface="Quattrocento Sans"/>
                <a:sym typeface="Quattrocento Sans"/>
              </a:rPr>
              <a:t>0.5482</a:t>
            </a:r>
            <a:endParaRPr b="0" i="0" sz="1500" u="none" cap="none" strike="noStrike">
              <a:solidFill>
                <a:schemeClr val="dk1"/>
              </a:solidFill>
              <a:latin typeface="Calibri"/>
              <a:ea typeface="Calibri"/>
              <a:cs typeface="Calibri"/>
              <a:sym typeface="Calibri"/>
            </a:endParaRPr>
          </a:p>
        </p:txBody>
      </p:sp>
      <p:sp>
        <p:nvSpPr>
          <p:cNvPr id="392" name="Google Shape;392;p9"/>
          <p:cNvSpPr txBox="1"/>
          <p:nvPr/>
        </p:nvSpPr>
        <p:spPr>
          <a:xfrm>
            <a:off x="10233718" y="4726711"/>
            <a:ext cx="1188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z = +1.15</a:t>
            </a:r>
            <a:endParaRPr b="0" i="0" sz="1100" u="none" cap="none" strike="noStrike">
              <a:solidFill>
                <a:schemeClr val="dk1"/>
              </a:solidFill>
              <a:latin typeface="Calibri"/>
              <a:ea typeface="Calibri"/>
              <a:cs typeface="Calibri"/>
              <a:sym typeface="Calibri"/>
            </a:endParaRPr>
          </a:p>
        </p:txBody>
      </p:sp>
      <p:sp>
        <p:nvSpPr>
          <p:cNvPr id="393" name="Google Shape;393;p9"/>
          <p:cNvSpPr txBox="1"/>
          <p:nvPr/>
        </p:nvSpPr>
        <p:spPr>
          <a:xfrm>
            <a:off x="5798877" y="5440601"/>
            <a:ext cx="38406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950"/>
              <a:buFont typeface="Quattrocento Sans"/>
              <a:buNone/>
            </a:pPr>
            <a:r>
              <a:rPr b="0" i="1" lang="en-US" sz="950" u="none" cap="none" strike="noStrike">
                <a:solidFill>
                  <a:srgbClr val="6E767C"/>
                </a:solidFill>
                <a:latin typeface="Quattrocento Sans"/>
                <a:ea typeface="Quattrocento Sans"/>
                <a:cs typeface="Quattrocento Sans"/>
                <a:sym typeface="Quattrocento Sans"/>
              </a:rPr>
              <a:t>vertical positions to scale, one shared axis</a:t>
            </a:r>
            <a:endParaRPr b="0" i="0" sz="950" u="none" cap="none" strike="noStrike">
              <a:solidFill>
                <a:schemeClr val="dk1"/>
              </a:solidFill>
              <a:latin typeface="Calibri"/>
              <a:ea typeface="Calibri"/>
              <a:cs typeface="Calibri"/>
              <a:sym typeface="Calibri"/>
            </a:endParaRPr>
          </a:p>
        </p:txBody>
      </p:sp>
      <p:cxnSp>
        <p:nvCxnSpPr>
          <p:cNvPr id="394" name="Google Shape;394;p9"/>
          <p:cNvCxnSpPr/>
          <p:nvPr/>
        </p:nvCxnSpPr>
        <p:spPr>
          <a:xfrm>
            <a:off x="6713277" y="2569385"/>
            <a:ext cx="0" cy="2395800"/>
          </a:xfrm>
          <a:prstGeom prst="straightConnector1">
            <a:avLst/>
          </a:prstGeom>
          <a:noFill/>
          <a:ln cap="flat" cmpd="sng" w="12700">
            <a:solidFill>
              <a:srgbClr val="D3D8DB"/>
            </a:solidFill>
            <a:prstDash val="dash"/>
            <a:round/>
            <a:headEnd len="sm" w="sm" type="none"/>
            <a:tailEnd len="sm" w="sm" type="none"/>
          </a:ln>
        </p:spPr>
      </p:cxnSp>
      <p:sp>
        <p:nvSpPr>
          <p:cNvPr id="395" name="Google Shape;395;p9"/>
          <p:cNvSpPr txBox="1"/>
          <p:nvPr/>
        </p:nvSpPr>
        <p:spPr>
          <a:xfrm>
            <a:off x="5707438" y="5038265"/>
            <a:ext cx="20118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100"/>
              <a:buFont typeface="Quattrocento Sans"/>
              <a:buNone/>
            </a:pPr>
            <a:r>
              <a:rPr b="0" i="0" lang="en-US" sz="1100" u="none" cap="none" strike="noStrike">
                <a:solidFill>
                  <a:srgbClr val="16191C"/>
                </a:solidFill>
                <a:latin typeface="Quattrocento Sans"/>
                <a:ea typeface="Quattrocento Sans"/>
                <a:cs typeface="Quattrocento Sans"/>
                <a:sym typeface="Quattrocento Sans"/>
              </a:rPr>
              <a:t>first 10 probes</a:t>
            </a:r>
            <a:endParaRPr b="0" i="0" sz="1100" u="none" cap="none" strike="noStrike">
              <a:solidFill>
                <a:schemeClr val="dk1"/>
              </a:solidFill>
              <a:latin typeface="Calibri"/>
              <a:ea typeface="Calibri"/>
              <a:cs typeface="Calibri"/>
              <a:sym typeface="Calibri"/>
            </a:endParaRPr>
          </a:p>
        </p:txBody>
      </p:sp>
      <p:sp>
        <p:nvSpPr>
          <p:cNvPr id="396" name="Google Shape;396;p9"/>
          <p:cNvSpPr txBox="1"/>
          <p:nvPr/>
        </p:nvSpPr>
        <p:spPr>
          <a:xfrm>
            <a:off x="5707438" y="5239433"/>
            <a:ext cx="2011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epochs 9–99</a:t>
            </a:r>
            <a:endParaRPr b="0" i="0" sz="1000" u="none" cap="none" strike="noStrike">
              <a:solidFill>
                <a:schemeClr val="dk1"/>
              </a:solidFill>
              <a:latin typeface="Calibri"/>
              <a:ea typeface="Calibri"/>
              <a:cs typeface="Calibri"/>
              <a:sym typeface="Calibri"/>
            </a:endParaRPr>
          </a:p>
        </p:txBody>
      </p:sp>
      <p:cxnSp>
        <p:nvCxnSpPr>
          <p:cNvPr id="397" name="Google Shape;397;p9"/>
          <p:cNvCxnSpPr/>
          <p:nvPr/>
        </p:nvCxnSpPr>
        <p:spPr>
          <a:xfrm>
            <a:off x="10050838" y="2569385"/>
            <a:ext cx="0" cy="2395800"/>
          </a:xfrm>
          <a:prstGeom prst="straightConnector1">
            <a:avLst/>
          </a:prstGeom>
          <a:noFill/>
          <a:ln cap="flat" cmpd="sng" w="12700">
            <a:solidFill>
              <a:srgbClr val="D3D8DB"/>
            </a:solidFill>
            <a:prstDash val="dash"/>
            <a:round/>
            <a:headEnd len="sm" w="sm" type="none"/>
            <a:tailEnd len="sm" w="sm" type="none"/>
          </a:ln>
        </p:spPr>
      </p:cxnSp>
      <p:sp>
        <p:nvSpPr>
          <p:cNvPr id="398" name="Google Shape;398;p9"/>
          <p:cNvSpPr txBox="1"/>
          <p:nvPr/>
        </p:nvSpPr>
        <p:spPr>
          <a:xfrm>
            <a:off x="9044998" y="5038265"/>
            <a:ext cx="20118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100"/>
              <a:buFont typeface="Quattrocento Sans"/>
              <a:buNone/>
            </a:pPr>
            <a:r>
              <a:rPr b="0" i="0" lang="en-US" sz="1100" u="none" cap="none" strike="noStrike">
                <a:solidFill>
                  <a:srgbClr val="16191C"/>
                </a:solidFill>
                <a:latin typeface="Quattrocento Sans"/>
                <a:ea typeface="Quattrocento Sans"/>
                <a:cs typeface="Quattrocento Sans"/>
                <a:sym typeface="Quattrocento Sans"/>
              </a:rPr>
              <a:t>last 10 probes</a:t>
            </a:r>
            <a:endParaRPr b="0" i="0" sz="1100" u="none" cap="none" strike="noStrike">
              <a:solidFill>
                <a:schemeClr val="dk1"/>
              </a:solidFill>
              <a:latin typeface="Calibri"/>
              <a:ea typeface="Calibri"/>
              <a:cs typeface="Calibri"/>
              <a:sym typeface="Calibri"/>
            </a:endParaRPr>
          </a:p>
        </p:txBody>
      </p:sp>
      <p:sp>
        <p:nvSpPr>
          <p:cNvPr id="399" name="Google Shape;399;p9"/>
          <p:cNvSpPr txBox="1"/>
          <p:nvPr/>
        </p:nvSpPr>
        <p:spPr>
          <a:xfrm>
            <a:off x="9044998" y="5239433"/>
            <a:ext cx="2011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epochs 189–279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10"/>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The problem is geometric</a:t>
            </a:r>
            <a:endParaRPr b="0" i="0" sz="2900" u="none" cap="none" strike="noStrike">
              <a:solidFill>
                <a:schemeClr val="dk1"/>
              </a:solidFill>
              <a:latin typeface="Calibri"/>
              <a:ea typeface="Calibri"/>
              <a:cs typeface="Calibri"/>
              <a:sym typeface="Calibri"/>
            </a:endParaRPr>
          </a:p>
        </p:txBody>
      </p:sp>
      <p:cxnSp>
        <p:nvCxnSpPr>
          <p:cNvPr id="406" name="Google Shape;406;p10"/>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407" name="Google Shape;407;p10"/>
          <p:cNvSpPr txBox="1"/>
          <p:nvPr/>
        </p:nvSpPr>
        <p:spPr>
          <a:xfrm>
            <a:off x="777240" y="1225296"/>
            <a:ext cx="106344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Random ViT and I-JEPA, both frozen  ·  as prescribed, bounding-box mask  ·  macro-F1, test, 5 seeds</a:t>
            </a:r>
            <a:endParaRPr b="0" i="0" sz="1050" u="none" cap="none" strike="noStrike">
              <a:solidFill>
                <a:schemeClr val="dk1"/>
              </a:solidFill>
              <a:latin typeface="Calibri"/>
              <a:ea typeface="Calibri"/>
              <a:cs typeface="Calibri"/>
              <a:sym typeface="Calibri"/>
            </a:endParaRPr>
          </a:p>
        </p:txBody>
      </p:sp>
      <p:sp>
        <p:nvSpPr>
          <p:cNvPr id="408" name="Google Shape;408;p10"/>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8 / 17</a:t>
            </a:r>
            <a:endParaRPr b="0" i="0" sz="1000" u="none" cap="none" strike="noStrike">
              <a:solidFill>
                <a:schemeClr val="dk1"/>
              </a:solidFill>
              <a:latin typeface="Calibri"/>
              <a:ea typeface="Calibri"/>
              <a:cs typeface="Calibri"/>
              <a:sym typeface="Calibri"/>
            </a:endParaRPr>
          </a:p>
        </p:txBody>
      </p:sp>
      <p:sp>
        <p:nvSpPr>
          <p:cNvPr id="409" name="Google Shape;409;p10"/>
          <p:cNvSpPr txBox="1"/>
          <p:nvPr/>
        </p:nvSpPr>
        <p:spPr>
          <a:xfrm>
            <a:off x="777240" y="1536192"/>
            <a:ext cx="106344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500"/>
              <a:buFont typeface="Quattrocento Sans"/>
              <a:buNone/>
            </a:pPr>
            <a:r>
              <a:rPr b="0" i="0" lang="en-US" sz="1500" u="none" cap="none" strike="noStrike">
                <a:solidFill>
                  <a:srgbClr val="16191C"/>
                </a:solidFill>
                <a:latin typeface="Quattrocento Sans"/>
                <a:ea typeface="Quattrocento Sans"/>
                <a:cs typeface="Quattrocento Sans"/>
                <a:sym typeface="Quattrocento Sans"/>
              </a:rPr>
              <a:t>The PAI grade is, largely, lesion size — and the box hands that size to the classifier.</a:t>
            </a:r>
            <a:endParaRPr b="0" i="0" sz="1500" u="none" cap="none" strike="noStrike">
              <a:solidFill>
                <a:schemeClr val="dk1"/>
              </a:solidFill>
              <a:latin typeface="Calibri"/>
              <a:ea typeface="Calibri"/>
              <a:cs typeface="Calibri"/>
              <a:sym typeface="Calibri"/>
            </a:endParaRPr>
          </a:p>
        </p:txBody>
      </p:sp>
      <p:sp>
        <p:nvSpPr>
          <p:cNvPr id="410" name="Google Shape;410;p10"/>
          <p:cNvSpPr/>
          <p:nvPr/>
        </p:nvSpPr>
        <p:spPr>
          <a:xfrm>
            <a:off x="917856" y="3161592"/>
            <a:ext cx="541728" cy="541728"/>
          </a:xfrm>
          <a:prstGeom prst="ellipse">
            <a:avLst/>
          </a:prstGeom>
          <a:solidFill>
            <a:srgbClr val="E4E8EA"/>
          </a:solidFill>
          <a:ln cap="flat" cmpd="sng" w="12700">
            <a:solidFill>
              <a:srgbClr val="6E76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0"/>
          <p:cNvSpPr txBox="1"/>
          <p:nvPr/>
        </p:nvSpPr>
        <p:spPr>
          <a:xfrm>
            <a:off x="502920" y="3794760"/>
            <a:ext cx="1371600"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PAI 3</a:t>
            </a:r>
            <a:endParaRPr b="0" i="0" sz="1100" u="none" cap="none" strike="noStrike">
              <a:solidFill>
                <a:schemeClr val="dk1"/>
              </a:solidFill>
              <a:latin typeface="Calibri"/>
              <a:ea typeface="Calibri"/>
              <a:cs typeface="Calibri"/>
              <a:sym typeface="Calibri"/>
            </a:endParaRPr>
          </a:p>
        </p:txBody>
      </p:sp>
      <p:sp>
        <p:nvSpPr>
          <p:cNvPr id="412" name="Google Shape;412;p10"/>
          <p:cNvSpPr txBox="1"/>
          <p:nvPr/>
        </p:nvSpPr>
        <p:spPr>
          <a:xfrm>
            <a:off x="502920" y="4005072"/>
            <a:ext cx="1371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500"/>
              <a:buFont typeface="Quattrocento Sans"/>
              <a:buNone/>
            </a:pPr>
            <a:r>
              <a:rPr b="1" i="0" lang="en-US" sz="1500" u="none" cap="none" strike="noStrike">
                <a:solidFill>
                  <a:srgbClr val="6E767C"/>
                </a:solidFill>
                <a:latin typeface="Quattrocento Sans"/>
                <a:ea typeface="Quattrocento Sans"/>
                <a:cs typeface="Quattrocento Sans"/>
                <a:sym typeface="Quattrocento Sans"/>
              </a:rPr>
              <a:t>57 px</a:t>
            </a:r>
            <a:endParaRPr b="0" i="0" sz="1500" u="none" cap="none" strike="noStrike">
              <a:solidFill>
                <a:schemeClr val="dk1"/>
              </a:solidFill>
              <a:latin typeface="Calibri"/>
              <a:ea typeface="Calibri"/>
              <a:cs typeface="Calibri"/>
              <a:sym typeface="Calibri"/>
            </a:endParaRPr>
          </a:p>
        </p:txBody>
      </p:sp>
      <p:sp>
        <p:nvSpPr>
          <p:cNvPr id="413" name="Google Shape;413;p10"/>
          <p:cNvSpPr/>
          <p:nvPr/>
        </p:nvSpPr>
        <p:spPr>
          <a:xfrm>
            <a:off x="2134440" y="2943000"/>
            <a:ext cx="760320" cy="760320"/>
          </a:xfrm>
          <a:prstGeom prst="ellipse">
            <a:avLst/>
          </a:prstGeom>
          <a:solidFill>
            <a:srgbClr val="E4E8EA"/>
          </a:solidFill>
          <a:ln cap="flat" cmpd="sng" w="12700">
            <a:solidFill>
              <a:srgbClr val="6E76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0"/>
          <p:cNvSpPr txBox="1"/>
          <p:nvPr/>
        </p:nvSpPr>
        <p:spPr>
          <a:xfrm>
            <a:off x="1828800" y="3794760"/>
            <a:ext cx="1371600"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PAI 4</a:t>
            </a:r>
            <a:endParaRPr b="0" i="0" sz="1100" u="none" cap="none" strike="noStrike">
              <a:solidFill>
                <a:schemeClr val="dk1"/>
              </a:solidFill>
              <a:latin typeface="Calibri"/>
              <a:ea typeface="Calibri"/>
              <a:cs typeface="Calibri"/>
              <a:sym typeface="Calibri"/>
            </a:endParaRPr>
          </a:p>
        </p:txBody>
      </p:sp>
      <p:sp>
        <p:nvSpPr>
          <p:cNvPr id="415" name="Google Shape;415;p10"/>
          <p:cNvSpPr txBox="1"/>
          <p:nvPr/>
        </p:nvSpPr>
        <p:spPr>
          <a:xfrm>
            <a:off x="1828800" y="4005072"/>
            <a:ext cx="1371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500"/>
              <a:buFont typeface="Quattrocento Sans"/>
              <a:buNone/>
            </a:pPr>
            <a:r>
              <a:rPr b="1" i="0" lang="en-US" sz="1500" u="none" cap="none" strike="noStrike">
                <a:solidFill>
                  <a:srgbClr val="6E767C"/>
                </a:solidFill>
                <a:latin typeface="Quattrocento Sans"/>
                <a:ea typeface="Quattrocento Sans"/>
                <a:cs typeface="Quattrocento Sans"/>
                <a:sym typeface="Quattrocento Sans"/>
              </a:rPr>
              <a:t>80 px</a:t>
            </a:r>
            <a:endParaRPr b="0" i="0" sz="1500" u="none" cap="none" strike="noStrike">
              <a:solidFill>
                <a:schemeClr val="dk1"/>
              </a:solidFill>
              <a:latin typeface="Calibri"/>
              <a:ea typeface="Calibri"/>
              <a:cs typeface="Calibri"/>
              <a:sym typeface="Calibri"/>
            </a:endParaRPr>
          </a:p>
        </p:txBody>
      </p:sp>
      <p:sp>
        <p:nvSpPr>
          <p:cNvPr id="416" name="Google Shape;416;p10"/>
          <p:cNvSpPr/>
          <p:nvPr/>
        </p:nvSpPr>
        <p:spPr>
          <a:xfrm>
            <a:off x="3557016" y="2496312"/>
            <a:ext cx="1207008" cy="1207008"/>
          </a:xfrm>
          <a:prstGeom prst="ellipse">
            <a:avLst/>
          </a:prstGeom>
          <a:solidFill>
            <a:srgbClr val="A03325"/>
          </a:solidFill>
          <a:ln cap="flat" cmpd="sng" w="12700">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0"/>
          <p:cNvSpPr txBox="1"/>
          <p:nvPr/>
        </p:nvSpPr>
        <p:spPr>
          <a:xfrm>
            <a:off x="3474720" y="3794760"/>
            <a:ext cx="1371600"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PAI 5</a:t>
            </a:r>
            <a:endParaRPr b="0" i="0" sz="1100" u="none" cap="none" strike="noStrike">
              <a:solidFill>
                <a:schemeClr val="dk1"/>
              </a:solidFill>
              <a:latin typeface="Calibri"/>
              <a:ea typeface="Calibri"/>
              <a:cs typeface="Calibri"/>
              <a:sym typeface="Calibri"/>
            </a:endParaRPr>
          </a:p>
        </p:txBody>
      </p:sp>
      <p:sp>
        <p:nvSpPr>
          <p:cNvPr id="418" name="Google Shape;418;p10"/>
          <p:cNvSpPr txBox="1"/>
          <p:nvPr/>
        </p:nvSpPr>
        <p:spPr>
          <a:xfrm>
            <a:off x="3474720" y="4005072"/>
            <a:ext cx="1371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03325"/>
              </a:buClr>
              <a:buSzPts val="1500"/>
              <a:buFont typeface="Quattrocento Sans"/>
              <a:buNone/>
            </a:pPr>
            <a:r>
              <a:rPr b="1" i="0" lang="en-US" sz="1500" u="none" cap="none" strike="noStrike">
                <a:solidFill>
                  <a:srgbClr val="A03325"/>
                </a:solidFill>
                <a:latin typeface="Quattrocento Sans"/>
                <a:ea typeface="Quattrocento Sans"/>
                <a:cs typeface="Quattrocento Sans"/>
                <a:sym typeface="Quattrocento Sans"/>
              </a:rPr>
              <a:t>127 px</a:t>
            </a:r>
            <a:endParaRPr b="0" i="0" sz="1500" u="none" cap="none" strike="noStrike">
              <a:solidFill>
                <a:schemeClr val="dk1"/>
              </a:solidFill>
              <a:latin typeface="Calibri"/>
              <a:ea typeface="Calibri"/>
              <a:cs typeface="Calibri"/>
              <a:sym typeface="Calibri"/>
            </a:endParaRPr>
          </a:p>
        </p:txBody>
      </p:sp>
      <p:sp>
        <p:nvSpPr>
          <p:cNvPr id="419" name="Google Shape;419;p10"/>
          <p:cNvSpPr txBox="1"/>
          <p:nvPr/>
        </p:nvSpPr>
        <p:spPr>
          <a:xfrm>
            <a:off x="777240" y="4297680"/>
            <a:ext cx="50292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median bounding-box side, drawn to scale</a:t>
            </a:r>
            <a:endParaRPr b="0" i="0" sz="1100" u="none" cap="none" strike="noStrike">
              <a:solidFill>
                <a:schemeClr val="dk1"/>
              </a:solidFill>
              <a:latin typeface="Calibri"/>
              <a:ea typeface="Calibri"/>
              <a:cs typeface="Calibri"/>
              <a:sym typeface="Calibri"/>
            </a:endParaRPr>
          </a:p>
        </p:txBody>
      </p:sp>
      <p:sp>
        <p:nvSpPr>
          <p:cNvPr id="420" name="Google Shape;420;p10"/>
          <p:cNvSpPr txBox="1"/>
          <p:nvPr/>
        </p:nvSpPr>
        <p:spPr>
          <a:xfrm>
            <a:off x="777260" y="4617725"/>
            <a:ext cx="10244100" cy="7314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6191C"/>
              </a:buClr>
              <a:buSzPts val="1150"/>
              <a:buFont typeface="Quattrocento Sans"/>
              <a:buNone/>
            </a:pPr>
            <a:r>
              <a:rPr b="0" i="0" lang="en-US" sz="1550" u="none" cap="none" strike="noStrike">
                <a:solidFill>
                  <a:srgbClr val="16191C"/>
                </a:solidFill>
                <a:latin typeface="Quattrocento Sans"/>
                <a:ea typeface="Quattrocento Sans"/>
                <a:cs typeface="Quattrocento Sans"/>
                <a:sym typeface="Quattrocento Sans"/>
              </a:rPr>
              <a:t>So the box selects </a:t>
            </a:r>
            <a:r>
              <a:rPr b="1" i="0" lang="en-US" sz="1550" u="none" cap="none" strike="noStrike">
                <a:solidFill>
                  <a:srgbClr val="A03325"/>
                </a:solidFill>
                <a:latin typeface="Quattrocento Sans"/>
                <a:ea typeface="Quattrocento Sans"/>
                <a:cs typeface="Quattrocento Sans"/>
                <a:sym typeface="Quattrocento Sans"/>
              </a:rPr>
              <a:t>16 / 36 / 64</a:t>
            </a:r>
            <a:r>
              <a:rPr b="0" i="0" lang="en-US" sz="1550" u="none" cap="none" strike="noStrike">
                <a:solidFill>
                  <a:srgbClr val="16191C"/>
                </a:solidFill>
                <a:latin typeface="Quattrocento Sans"/>
                <a:ea typeface="Quattrocento Sans"/>
                <a:cs typeface="Quattrocento Sans"/>
                <a:sym typeface="Quattrocento Sans"/>
              </a:rPr>
              <a:t> tokens for PAI 3 / 4 / 5. The count is nearly the label — and a classifier can read it without looking at a single token.</a:t>
            </a:r>
            <a:endParaRPr b="0" i="0" sz="1550" u="none" cap="none" strike="noStrike">
              <a:solidFill>
                <a:schemeClr val="dk1"/>
              </a:solidFill>
              <a:latin typeface="Calibri"/>
              <a:ea typeface="Calibri"/>
              <a:cs typeface="Calibri"/>
              <a:sym typeface="Calibri"/>
            </a:endParaRPr>
          </a:p>
        </p:txBody>
      </p:sp>
      <p:graphicFrame>
        <p:nvGraphicFramePr>
          <p:cNvPr id="421" name="Google Shape;421;p10"/>
          <p:cNvGraphicFramePr/>
          <p:nvPr/>
        </p:nvGraphicFramePr>
        <p:xfrm>
          <a:off x="5736055" y="2235743"/>
          <a:ext cx="3000000" cy="3000000"/>
        </p:xfrm>
        <a:graphic>
          <a:graphicData uri="http://schemas.openxmlformats.org/drawingml/2006/table">
            <a:tbl>
              <a:tblPr>
                <a:noFill/>
                <a:tableStyleId>{27E33D80-D22A-43B9-9D80-FE20F8DDA145}</a:tableStyleId>
              </a:tblPr>
              <a:tblGrid>
                <a:gridCol w="3017525"/>
                <a:gridCol w="987550"/>
                <a:gridCol w="1280150"/>
              </a:tblGrid>
              <a:tr h="402325">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What the classifier is given</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Image</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macro-F1</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r>
              <a:tr h="402325">
                <a:tc>
                  <a:txBody>
                    <a:bodyPr/>
                    <a:lstStyle/>
                    <a:p>
                      <a:pPr indent="0" lvl="0" marL="0" marR="0" rtl="0" algn="l">
                        <a:lnSpc>
                          <a:spcPct val="100000"/>
                        </a:lnSpc>
                        <a:spcBef>
                          <a:spcPts val="0"/>
                        </a:spcBef>
                        <a:spcAft>
                          <a:spcPts val="0"/>
                        </a:spcAft>
                        <a:buClr>
                          <a:srgbClr val="A03325"/>
                        </a:buClr>
                        <a:buSzPts val="950"/>
                        <a:buFont typeface="Quattrocento Sans"/>
                        <a:buNone/>
                      </a:pPr>
                      <a:r>
                        <a:rPr lang="en-US" sz="950" u="none" cap="none" strike="noStrike">
                          <a:solidFill>
                            <a:srgbClr val="A03325"/>
                          </a:solidFill>
                          <a:latin typeface="Quattrocento Sans"/>
                          <a:ea typeface="Quattrocento Sans"/>
                          <a:cs typeface="Quattrocento Sans"/>
                          <a:sym typeface="Quattrocento Sans"/>
                        </a:rPr>
                        <a:t>Bounding-box mask only — every pixel zeroed</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A03325"/>
                        </a:buClr>
                        <a:buSzPts val="950"/>
                        <a:buFont typeface="Quattrocento Sans"/>
                        <a:buNone/>
                      </a:pPr>
                      <a:r>
                        <a:rPr lang="en-US" sz="950" u="none" cap="none" strike="noStrike">
                          <a:solidFill>
                            <a:srgbClr val="A03325"/>
                          </a:solidFill>
                          <a:latin typeface="Quattrocento Sans"/>
                          <a:ea typeface="Quattrocento Sans"/>
                          <a:cs typeface="Quattrocento Sans"/>
                          <a:sym typeface="Quattrocento Sans"/>
                        </a:rPr>
                        <a:t>none</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A03325"/>
                        </a:buClr>
                        <a:buSzPts val="950"/>
                        <a:buFont typeface="Quattrocento Sans"/>
                        <a:buNone/>
                      </a:pPr>
                      <a:r>
                        <a:rPr b="1" lang="en-US" sz="950" u="none" cap="none" strike="noStrike">
                          <a:solidFill>
                            <a:srgbClr val="A03325"/>
                          </a:solidFill>
                          <a:latin typeface="Quattrocento Sans"/>
                          <a:ea typeface="Quattrocento Sans"/>
                          <a:cs typeface="Quattrocento Sans"/>
                          <a:sym typeface="Quattrocento Sans"/>
                        </a:rPr>
                        <a:t>0.7708</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r>
              <a:tr h="402325">
                <a:tc>
                  <a:txBody>
                    <a:bodyPr/>
                    <a:lstStyle/>
                    <a:p>
                      <a:pPr indent="0" lvl="0" marL="0" marR="0" rtl="0" algn="l">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Random ViT, full latent vector</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full</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b="1" lang="en-US" sz="950" u="none" cap="none" strike="noStrike">
                          <a:solidFill>
                            <a:srgbClr val="16191C"/>
                          </a:solidFill>
                          <a:latin typeface="Quattrocento Sans"/>
                          <a:ea typeface="Quattrocento Sans"/>
                          <a:cs typeface="Quattrocento Sans"/>
                          <a:sym typeface="Quattrocento Sans"/>
                        </a:rPr>
                        <a:t>0.7705</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I-JEPA, full latent vector</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full</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b="1" lang="en-US" sz="950" u="none" cap="none" strike="noStrike">
                          <a:solidFill>
                            <a:srgbClr val="16191C"/>
                          </a:solidFill>
                          <a:latin typeface="Quattrocento Sans"/>
                          <a:ea typeface="Quattrocento Sans"/>
                          <a:cs typeface="Quattrocento Sans"/>
                          <a:sym typeface="Quattrocento Sans"/>
                        </a:rPr>
                        <a:t>0.7663</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A03325"/>
                        </a:buClr>
                        <a:buSzPts val="950"/>
                        <a:buFont typeface="Quattrocento Sans"/>
                        <a:buNone/>
                      </a:pPr>
                      <a:r>
                        <a:rPr lang="en-US" sz="950" u="none" cap="none" strike="noStrike">
                          <a:solidFill>
                            <a:srgbClr val="A03325"/>
                          </a:solidFill>
                          <a:latin typeface="Quattrocento Sans"/>
                          <a:ea typeface="Quattrocento Sans"/>
                          <a:cs typeface="Quattrocento Sans"/>
                          <a:sym typeface="Quattrocento Sans"/>
                        </a:rPr>
                        <a:t>Two thresholds on the box side — no network</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A03325"/>
                        </a:buClr>
                        <a:buSzPts val="950"/>
                        <a:buFont typeface="Quattrocento Sans"/>
                        <a:buNone/>
                      </a:pPr>
                      <a:r>
                        <a:rPr lang="en-US" sz="950" u="none" cap="none" strike="noStrike">
                          <a:solidFill>
                            <a:srgbClr val="A03325"/>
                          </a:solidFill>
                          <a:latin typeface="Quattrocento Sans"/>
                          <a:ea typeface="Quattrocento Sans"/>
                          <a:cs typeface="Quattrocento Sans"/>
                          <a:sym typeface="Quattrocento Sans"/>
                        </a:rPr>
                        <a:t>none</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A03325"/>
                        </a:buClr>
                        <a:buSzPts val="950"/>
                        <a:buFont typeface="Quattrocento Sans"/>
                        <a:buNone/>
                      </a:pPr>
                      <a:r>
                        <a:rPr b="1" lang="en-US" sz="950" u="none" cap="none" strike="noStrike">
                          <a:solidFill>
                            <a:srgbClr val="A03325"/>
                          </a:solidFill>
                          <a:latin typeface="Quattrocento Sans"/>
                          <a:ea typeface="Quattrocento Sans"/>
                          <a:cs typeface="Quattrocento Sans"/>
                          <a:sym typeface="Quattrocento Sans"/>
                        </a:rPr>
                        <a:t>0.7567</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r>
            </a:tbl>
          </a:graphicData>
        </a:graphic>
      </p:graphicFrame>
      <p:cxnSp>
        <p:nvCxnSpPr>
          <p:cNvPr id="422" name="Google Shape;422;p10"/>
          <p:cNvCxnSpPr/>
          <p:nvPr/>
        </p:nvCxnSpPr>
        <p:spPr>
          <a:xfrm>
            <a:off x="777240" y="5623560"/>
            <a:ext cx="10634472" cy="0"/>
          </a:xfrm>
          <a:prstGeom prst="straightConnector1">
            <a:avLst/>
          </a:prstGeom>
          <a:noFill/>
          <a:ln cap="flat" cmpd="sng" w="12700">
            <a:solidFill>
              <a:srgbClr val="D3D8DB"/>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11"/>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What the frozen encoder is worth</a:t>
            </a:r>
            <a:endParaRPr b="0" i="0" sz="2900" u="none" cap="none" strike="noStrike">
              <a:solidFill>
                <a:schemeClr val="dk1"/>
              </a:solidFill>
              <a:latin typeface="Calibri"/>
              <a:ea typeface="Calibri"/>
              <a:cs typeface="Calibri"/>
              <a:sym typeface="Calibri"/>
            </a:endParaRPr>
          </a:p>
        </p:txBody>
      </p:sp>
      <p:cxnSp>
        <p:nvCxnSpPr>
          <p:cNvPr id="429" name="Google Shape;429;p11"/>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430" name="Google Shape;430;p11"/>
          <p:cNvSpPr txBox="1"/>
          <p:nvPr/>
        </p:nvSpPr>
        <p:spPr>
          <a:xfrm>
            <a:off x="777240" y="1225296"/>
            <a:ext cx="10637215"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I-JEPA vs random ViT, both frozen  ·  PR-AUC on PAI 5, test, 5 seeds</a:t>
            </a:r>
            <a:endParaRPr b="0" i="0" sz="1050" u="none" cap="none" strike="noStrike">
              <a:solidFill>
                <a:schemeClr val="dk1"/>
              </a:solidFill>
              <a:latin typeface="Calibri"/>
              <a:ea typeface="Calibri"/>
              <a:cs typeface="Calibri"/>
              <a:sym typeface="Calibri"/>
            </a:endParaRPr>
          </a:p>
        </p:txBody>
      </p:sp>
      <p:sp>
        <p:nvSpPr>
          <p:cNvPr id="431" name="Google Shape;431;p11"/>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Model evaluation  ·  objective 2</a:t>
            </a:r>
            <a:endParaRPr b="0" i="0" sz="1000" u="none" cap="none" strike="noStrike">
              <a:solidFill>
                <a:schemeClr val="dk1"/>
              </a:solidFill>
              <a:latin typeface="Calibri"/>
              <a:ea typeface="Calibri"/>
              <a:cs typeface="Calibri"/>
              <a:sym typeface="Calibri"/>
            </a:endParaRPr>
          </a:p>
        </p:txBody>
      </p:sp>
      <p:sp>
        <p:nvSpPr>
          <p:cNvPr id="432" name="Google Shape;432;p11"/>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9 / 17</a:t>
            </a:r>
            <a:endParaRPr b="0" i="0" sz="1000" u="none" cap="none" strike="noStrike">
              <a:solidFill>
                <a:schemeClr val="dk1"/>
              </a:solidFill>
              <a:latin typeface="Calibri"/>
              <a:ea typeface="Calibri"/>
              <a:cs typeface="Calibri"/>
              <a:sym typeface="Calibri"/>
            </a:endParaRPr>
          </a:p>
        </p:txBody>
      </p:sp>
      <p:graphicFrame>
        <p:nvGraphicFramePr>
          <p:cNvPr id="433" name="Google Shape;433;p11"/>
          <p:cNvGraphicFramePr/>
          <p:nvPr/>
        </p:nvGraphicFramePr>
        <p:xfrm>
          <a:off x="692365" y="1965960"/>
          <a:ext cx="3000000" cy="3000000"/>
        </p:xfrm>
        <a:graphic>
          <a:graphicData uri="http://schemas.openxmlformats.org/drawingml/2006/table">
            <a:tbl>
              <a:tblPr>
                <a:noFill/>
                <a:tableStyleId>{27E33D80-D22A-43B9-9D80-FE20F8DDA145}</a:tableStyleId>
              </a:tblPr>
              <a:tblGrid>
                <a:gridCol w="2764075"/>
                <a:gridCol w="1737350"/>
                <a:gridCol w="1737350"/>
                <a:gridCol w="1554475"/>
                <a:gridCol w="1554475"/>
                <a:gridCol w="1371600"/>
              </a:tblGrid>
              <a:tr h="475500">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Protocol</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Bag-size cue</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Localisation</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Random</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I-JEPA</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Gain over random</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r>
              <a:tr h="475500">
                <a:tc>
                  <a:txBody>
                    <a:bodyPr/>
                    <a:lstStyle/>
                    <a:p>
                      <a:pPr indent="0" lvl="0" marL="0" marR="0" rtl="0" algn="l">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P1 </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0.8758</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0.8785</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P3 — K = 16</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removed</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0.3861</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0.4713</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22.1%</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P3 — K = 36</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removed</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0.3823</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0.5031</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31.6%</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P3 — K = 64</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removed</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0.3740</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0.4553</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21.7%</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Size-blind crop</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removed</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0.4452</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0.6673</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49.9%</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r>
            </a:tbl>
          </a:graphicData>
        </a:graphic>
      </p:graphicFrame>
      <p:sp>
        <p:nvSpPr>
          <p:cNvPr id="434" name="Google Shape;434;p11"/>
          <p:cNvSpPr txBox="1"/>
          <p:nvPr/>
        </p:nvSpPr>
        <p:spPr>
          <a:xfrm>
            <a:off x="777250" y="5358409"/>
            <a:ext cx="10637100" cy="7281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1D5E42"/>
              </a:buClr>
              <a:buSzPts val="1800"/>
              <a:buFont typeface="Palatino Linotype"/>
              <a:buNone/>
            </a:pPr>
            <a:r>
              <a:rPr b="0" i="1" lang="en-US" sz="1800" u="none" cap="none" strike="noStrike">
                <a:solidFill>
                  <a:srgbClr val="1D5E42"/>
                </a:solidFill>
                <a:latin typeface="Palatino Linotype"/>
                <a:ea typeface="Palatino Linotype"/>
                <a:cs typeface="Palatino Linotype"/>
                <a:sym typeface="Palatino Linotype"/>
              </a:rPr>
              <a:t>Up to +32 % on the rare class by changing only which tokens are aggregated — and +50 % when the crop itself is made blind to size.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9" name="Shape 439"/>
        <p:cNvGrpSpPr/>
        <p:nvPr/>
      </p:nvGrpSpPr>
      <p:grpSpPr>
        <a:xfrm>
          <a:off x="0" y="0"/>
          <a:ext cx="0" cy="0"/>
          <a:chOff x="0" y="0"/>
          <a:chExt cx="0" cy="0"/>
        </a:xfrm>
      </p:grpSpPr>
      <p:sp>
        <p:nvSpPr>
          <p:cNvPr id="440" name="Google Shape;440;p12"/>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The box becomes a pointer</a:t>
            </a:r>
            <a:endParaRPr b="0" i="0" sz="2900" u="none" cap="none" strike="noStrike">
              <a:solidFill>
                <a:schemeClr val="dk1"/>
              </a:solidFill>
              <a:latin typeface="Calibri"/>
              <a:ea typeface="Calibri"/>
              <a:cs typeface="Calibri"/>
              <a:sym typeface="Calibri"/>
            </a:endParaRPr>
          </a:p>
        </p:txBody>
      </p:sp>
      <p:cxnSp>
        <p:nvCxnSpPr>
          <p:cNvPr id="441" name="Google Shape;441;p12"/>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442" name="Google Shape;442;p12"/>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10 / 17</a:t>
            </a:r>
            <a:endParaRPr b="0" i="0" sz="1000" u="none" cap="none" strike="noStrike">
              <a:solidFill>
                <a:schemeClr val="dk1"/>
              </a:solidFill>
              <a:latin typeface="Calibri"/>
              <a:ea typeface="Calibri"/>
              <a:cs typeface="Calibri"/>
              <a:sym typeface="Calibri"/>
            </a:endParaRPr>
          </a:p>
        </p:txBody>
      </p:sp>
      <p:sp>
        <p:nvSpPr>
          <p:cNvPr id="443" name="Google Shape;443;p12"/>
          <p:cNvSpPr txBox="1"/>
          <p:nvPr/>
        </p:nvSpPr>
        <p:spPr>
          <a:xfrm>
            <a:off x="777240" y="1261865"/>
            <a:ext cx="10515600" cy="5487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16191C"/>
              </a:buClr>
              <a:buSzPts val="1800"/>
              <a:buFont typeface="Palatino Linotype"/>
              <a:buNone/>
            </a:pPr>
            <a:r>
              <a:rPr b="0" i="1" lang="en-US" sz="1800" u="none" cap="none" strike="noStrike">
                <a:solidFill>
                  <a:srgbClr val="16191C"/>
                </a:solidFill>
                <a:latin typeface="Palatino Linotype"/>
                <a:ea typeface="Palatino Linotype"/>
                <a:cs typeface="Palatino Linotype"/>
                <a:sym typeface="Palatino Linotype"/>
              </a:rPr>
              <a:t>Keep the box centre. Take the K nearest tokens. Same K for every class.</a:t>
            </a:r>
            <a:endParaRPr b="0" i="0" sz="1800" u="none" cap="none" strike="noStrike">
              <a:solidFill>
                <a:schemeClr val="dk1"/>
              </a:solidFill>
              <a:latin typeface="Calibri"/>
              <a:ea typeface="Calibri"/>
              <a:cs typeface="Calibri"/>
              <a:sym typeface="Calibri"/>
            </a:endParaRPr>
          </a:p>
        </p:txBody>
      </p:sp>
      <p:sp>
        <p:nvSpPr>
          <p:cNvPr id="444" name="Google Shape;444;p12"/>
          <p:cNvSpPr txBox="1"/>
          <p:nvPr/>
        </p:nvSpPr>
        <p:spPr>
          <a:xfrm>
            <a:off x="4480475" y="2432225"/>
            <a:ext cx="14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03325"/>
              </a:buClr>
              <a:buSzPts val="1200"/>
              <a:buFont typeface="Quattrocento Sans"/>
              <a:buNone/>
            </a:pPr>
            <a:r>
              <a:rPr b="0" i="1" lang="en-US" sz="1200" u="none" cap="none" strike="noStrike">
                <a:solidFill>
                  <a:srgbClr val="A03325"/>
                </a:solidFill>
                <a:latin typeface="Quattrocento Sans"/>
                <a:ea typeface="Quattrocento Sans"/>
                <a:cs typeface="Quattrocento Sans"/>
                <a:sym typeface="Quattrocento Sans"/>
              </a:rPr>
              <a:t>as prescribed</a:t>
            </a:r>
            <a:endParaRPr b="0" i="0" sz="1200" u="none" cap="none" strike="noStrike">
              <a:solidFill>
                <a:schemeClr val="dk1"/>
              </a:solidFill>
              <a:latin typeface="Calibri"/>
              <a:ea typeface="Calibri"/>
              <a:cs typeface="Calibri"/>
              <a:sym typeface="Calibri"/>
            </a:endParaRPr>
          </a:p>
        </p:txBody>
      </p:sp>
      <p:sp>
        <p:nvSpPr>
          <p:cNvPr id="445" name="Google Shape;445;p12"/>
          <p:cNvSpPr txBox="1"/>
          <p:nvPr/>
        </p:nvSpPr>
        <p:spPr>
          <a:xfrm>
            <a:off x="6334138" y="2432225"/>
            <a:ext cx="14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5E42"/>
              </a:buClr>
              <a:buSzPts val="1200"/>
              <a:buFont typeface="Quattrocento Sans"/>
              <a:buNone/>
            </a:pPr>
            <a:r>
              <a:rPr b="0" i="1" lang="en-US" sz="1200" u="none" cap="none" strike="noStrike">
                <a:solidFill>
                  <a:srgbClr val="1D5E42"/>
                </a:solidFill>
                <a:latin typeface="Quattrocento Sans"/>
                <a:ea typeface="Quattrocento Sans"/>
                <a:cs typeface="Quattrocento Sans"/>
                <a:sym typeface="Quattrocento Sans"/>
              </a:rPr>
              <a:t>fixed count, K = 16</a:t>
            </a:r>
            <a:endParaRPr b="0" i="0" sz="1200" u="none" cap="none" strike="noStrike">
              <a:solidFill>
                <a:schemeClr val="dk1"/>
              </a:solidFill>
              <a:latin typeface="Calibri"/>
              <a:ea typeface="Calibri"/>
              <a:cs typeface="Calibri"/>
              <a:sym typeface="Calibri"/>
            </a:endParaRPr>
          </a:p>
        </p:txBody>
      </p:sp>
      <p:sp>
        <p:nvSpPr>
          <p:cNvPr id="446" name="Google Shape;446;p12"/>
          <p:cNvSpPr txBox="1"/>
          <p:nvPr/>
        </p:nvSpPr>
        <p:spPr>
          <a:xfrm>
            <a:off x="3680030" y="3410634"/>
            <a:ext cx="71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PAI 3</a:t>
            </a:r>
            <a:endParaRPr b="0" i="0" sz="1150" u="none" cap="none" strike="noStrike">
              <a:solidFill>
                <a:schemeClr val="dk1"/>
              </a:solidFill>
              <a:latin typeface="Calibri"/>
              <a:ea typeface="Calibri"/>
              <a:cs typeface="Calibri"/>
              <a:sym typeface="Calibri"/>
            </a:endParaRPr>
          </a:p>
        </p:txBody>
      </p:sp>
      <p:sp>
        <p:nvSpPr>
          <p:cNvPr id="447" name="Google Shape;447;p12"/>
          <p:cNvSpPr/>
          <p:nvPr/>
        </p:nvSpPr>
        <p:spPr>
          <a:xfrm>
            <a:off x="4480475" y="2770553"/>
            <a:ext cx="1474200" cy="1600200"/>
          </a:xfrm>
          <a:prstGeom prst="rect">
            <a:avLst/>
          </a:prstGeom>
          <a:solidFill>
            <a:srgbClr val="F2F5F6"/>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12"/>
          <p:cNvSpPr/>
          <p:nvPr/>
        </p:nvSpPr>
        <p:spPr>
          <a:xfrm>
            <a:off x="5007084" y="3342054"/>
            <a:ext cx="421500" cy="457200"/>
          </a:xfrm>
          <a:prstGeom prst="rect">
            <a:avLst/>
          </a:prstGeom>
          <a:solidFill>
            <a:srgbClr val="A0332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12"/>
          <p:cNvSpPr/>
          <p:nvPr/>
        </p:nvSpPr>
        <p:spPr>
          <a:xfrm>
            <a:off x="5007084" y="3342054"/>
            <a:ext cx="421500" cy="457200"/>
          </a:xfrm>
          <a:prstGeom prst="rect">
            <a:avLst/>
          </a:prstGeom>
          <a:noFill/>
          <a:ln cap="flat" cmpd="sng" w="15875">
            <a:solidFill>
              <a:srgbClr val="16191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2"/>
          <p:cNvSpPr/>
          <p:nvPr/>
        </p:nvSpPr>
        <p:spPr>
          <a:xfrm>
            <a:off x="6334138" y="2770553"/>
            <a:ext cx="1474200" cy="1600200"/>
          </a:xfrm>
          <a:prstGeom prst="rect">
            <a:avLst/>
          </a:prstGeom>
          <a:solidFill>
            <a:srgbClr val="F2F5F6"/>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2"/>
          <p:cNvSpPr/>
          <p:nvPr/>
        </p:nvSpPr>
        <p:spPr>
          <a:xfrm>
            <a:off x="6860747" y="3342054"/>
            <a:ext cx="421500" cy="457200"/>
          </a:xfrm>
          <a:prstGeom prst="rect">
            <a:avLst/>
          </a:prstGeom>
          <a:solidFill>
            <a:srgbClr val="1D5E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2"/>
          <p:cNvSpPr/>
          <p:nvPr/>
        </p:nvSpPr>
        <p:spPr>
          <a:xfrm>
            <a:off x="6860747" y="3342054"/>
            <a:ext cx="421500" cy="457200"/>
          </a:xfrm>
          <a:prstGeom prst="rect">
            <a:avLst/>
          </a:prstGeom>
          <a:noFill/>
          <a:ln cap="flat" cmpd="sng" w="15875">
            <a:solidFill>
              <a:srgbClr val="16191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2"/>
          <p:cNvSpPr txBox="1"/>
          <p:nvPr/>
        </p:nvSpPr>
        <p:spPr>
          <a:xfrm>
            <a:off x="3680030" y="4965115"/>
            <a:ext cx="71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PAI 5</a:t>
            </a:r>
            <a:endParaRPr b="0" i="0" sz="1150" u="none" cap="none" strike="noStrike">
              <a:solidFill>
                <a:schemeClr val="dk1"/>
              </a:solidFill>
              <a:latin typeface="Calibri"/>
              <a:ea typeface="Calibri"/>
              <a:cs typeface="Calibri"/>
              <a:sym typeface="Calibri"/>
            </a:endParaRPr>
          </a:p>
        </p:txBody>
      </p:sp>
      <p:sp>
        <p:nvSpPr>
          <p:cNvPr id="454" name="Google Shape;454;p12"/>
          <p:cNvSpPr/>
          <p:nvPr/>
        </p:nvSpPr>
        <p:spPr>
          <a:xfrm>
            <a:off x="4480475" y="4325034"/>
            <a:ext cx="1474200" cy="1600200"/>
          </a:xfrm>
          <a:prstGeom prst="rect">
            <a:avLst/>
          </a:prstGeom>
          <a:solidFill>
            <a:srgbClr val="F2F5F6"/>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2"/>
          <p:cNvSpPr/>
          <p:nvPr/>
        </p:nvSpPr>
        <p:spPr>
          <a:xfrm>
            <a:off x="4796440" y="4667934"/>
            <a:ext cx="842400" cy="914400"/>
          </a:xfrm>
          <a:prstGeom prst="rect">
            <a:avLst/>
          </a:prstGeom>
          <a:solidFill>
            <a:srgbClr val="A0332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12"/>
          <p:cNvSpPr/>
          <p:nvPr/>
        </p:nvSpPr>
        <p:spPr>
          <a:xfrm>
            <a:off x="4796440" y="4667934"/>
            <a:ext cx="842400" cy="914400"/>
          </a:xfrm>
          <a:prstGeom prst="rect">
            <a:avLst/>
          </a:prstGeom>
          <a:noFill/>
          <a:ln cap="flat" cmpd="sng" w="15875">
            <a:solidFill>
              <a:srgbClr val="16191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12"/>
          <p:cNvSpPr/>
          <p:nvPr/>
        </p:nvSpPr>
        <p:spPr>
          <a:xfrm>
            <a:off x="6334138" y="4325034"/>
            <a:ext cx="1474200" cy="1600200"/>
          </a:xfrm>
          <a:prstGeom prst="rect">
            <a:avLst/>
          </a:prstGeom>
          <a:solidFill>
            <a:srgbClr val="F2F5F6"/>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2"/>
          <p:cNvSpPr/>
          <p:nvPr/>
        </p:nvSpPr>
        <p:spPr>
          <a:xfrm>
            <a:off x="6860747" y="4896535"/>
            <a:ext cx="421500" cy="457200"/>
          </a:xfrm>
          <a:prstGeom prst="rect">
            <a:avLst/>
          </a:prstGeom>
          <a:solidFill>
            <a:srgbClr val="1D5E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2"/>
          <p:cNvSpPr/>
          <p:nvPr/>
        </p:nvSpPr>
        <p:spPr>
          <a:xfrm>
            <a:off x="6650103" y="4667934"/>
            <a:ext cx="842400" cy="914400"/>
          </a:xfrm>
          <a:prstGeom prst="rect">
            <a:avLst/>
          </a:prstGeom>
          <a:noFill/>
          <a:ln cap="flat" cmpd="sng" w="15875">
            <a:solidFill>
              <a:srgbClr val="16191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2"/>
          <p:cNvSpPr txBox="1"/>
          <p:nvPr/>
        </p:nvSpPr>
        <p:spPr>
          <a:xfrm>
            <a:off x="4480475" y="5943523"/>
            <a:ext cx="14742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03325"/>
              </a:buClr>
              <a:buSzPts val="1100"/>
              <a:buFont typeface="Quattrocento Sans"/>
              <a:buNone/>
            </a:pPr>
            <a:r>
              <a:rPr b="0" i="0" lang="en-US" sz="1100" u="none" cap="none" strike="noStrike">
                <a:solidFill>
                  <a:srgbClr val="A03325"/>
                </a:solidFill>
                <a:latin typeface="Quattrocento Sans"/>
                <a:ea typeface="Quattrocento Sans"/>
                <a:cs typeface="Quattrocento Sans"/>
                <a:sym typeface="Quattrocento Sans"/>
              </a:rPr>
              <a:t>16 vs 64 tokens</a:t>
            </a:r>
            <a:endParaRPr b="0" i="0" sz="1100" u="none" cap="none" strike="noStrike">
              <a:solidFill>
                <a:schemeClr val="dk1"/>
              </a:solidFill>
              <a:latin typeface="Calibri"/>
              <a:ea typeface="Calibri"/>
              <a:cs typeface="Calibri"/>
              <a:sym typeface="Calibri"/>
            </a:endParaRPr>
          </a:p>
        </p:txBody>
      </p:sp>
      <p:sp>
        <p:nvSpPr>
          <p:cNvPr id="461" name="Google Shape;461;p12"/>
          <p:cNvSpPr txBox="1"/>
          <p:nvPr/>
        </p:nvSpPr>
        <p:spPr>
          <a:xfrm>
            <a:off x="6334138" y="5943523"/>
            <a:ext cx="14742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5E42"/>
              </a:buClr>
              <a:buSzPts val="1100"/>
              <a:buFont typeface="Quattrocento Sans"/>
              <a:buNone/>
            </a:pPr>
            <a:r>
              <a:rPr b="0" i="0" lang="en-US" sz="1100" u="none" cap="none" strike="noStrike">
                <a:solidFill>
                  <a:srgbClr val="1D5E42"/>
                </a:solidFill>
                <a:latin typeface="Quattrocento Sans"/>
                <a:ea typeface="Quattrocento Sans"/>
                <a:cs typeface="Quattrocento Sans"/>
                <a:sym typeface="Quattrocento Sans"/>
              </a:rPr>
              <a:t>16 vs 16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6" name="Shape 466"/>
        <p:cNvGrpSpPr/>
        <p:nvPr/>
      </p:nvGrpSpPr>
      <p:grpSpPr>
        <a:xfrm>
          <a:off x="0" y="0"/>
          <a:ext cx="0" cy="0"/>
          <a:chOff x="0" y="0"/>
          <a:chExt cx="0" cy="0"/>
        </a:xfrm>
      </p:grpSpPr>
      <p:sp>
        <p:nvSpPr>
          <p:cNvPr id="467" name="Google Shape;467;p13"/>
          <p:cNvSpPr txBox="1"/>
          <p:nvPr/>
        </p:nvSpPr>
        <p:spPr>
          <a:xfrm>
            <a:off x="777240" y="475488"/>
            <a:ext cx="106344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6191C"/>
                </a:solidFill>
                <a:latin typeface="Palatino Linotype"/>
                <a:ea typeface="Palatino Linotype"/>
                <a:cs typeface="Palatino Linotype"/>
                <a:sym typeface="Palatino Linotype"/>
              </a:rPr>
              <a:t>Size-blind crops: a suitable solution</a:t>
            </a:r>
            <a:endParaRPr b="0" i="0" sz="2900" u="none" cap="none" strike="noStrike">
              <a:solidFill>
                <a:srgbClr val="000000"/>
              </a:solidFill>
              <a:latin typeface="Arial"/>
              <a:ea typeface="Arial"/>
              <a:cs typeface="Arial"/>
              <a:sym typeface="Arial"/>
            </a:endParaRPr>
          </a:p>
        </p:txBody>
      </p:sp>
      <p:cxnSp>
        <p:nvCxnSpPr>
          <p:cNvPr id="468" name="Google Shape;468;p13"/>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469" name="Google Shape;469;p13"/>
          <p:cNvSpPr txBox="1"/>
          <p:nvPr/>
        </p:nvSpPr>
        <p:spPr>
          <a:xfrm>
            <a:off x="777275" y="1152146"/>
            <a:ext cx="10634400" cy="150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550" u="none" cap="none" strike="noStrike">
                <a:solidFill>
                  <a:srgbClr val="000000"/>
                </a:solidFill>
                <a:latin typeface="Quattrocento Sans"/>
                <a:ea typeface="Quattrocento Sans"/>
                <a:cs typeface="Quattrocento Sans"/>
                <a:sym typeface="Quattrocento Sans"/>
              </a:rPr>
              <a:t>Size-blind cropping proved to be a very promising solution during our initial evaluation . However, stretching these crops to fit a fixed resolution distorts the actual geometry of the lesions. Considering our project timeline, the fact that we are training a small model  and the importance of preserving natural anatomical proportions, we decided not to adopt this approach for our main experiments. We still keep it as a control baseline, as it represents one of the most exciting avenues for future deep-dive research.</a:t>
            </a:r>
            <a:endParaRPr b="0" i="0" sz="1550" u="none" cap="none" strike="noStrike">
              <a:solidFill>
                <a:srgbClr val="000000"/>
              </a:solidFill>
              <a:latin typeface="Quattrocento Sans"/>
              <a:ea typeface="Quattrocento Sans"/>
              <a:cs typeface="Quattrocento Sans"/>
              <a:sym typeface="Quattrocento Sans"/>
            </a:endParaRPr>
          </a:p>
        </p:txBody>
      </p:sp>
      <p:sp>
        <p:nvSpPr>
          <p:cNvPr id="470" name="Google Shape;470;p13"/>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6E767C"/>
                </a:solidFill>
                <a:latin typeface="Quattrocento Sans"/>
                <a:ea typeface="Quattrocento Sans"/>
                <a:cs typeface="Quattrocento Sans"/>
                <a:sym typeface="Quattrocento Sans"/>
              </a:rPr>
              <a:t>11 / 17</a:t>
            </a:r>
            <a:endParaRPr b="0" i="0" sz="1000" u="none" cap="none" strike="noStrike">
              <a:solidFill>
                <a:srgbClr val="000000"/>
              </a:solidFill>
              <a:latin typeface="Arial"/>
              <a:ea typeface="Arial"/>
              <a:cs typeface="Arial"/>
              <a:sym typeface="Arial"/>
            </a:endParaRPr>
          </a:p>
        </p:txBody>
      </p:sp>
      <p:sp>
        <p:nvSpPr>
          <p:cNvPr id="471" name="Google Shape;471;p13"/>
          <p:cNvSpPr/>
          <p:nvPr/>
        </p:nvSpPr>
        <p:spPr>
          <a:xfrm>
            <a:off x="2906960" y="3729544"/>
            <a:ext cx="1642200" cy="1642200"/>
          </a:xfrm>
          <a:prstGeom prst="rect">
            <a:avLst/>
          </a:prstGeom>
          <a:solidFill>
            <a:srgbClr val="FFFFFF"/>
          </a:solidFill>
          <a:ln cap="flat" cmpd="sng" w="24425">
            <a:solidFill>
              <a:srgbClr val="D3D8DB"/>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13"/>
          <p:cNvSpPr/>
          <p:nvPr/>
        </p:nvSpPr>
        <p:spPr>
          <a:xfrm>
            <a:off x="3434795" y="4257387"/>
            <a:ext cx="586500" cy="586500"/>
          </a:xfrm>
          <a:prstGeom prst="ellipse">
            <a:avLst/>
          </a:prstGeom>
          <a:solidFill>
            <a:srgbClr val="E4E8EA"/>
          </a:solidFill>
          <a:ln cap="flat" cmpd="sng" w="20375">
            <a:solidFill>
              <a:srgbClr val="6E767C"/>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13"/>
          <p:cNvSpPr txBox="1"/>
          <p:nvPr/>
        </p:nvSpPr>
        <p:spPr>
          <a:xfrm>
            <a:off x="2906960" y="5459697"/>
            <a:ext cx="1642200" cy="293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23"/>
              <a:buFont typeface="Arial"/>
              <a:buNone/>
            </a:pPr>
            <a:r>
              <a:rPr b="0" i="0" lang="en-US" sz="1523" u="none" cap="none" strike="noStrike">
                <a:solidFill>
                  <a:srgbClr val="6E767C"/>
                </a:solidFill>
                <a:latin typeface="Quattrocento Sans"/>
                <a:ea typeface="Quattrocento Sans"/>
                <a:cs typeface="Quattrocento Sans"/>
                <a:sym typeface="Quattrocento Sans"/>
              </a:rPr>
              <a:t>PAI 3</a:t>
            </a:r>
            <a:endParaRPr b="0" i="0" sz="1523" u="none" cap="none" strike="noStrike">
              <a:solidFill>
                <a:srgbClr val="000000"/>
              </a:solidFill>
              <a:latin typeface="Arial"/>
              <a:ea typeface="Arial"/>
              <a:cs typeface="Arial"/>
              <a:sym typeface="Arial"/>
            </a:endParaRPr>
          </a:p>
        </p:txBody>
      </p:sp>
      <p:sp>
        <p:nvSpPr>
          <p:cNvPr id="474" name="Google Shape;474;p13"/>
          <p:cNvSpPr/>
          <p:nvPr/>
        </p:nvSpPr>
        <p:spPr>
          <a:xfrm>
            <a:off x="4871681" y="3729544"/>
            <a:ext cx="1642200" cy="1642200"/>
          </a:xfrm>
          <a:prstGeom prst="rect">
            <a:avLst/>
          </a:prstGeom>
          <a:solidFill>
            <a:srgbClr val="FFFFFF"/>
          </a:solidFill>
          <a:ln cap="flat" cmpd="sng" w="24425">
            <a:solidFill>
              <a:srgbClr val="D3D8DB"/>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3"/>
          <p:cNvSpPr/>
          <p:nvPr/>
        </p:nvSpPr>
        <p:spPr>
          <a:xfrm>
            <a:off x="5399516" y="4257387"/>
            <a:ext cx="586500" cy="586500"/>
          </a:xfrm>
          <a:prstGeom prst="ellipse">
            <a:avLst/>
          </a:prstGeom>
          <a:solidFill>
            <a:srgbClr val="E4E8EA"/>
          </a:solidFill>
          <a:ln cap="flat" cmpd="sng" w="20375">
            <a:solidFill>
              <a:srgbClr val="6E767C"/>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13"/>
          <p:cNvSpPr txBox="1"/>
          <p:nvPr/>
        </p:nvSpPr>
        <p:spPr>
          <a:xfrm>
            <a:off x="4871681" y="5459697"/>
            <a:ext cx="1642200" cy="293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23"/>
              <a:buFont typeface="Arial"/>
              <a:buNone/>
            </a:pPr>
            <a:r>
              <a:rPr b="0" i="0" lang="en-US" sz="1523" u="none" cap="none" strike="noStrike">
                <a:solidFill>
                  <a:srgbClr val="6E767C"/>
                </a:solidFill>
                <a:latin typeface="Quattrocento Sans"/>
                <a:ea typeface="Quattrocento Sans"/>
                <a:cs typeface="Quattrocento Sans"/>
                <a:sym typeface="Quattrocento Sans"/>
              </a:rPr>
              <a:t>PAI 4</a:t>
            </a:r>
            <a:endParaRPr b="0" i="0" sz="1523" u="none" cap="none" strike="noStrike">
              <a:solidFill>
                <a:srgbClr val="000000"/>
              </a:solidFill>
              <a:latin typeface="Arial"/>
              <a:ea typeface="Arial"/>
              <a:cs typeface="Arial"/>
              <a:sym typeface="Arial"/>
            </a:endParaRPr>
          </a:p>
        </p:txBody>
      </p:sp>
      <p:sp>
        <p:nvSpPr>
          <p:cNvPr id="477" name="Google Shape;477;p13"/>
          <p:cNvSpPr/>
          <p:nvPr/>
        </p:nvSpPr>
        <p:spPr>
          <a:xfrm>
            <a:off x="6836401" y="3729544"/>
            <a:ext cx="1642200" cy="1642200"/>
          </a:xfrm>
          <a:prstGeom prst="rect">
            <a:avLst/>
          </a:prstGeom>
          <a:solidFill>
            <a:srgbClr val="FFFFFF"/>
          </a:solidFill>
          <a:ln cap="flat" cmpd="sng" w="24425">
            <a:solidFill>
              <a:srgbClr val="D3D8DB"/>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3"/>
          <p:cNvSpPr txBox="1"/>
          <p:nvPr/>
        </p:nvSpPr>
        <p:spPr>
          <a:xfrm>
            <a:off x="6836401" y="5459697"/>
            <a:ext cx="1642200" cy="293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23"/>
              <a:buFont typeface="Arial"/>
              <a:buNone/>
            </a:pPr>
            <a:r>
              <a:rPr b="0" i="0" lang="en-US" sz="1523" u="none" cap="none" strike="noStrike">
                <a:solidFill>
                  <a:srgbClr val="6E767C"/>
                </a:solidFill>
                <a:latin typeface="Quattrocento Sans"/>
                <a:ea typeface="Quattrocento Sans"/>
                <a:cs typeface="Quattrocento Sans"/>
                <a:sym typeface="Quattrocento Sans"/>
              </a:rPr>
              <a:t>PAI 5</a:t>
            </a:r>
            <a:endParaRPr b="0" i="0" sz="1523" u="none" cap="none" strike="noStrike">
              <a:solidFill>
                <a:srgbClr val="000000"/>
              </a:solidFill>
              <a:latin typeface="Arial"/>
              <a:ea typeface="Arial"/>
              <a:cs typeface="Arial"/>
              <a:sym typeface="Arial"/>
            </a:endParaRPr>
          </a:p>
        </p:txBody>
      </p:sp>
      <p:sp>
        <p:nvSpPr>
          <p:cNvPr id="479" name="Google Shape;479;p13"/>
          <p:cNvSpPr txBox="1"/>
          <p:nvPr/>
        </p:nvSpPr>
        <p:spPr>
          <a:xfrm>
            <a:off x="2906960" y="5782268"/>
            <a:ext cx="5571300" cy="352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23"/>
              <a:buFont typeface="Arial"/>
              <a:buNone/>
            </a:pPr>
            <a:r>
              <a:rPr b="0" i="1" lang="en-US" sz="1523" u="none" cap="none" strike="noStrike">
                <a:solidFill>
                  <a:srgbClr val="6E767C"/>
                </a:solidFill>
                <a:latin typeface="Quattrocento Sans"/>
                <a:ea typeface="Quattrocento Sans"/>
                <a:cs typeface="Quattrocento Sans"/>
                <a:sym typeface="Quattrocento Sans"/>
              </a:rPr>
              <a:t>36 tokens, for every grade</a:t>
            </a:r>
            <a:endParaRPr b="0" i="0" sz="1523" u="none" cap="none" strike="noStrike">
              <a:solidFill>
                <a:srgbClr val="000000"/>
              </a:solidFill>
              <a:latin typeface="Arial"/>
              <a:ea typeface="Arial"/>
              <a:cs typeface="Arial"/>
              <a:sym typeface="Arial"/>
            </a:endParaRPr>
          </a:p>
        </p:txBody>
      </p:sp>
      <p:sp>
        <p:nvSpPr>
          <p:cNvPr id="480" name="Google Shape;480;p13"/>
          <p:cNvSpPr/>
          <p:nvPr/>
        </p:nvSpPr>
        <p:spPr>
          <a:xfrm>
            <a:off x="7364241" y="4257387"/>
            <a:ext cx="586500" cy="586500"/>
          </a:xfrm>
          <a:prstGeom prst="ellipse">
            <a:avLst/>
          </a:prstGeom>
          <a:solidFill>
            <a:srgbClr val="E4E8EA"/>
          </a:solidFill>
          <a:ln cap="flat" cmpd="sng" w="20375">
            <a:solidFill>
              <a:srgbClr val="6E767C"/>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14"/>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6191C"/>
                </a:solidFill>
                <a:latin typeface="Palatino Linotype"/>
                <a:ea typeface="Palatino Linotype"/>
                <a:cs typeface="Palatino Linotype"/>
                <a:sym typeface="Palatino Linotype"/>
              </a:rPr>
              <a:t>How is pooling performed?</a:t>
            </a:r>
            <a:endParaRPr b="0" i="0" sz="2900" u="none" cap="none" strike="noStrike">
              <a:solidFill>
                <a:srgbClr val="000000"/>
              </a:solidFill>
              <a:latin typeface="Arial"/>
              <a:ea typeface="Arial"/>
              <a:cs typeface="Arial"/>
              <a:sym typeface="Arial"/>
            </a:endParaRPr>
          </a:p>
        </p:txBody>
      </p:sp>
      <p:sp>
        <p:nvSpPr>
          <p:cNvPr id="487" name="Google Shape;487;p14"/>
          <p:cNvSpPr txBox="1"/>
          <p:nvPr/>
        </p:nvSpPr>
        <p:spPr>
          <a:xfrm>
            <a:off x="10475382" y="6190068"/>
            <a:ext cx="1097400" cy="237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6E767C"/>
                </a:solidFill>
                <a:latin typeface="Quattrocento Sans"/>
                <a:ea typeface="Quattrocento Sans"/>
                <a:cs typeface="Quattrocento Sans"/>
                <a:sym typeface="Quattrocento Sans"/>
              </a:rPr>
              <a:t>12 / 17</a:t>
            </a:r>
            <a:endParaRPr b="0" i="0" sz="1000" u="none" cap="none" strike="noStrike">
              <a:solidFill>
                <a:srgbClr val="000000"/>
              </a:solidFill>
              <a:latin typeface="Arial"/>
              <a:ea typeface="Arial"/>
              <a:cs typeface="Arial"/>
              <a:sym typeface="Arial"/>
            </a:endParaRPr>
          </a:p>
        </p:txBody>
      </p:sp>
      <p:cxnSp>
        <p:nvCxnSpPr>
          <p:cNvPr id="488" name="Google Shape;488;p14"/>
          <p:cNvCxnSpPr/>
          <p:nvPr/>
        </p:nvCxnSpPr>
        <p:spPr>
          <a:xfrm>
            <a:off x="4233229"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89" name="Google Shape;489;p14"/>
          <p:cNvSpPr txBox="1"/>
          <p:nvPr/>
        </p:nvSpPr>
        <p:spPr>
          <a:xfrm>
            <a:off x="3786690"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0.53</a:t>
            </a:r>
            <a:endParaRPr b="0" i="0" sz="1160" u="none" cap="none" strike="noStrike">
              <a:solidFill>
                <a:srgbClr val="000000"/>
              </a:solidFill>
              <a:latin typeface="Arial"/>
              <a:ea typeface="Arial"/>
              <a:cs typeface="Arial"/>
              <a:sym typeface="Arial"/>
            </a:endParaRPr>
          </a:p>
        </p:txBody>
      </p:sp>
      <p:cxnSp>
        <p:nvCxnSpPr>
          <p:cNvPr id="490" name="Google Shape;490;p14"/>
          <p:cNvCxnSpPr/>
          <p:nvPr/>
        </p:nvCxnSpPr>
        <p:spPr>
          <a:xfrm>
            <a:off x="5330970"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91" name="Google Shape;491;p14"/>
          <p:cNvSpPr txBox="1"/>
          <p:nvPr/>
        </p:nvSpPr>
        <p:spPr>
          <a:xfrm>
            <a:off x="4884432"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0.54</a:t>
            </a:r>
            <a:endParaRPr b="0" i="0" sz="1160" u="none" cap="none" strike="noStrike">
              <a:solidFill>
                <a:srgbClr val="000000"/>
              </a:solidFill>
              <a:latin typeface="Arial"/>
              <a:ea typeface="Arial"/>
              <a:cs typeface="Arial"/>
              <a:sym typeface="Arial"/>
            </a:endParaRPr>
          </a:p>
        </p:txBody>
      </p:sp>
      <p:cxnSp>
        <p:nvCxnSpPr>
          <p:cNvPr id="492" name="Google Shape;492;p14"/>
          <p:cNvCxnSpPr/>
          <p:nvPr/>
        </p:nvCxnSpPr>
        <p:spPr>
          <a:xfrm>
            <a:off x="6428711"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93" name="Google Shape;493;p14"/>
          <p:cNvSpPr txBox="1"/>
          <p:nvPr/>
        </p:nvSpPr>
        <p:spPr>
          <a:xfrm>
            <a:off x="5982173"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0.55</a:t>
            </a:r>
            <a:endParaRPr b="0" i="0" sz="1160" u="none" cap="none" strike="noStrike">
              <a:solidFill>
                <a:srgbClr val="000000"/>
              </a:solidFill>
              <a:latin typeface="Arial"/>
              <a:ea typeface="Arial"/>
              <a:cs typeface="Arial"/>
              <a:sym typeface="Arial"/>
            </a:endParaRPr>
          </a:p>
        </p:txBody>
      </p:sp>
      <p:cxnSp>
        <p:nvCxnSpPr>
          <p:cNvPr id="494" name="Google Shape;494;p14"/>
          <p:cNvCxnSpPr/>
          <p:nvPr/>
        </p:nvCxnSpPr>
        <p:spPr>
          <a:xfrm>
            <a:off x="7526453"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95" name="Google Shape;495;p14"/>
          <p:cNvSpPr txBox="1"/>
          <p:nvPr/>
        </p:nvSpPr>
        <p:spPr>
          <a:xfrm>
            <a:off x="7079914"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0.56</a:t>
            </a:r>
            <a:endParaRPr b="0" i="0" sz="1160" u="none" cap="none" strike="noStrike">
              <a:solidFill>
                <a:srgbClr val="000000"/>
              </a:solidFill>
              <a:latin typeface="Arial"/>
              <a:ea typeface="Arial"/>
              <a:cs typeface="Arial"/>
              <a:sym typeface="Arial"/>
            </a:endParaRPr>
          </a:p>
        </p:txBody>
      </p:sp>
      <p:cxnSp>
        <p:nvCxnSpPr>
          <p:cNvPr id="496" name="Google Shape;496;p14"/>
          <p:cNvCxnSpPr/>
          <p:nvPr/>
        </p:nvCxnSpPr>
        <p:spPr>
          <a:xfrm>
            <a:off x="8624193"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97" name="Google Shape;497;p14"/>
          <p:cNvSpPr txBox="1"/>
          <p:nvPr/>
        </p:nvSpPr>
        <p:spPr>
          <a:xfrm>
            <a:off x="8177655"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0.57</a:t>
            </a:r>
            <a:endParaRPr b="0" i="0" sz="1160" u="none" cap="none" strike="noStrike">
              <a:solidFill>
                <a:srgbClr val="000000"/>
              </a:solidFill>
              <a:latin typeface="Arial"/>
              <a:ea typeface="Arial"/>
              <a:cs typeface="Arial"/>
              <a:sym typeface="Arial"/>
            </a:endParaRPr>
          </a:p>
        </p:txBody>
      </p:sp>
      <p:cxnSp>
        <p:nvCxnSpPr>
          <p:cNvPr id="498" name="Google Shape;498;p14"/>
          <p:cNvCxnSpPr/>
          <p:nvPr/>
        </p:nvCxnSpPr>
        <p:spPr>
          <a:xfrm>
            <a:off x="9721935"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99" name="Google Shape;499;p14"/>
          <p:cNvSpPr txBox="1"/>
          <p:nvPr/>
        </p:nvSpPr>
        <p:spPr>
          <a:xfrm>
            <a:off x="9275397"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0.58</a:t>
            </a:r>
            <a:endParaRPr b="0" i="0" sz="1160" u="none" cap="none" strike="noStrike">
              <a:solidFill>
                <a:srgbClr val="000000"/>
              </a:solidFill>
              <a:latin typeface="Arial"/>
              <a:ea typeface="Arial"/>
              <a:cs typeface="Arial"/>
              <a:sym typeface="Arial"/>
            </a:endParaRPr>
          </a:p>
        </p:txBody>
      </p:sp>
      <p:cxnSp>
        <p:nvCxnSpPr>
          <p:cNvPr id="500" name="Google Shape;500;p14"/>
          <p:cNvCxnSpPr/>
          <p:nvPr/>
        </p:nvCxnSpPr>
        <p:spPr>
          <a:xfrm>
            <a:off x="10819676"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501" name="Google Shape;501;p14"/>
          <p:cNvSpPr txBox="1"/>
          <p:nvPr/>
        </p:nvSpPr>
        <p:spPr>
          <a:xfrm>
            <a:off x="10373137"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0.59</a:t>
            </a:r>
            <a:endParaRPr b="0" i="0" sz="1160" u="none" cap="none" strike="noStrike">
              <a:solidFill>
                <a:srgbClr val="000000"/>
              </a:solidFill>
              <a:latin typeface="Arial"/>
              <a:ea typeface="Arial"/>
              <a:cs typeface="Arial"/>
              <a:sym typeface="Arial"/>
            </a:endParaRPr>
          </a:p>
        </p:txBody>
      </p:sp>
      <p:cxnSp>
        <p:nvCxnSpPr>
          <p:cNvPr id="502" name="Google Shape;502;p14"/>
          <p:cNvCxnSpPr/>
          <p:nvPr/>
        </p:nvCxnSpPr>
        <p:spPr>
          <a:xfrm>
            <a:off x="4233229" y="4970051"/>
            <a:ext cx="6586500" cy="0"/>
          </a:xfrm>
          <a:prstGeom prst="straightConnector1">
            <a:avLst/>
          </a:prstGeom>
          <a:noFill/>
          <a:ln cap="flat" cmpd="sng" w="15475">
            <a:solidFill>
              <a:srgbClr val="6E767C"/>
            </a:solidFill>
            <a:prstDash val="solid"/>
            <a:round/>
            <a:headEnd len="sm" w="sm" type="none"/>
            <a:tailEnd len="sm" w="sm" type="none"/>
          </a:ln>
        </p:spPr>
      </p:cxnSp>
      <p:sp>
        <p:nvSpPr>
          <p:cNvPr id="503" name="Google Shape;503;p14"/>
          <p:cNvSpPr txBox="1"/>
          <p:nvPr/>
        </p:nvSpPr>
        <p:spPr>
          <a:xfrm>
            <a:off x="6707386" y="5349920"/>
            <a:ext cx="1638300" cy="24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60"/>
              <a:buFont typeface="Arial"/>
              <a:buNone/>
            </a:pPr>
            <a:r>
              <a:rPr b="0" i="1" lang="en-US" sz="1160" u="none" cap="none" strike="noStrike">
                <a:solidFill>
                  <a:srgbClr val="6E767C"/>
                </a:solidFill>
                <a:latin typeface="Quattrocento Sans"/>
                <a:ea typeface="Quattrocento Sans"/>
                <a:cs typeface="Quattrocento Sans"/>
                <a:sym typeface="Quattrocento Sans"/>
              </a:rPr>
              <a:t>macro-F1 on validation  </a:t>
            </a:r>
            <a:endParaRPr b="0" i="0" sz="1160" u="none" cap="none" strike="noStrike">
              <a:solidFill>
                <a:srgbClr val="000000"/>
              </a:solidFill>
              <a:latin typeface="Arial"/>
              <a:ea typeface="Arial"/>
              <a:cs typeface="Arial"/>
              <a:sym typeface="Arial"/>
            </a:endParaRPr>
          </a:p>
        </p:txBody>
      </p:sp>
      <p:sp>
        <p:nvSpPr>
          <p:cNvPr id="504" name="Google Shape;504;p14"/>
          <p:cNvSpPr txBox="1"/>
          <p:nvPr/>
        </p:nvSpPr>
        <p:spPr>
          <a:xfrm>
            <a:off x="437650" y="3061099"/>
            <a:ext cx="3572100" cy="29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343"/>
              <a:buFont typeface="Arial"/>
              <a:buNone/>
            </a:pPr>
            <a:r>
              <a:rPr b="1" i="0" lang="en-US" sz="1343" u="none" cap="none" strike="noStrike">
                <a:solidFill>
                  <a:srgbClr val="16191C"/>
                </a:solidFill>
                <a:latin typeface="Quattrocento Sans"/>
                <a:ea typeface="Quattrocento Sans"/>
                <a:cs typeface="Quattrocento Sans"/>
                <a:sym typeface="Quattrocento Sans"/>
              </a:rPr>
              <a:t>Attention — delivered</a:t>
            </a:r>
            <a:endParaRPr b="0" i="0" sz="1343" u="none" cap="none" strike="noStrike">
              <a:solidFill>
                <a:srgbClr val="000000"/>
              </a:solidFill>
              <a:latin typeface="Arial"/>
              <a:ea typeface="Arial"/>
              <a:cs typeface="Arial"/>
              <a:sym typeface="Arial"/>
            </a:endParaRPr>
          </a:p>
        </p:txBody>
      </p:sp>
      <p:cxnSp>
        <p:nvCxnSpPr>
          <p:cNvPr id="505" name="Google Shape;505;p14"/>
          <p:cNvCxnSpPr/>
          <p:nvPr/>
        </p:nvCxnSpPr>
        <p:spPr>
          <a:xfrm>
            <a:off x="7076378" y="3206224"/>
            <a:ext cx="2942100" cy="0"/>
          </a:xfrm>
          <a:prstGeom prst="straightConnector1">
            <a:avLst/>
          </a:prstGeom>
          <a:noFill/>
          <a:ln cap="flat" cmpd="sng" w="15475">
            <a:solidFill>
              <a:srgbClr val="16191C"/>
            </a:solidFill>
            <a:prstDash val="solid"/>
            <a:round/>
            <a:headEnd len="sm" w="sm" type="none"/>
            <a:tailEnd len="sm" w="sm" type="none"/>
          </a:ln>
        </p:spPr>
      </p:cxnSp>
      <p:cxnSp>
        <p:nvCxnSpPr>
          <p:cNvPr id="506" name="Google Shape;506;p14"/>
          <p:cNvCxnSpPr/>
          <p:nvPr/>
        </p:nvCxnSpPr>
        <p:spPr>
          <a:xfrm>
            <a:off x="7076378" y="3139244"/>
            <a:ext cx="0" cy="133800"/>
          </a:xfrm>
          <a:prstGeom prst="straightConnector1">
            <a:avLst/>
          </a:prstGeom>
          <a:noFill/>
          <a:ln cap="flat" cmpd="sng" w="15475">
            <a:solidFill>
              <a:srgbClr val="16191C"/>
            </a:solidFill>
            <a:prstDash val="solid"/>
            <a:round/>
            <a:headEnd len="sm" w="sm" type="none"/>
            <a:tailEnd len="sm" w="sm" type="none"/>
          </a:ln>
        </p:spPr>
      </p:cxnSp>
      <p:cxnSp>
        <p:nvCxnSpPr>
          <p:cNvPr id="507" name="Google Shape;507;p14"/>
          <p:cNvCxnSpPr/>
          <p:nvPr/>
        </p:nvCxnSpPr>
        <p:spPr>
          <a:xfrm>
            <a:off x="10018324" y="3139244"/>
            <a:ext cx="0" cy="133800"/>
          </a:xfrm>
          <a:prstGeom prst="straightConnector1">
            <a:avLst/>
          </a:prstGeom>
          <a:noFill/>
          <a:ln cap="flat" cmpd="sng" w="15475">
            <a:solidFill>
              <a:srgbClr val="16191C"/>
            </a:solidFill>
            <a:prstDash val="solid"/>
            <a:round/>
            <a:headEnd len="sm" w="sm" type="none"/>
            <a:tailEnd len="sm" w="sm" type="none"/>
          </a:ln>
        </p:spPr>
      </p:cxnSp>
      <p:sp>
        <p:nvSpPr>
          <p:cNvPr id="508" name="Google Shape;508;p14"/>
          <p:cNvSpPr/>
          <p:nvPr/>
        </p:nvSpPr>
        <p:spPr>
          <a:xfrm>
            <a:off x="8463626" y="3122499"/>
            <a:ext cx="167400" cy="167400"/>
          </a:xfrm>
          <a:prstGeom prst="ellipse">
            <a:avLst/>
          </a:prstGeom>
          <a:solidFill>
            <a:srgbClr val="16191C"/>
          </a:solidFill>
          <a:ln cap="flat" cmpd="sng" w="23225">
            <a:solidFill>
              <a:srgbClr val="FFFFFF"/>
            </a:solidFill>
            <a:prstDash val="solid"/>
            <a:round/>
            <a:headEnd len="sm" w="sm" type="none"/>
            <a:tailEnd len="sm" w="sm" type="none"/>
          </a:ln>
        </p:spPr>
        <p:txBody>
          <a:bodyPr anchorCtr="0" anchor="ctr" bIns="111600" lIns="111600" spcFirstLastPara="1" rIns="111600" wrap="square" tIns="111600">
            <a:noAutofit/>
          </a:bodyPr>
          <a:lstStyle/>
          <a:p>
            <a:pPr indent="0" lvl="0" marL="0" marR="0" rtl="0" algn="l">
              <a:lnSpc>
                <a:spcPct val="100000"/>
              </a:lnSpc>
              <a:spcBef>
                <a:spcPts val="0"/>
              </a:spcBef>
              <a:spcAft>
                <a:spcPts val="0"/>
              </a:spcAft>
              <a:buClr>
                <a:srgbClr val="000000"/>
              </a:buClr>
              <a:buSzPts val="1469"/>
              <a:buFont typeface="Arial"/>
              <a:buNone/>
            </a:pPr>
            <a:r>
              <a:t/>
            </a:r>
            <a:endParaRPr b="0" i="0" sz="1469" u="none" cap="none" strike="noStrike">
              <a:solidFill>
                <a:srgbClr val="000000"/>
              </a:solidFill>
              <a:latin typeface="Arial"/>
              <a:ea typeface="Arial"/>
              <a:cs typeface="Arial"/>
              <a:sym typeface="Arial"/>
            </a:endParaRPr>
          </a:p>
        </p:txBody>
      </p:sp>
      <p:sp>
        <p:nvSpPr>
          <p:cNvPr id="509" name="Google Shape;509;p14"/>
          <p:cNvSpPr txBox="1"/>
          <p:nvPr/>
        </p:nvSpPr>
        <p:spPr>
          <a:xfrm>
            <a:off x="437650" y="3753234"/>
            <a:ext cx="3572100" cy="29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343"/>
              <a:buFont typeface="Arial"/>
              <a:buNone/>
            </a:pPr>
            <a:r>
              <a:rPr b="0" i="0" lang="en-US" sz="1343" u="none" cap="none" strike="noStrike">
                <a:solidFill>
                  <a:srgbClr val="6E767C"/>
                </a:solidFill>
                <a:latin typeface="Quattrocento Sans"/>
                <a:ea typeface="Quattrocento Sans"/>
                <a:cs typeface="Quattrocento Sans"/>
                <a:sym typeface="Quattrocento Sans"/>
              </a:rPr>
              <a:t>Top-k mean</a:t>
            </a:r>
            <a:endParaRPr b="0" i="0" sz="1343" u="none" cap="none" strike="noStrike">
              <a:solidFill>
                <a:srgbClr val="000000"/>
              </a:solidFill>
              <a:latin typeface="Arial"/>
              <a:ea typeface="Arial"/>
              <a:cs typeface="Arial"/>
              <a:sym typeface="Arial"/>
            </a:endParaRPr>
          </a:p>
        </p:txBody>
      </p:sp>
      <p:cxnSp>
        <p:nvCxnSpPr>
          <p:cNvPr id="510" name="Google Shape;510;p14"/>
          <p:cNvCxnSpPr/>
          <p:nvPr/>
        </p:nvCxnSpPr>
        <p:spPr>
          <a:xfrm>
            <a:off x="6033524" y="3898359"/>
            <a:ext cx="2459100" cy="0"/>
          </a:xfrm>
          <a:prstGeom prst="straightConnector1">
            <a:avLst/>
          </a:prstGeom>
          <a:noFill/>
          <a:ln cap="flat" cmpd="sng" w="15475">
            <a:solidFill>
              <a:srgbClr val="6E767C"/>
            </a:solidFill>
            <a:prstDash val="solid"/>
            <a:round/>
            <a:headEnd len="sm" w="sm" type="none"/>
            <a:tailEnd len="sm" w="sm" type="none"/>
          </a:ln>
        </p:spPr>
      </p:cxnSp>
      <p:cxnSp>
        <p:nvCxnSpPr>
          <p:cNvPr id="511" name="Google Shape;511;p14"/>
          <p:cNvCxnSpPr/>
          <p:nvPr/>
        </p:nvCxnSpPr>
        <p:spPr>
          <a:xfrm>
            <a:off x="6033524" y="3831378"/>
            <a:ext cx="0" cy="133800"/>
          </a:xfrm>
          <a:prstGeom prst="straightConnector1">
            <a:avLst/>
          </a:prstGeom>
          <a:noFill/>
          <a:ln cap="flat" cmpd="sng" w="15475">
            <a:solidFill>
              <a:srgbClr val="6E767C"/>
            </a:solidFill>
            <a:prstDash val="solid"/>
            <a:round/>
            <a:headEnd len="sm" w="sm" type="none"/>
            <a:tailEnd len="sm" w="sm" type="none"/>
          </a:ln>
        </p:spPr>
      </p:cxnSp>
      <p:cxnSp>
        <p:nvCxnSpPr>
          <p:cNvPr id="512" name="Google Shape;512;p14"/>
          <p:cNvCxnSpPr/>
          <p:nvPr/>
        </p:nvCxnSpPr>
        <p:spPr>
          <a:xfrm>
            <a:off x="8492465" y="3831378"/>
            <a:ext cx="0" cy="133800"/>
          </a:xfrm>
          <a:prstGeom prst="straightConnector1">
            <a:avLst/>
          </a:prstGeom>
          <a:noFill/>
          <a:ln cap="flat" cmpd="sng" w="15475">
            <a:solidFill>
              <a:srgbClr val="6E767C"/>
            </a:solidFill>
            <a:prstDash val="solid"/>
            <a:round/>
            <a:headEnd len="sm" w="sm" type="none"/>
            <a:tailEnd len="sm" w="sm" type="none"/>
          </a:ln>
        </p:spPr>
      </p:cxnSp>
      <p:sp>
        <p:nvSpPr>
          <p:cNvPr id="513" name="Google Shape;513;p14"/>
          <p:cNvSpPr/>
          <p:nvPr/>
        </p:nvSpPr>
        <p:spPr>
          <a:xfrm>
            <a:off x="7179269" y="3814632"/>
            <a:ext cx="167400" cy="167400"/>
          </a:xfrm>
          <a:prstGeom prst="ellipse">
            <a:avLst/>
          </a:prstGeom>
          <a:solidFill>
            <a:srgbClr val="6E767C"/>
          </a:solidFill>
          <a:ln cap="flat" cmpd="sng" w="23225">
            <a:solidFill>
              <a:srgbClr val="FFFFFF"/>
            </a:solidFill>
            <a:prstDash val="solid"/>
            <a:round/>
            <a:headEnd len="sm" w="sm" type="none"/>
            <a:tailEnd len="sm" w="sm" type="none"/>
          </a:ln>
        </p:spPr>
        <p:txBody>
          <a:bodyPr anchorCtr="0" anchor="ctr" bIns="111600" lIns="111600" spcFirstLastPara="1" rIns="111600" wrap="square" tIns="111600">
            <a:noAutofit/>
          </a:bodyPr>
          <a:lstStyle/>
          <a:p>
            <a:pPr indent="0" lvl="0" marL="0" marR="0" rtl="0" algn="l">
              <a:lnSpc>
                <a:spcPct val="100000"/>
              </a:lnSpc>
              <a:spcBef>
                <a:spcPts val="0"/>
              </a:spcBef>
              <a:spcAft>
                <a:spcPts val="0"/>
              </a:spcAft>
              <a:buClr>
                <a:srgbClr val="000000"/>
              </a:buClr>
              <a:buSzPts val="1469"/>
              <a:buFont typeface="Arial"/>
              <a:buNone/>
            </a:pPr>
            <a:r>
              <a:t/>
            </a:r>
            <a:endParaRPr b="0" i="0" sz="1469" u="none" cap="none" strike="noStrike">
              <a:solidFill>
                <a:srgbClr val="000000"/>
              </a:solidFill>
              <a:latin typeface="Arial"/>
              <a:ea typeface="Arial"/>
              <a:cs typeface="Arial"/>
              <a:sym typeface="Arial"/>
            </a:endParaRPr>
          </a:p>
        </p:txBody>
      </p:sp>
      <p:sp>
        <p:nvSpPr>
          <p:cNvPr id="514" name="Google Shape;514;p14"/>
          <p:cNvSpPr txBox="1"/>
          <p:nvPr/>
        </p:nvSpPr>
        <p:spPr>
          <a:xfrm>
            <a:off x="437650" y="4445367"/>
            <a:ext cx="3572100" cy="29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343"/>
              <a:buFont typeface="Arial"/>
              <a:buNone/>
            </a:pPr>
            <a:r>
              <a:rPr b="0" i="0" lang="en-US" sz="1343" u="none" cap="none" strike="noStrike">
                <a:solidFill>
                  <a:srgbClr val="A03325"/>
                </a:solidFill>
                <a:latin typeface="Quattrocento Sans"/>
                <a:ea typeface="Quattrocento Sans"/>
                <a:cs typeface="Quattrocento Sans"/>
                <a:sym typeface="Quattrocento Sans"/>
              </a:rPr>
              <a:t>Gated attention</a:t>
            </a:r>
            <a:endParaRPr b="0" i="0" sz="1343" u="none" cap="none" strike="noStrike">
              <a:solidFill>
                <a:srgbClr val="000000"/>
              </a:solidFill>
              <a:latin typeface="Arial"/>
              <a:ea typeface="Arial"/>
              <a:cs typeface="Arial"/>
              <a:sym typeface="Arial"/>
            </a:endParaRPr>
          </a:p>
        </p:txBody>
      </p:sp>
      <p:cxnSp>
        <p:nvCxnSpPr>
          <p:cNvPr id="515" name="Google Shape;515;p14"/>
          <p:cNvCxnSpPr/>
          <p:nvPr/>
        </p:nvCxnSpPr>
        <p:spPr>
          <a:xfrm>
            <a:off x="4343004" y="4590492"/>
            <a:ext cx="1975800" cy="0"/>
          </a:xfrm>
          <a:prstGeom prst="straightConnector1">
            <a:avLst/>
          </a:prstGeom>
          <a:noFill/>
          <a:ln cap="flat" cmpd="sng" w="15475">
            <a:solidFill>
              <a:srgbClr val="A03325"/>
            </a:solidFill>
            <a:prstDash val="solid"/>
            <a:round/>
            <a:headEnd len="sm" w="sm" type="none"/>
            <a:tailEnd len="sm" w="sm" type="none"/>
          </a:ln>
        </p:spPr>
      </p:cxnSp>
      <p:cxnSp>
        <p:nvCxnSpPr>
          <p:cNvPr id="516" name="Google Shape;516;p14"/>
          <p:cNvCxnSpPr/>
          <p:nvPr/>
        </p:nvCxnSpPr>
        <p:spPr>
          <a:xfrm>
            <a:off x="4343004" y="4523512"/>
            <a:ext cx="0" cy="133800"/>
          </a:xfrm>
          <a:prstGeom prst="straightConnector1">
            <a:avLst/>
          </a:prstGeom>
          <a:noFill/>
          <a:ln cap="flat" cmpd="sng" w="15475">
            <a:solidFill>
              <a:srgbClr val="A03325"/>
            </a:solidFill>
            <a:prstDash val="solid"/>
            <a:round/>
            <a:headEnd len="sm" w="sm" type="none"/>
            <a:tailEnd len="sm" w="sm" type="none"/>
          </a:ln>
        </p:spPr>
      </p:cxnSp>
      <p:cxnSp>
        <p:nvCxnSpPr>
          <p:cNvPr id="517" name="Google Shape;517;p14"/>
          <p:cNvCxnSpPr/>
          <p:nvPr/>
        </p:nvCxnSpPr>
        <p:spPr>
          <a:xfrm>
            <a:off x="6318937" y="4523512"/>
            <a:ext cx="0" cy="133800"/>
          </a:xfrm>
          <a:prstGeom prst="straightConnector1">
            <a:avLst/>
          </a:prstGeom>
          <a:noFill/>
          <a:ln cap="flat" cmpd="sng" w="15475">
            <a:solidFill>
              <a:srgbClr val="A03325"/>
            </a:solidFill>
            <a:prstDash val="solid"/>
            <a:round/>
            <a:headEnd len="sm" w="sm" type="none"/>
            <a:tailEnd len="sm" w="sm" type="none"/>
          </a:ln>
        </p:spPr>
      </p:cxnSp>
      <p:sp>
        <p:nvSpPr>
          <p:cNvPr id="518" name="Google Shape;518;p14"/>
          <p:cNvSpPr/>
          <p:nvPr/>
        </p:nvSpPr>
        <p:spPr>
          <a:xfrm>
            <a:off x="5247244" y="4506767"/>
            <a:ext cx="167400" cy="167400"/>
          </a:xfrm>
          <a:prstGeom prst="ellipse">
            <a:avLst/>
          </a:prstGeom>
          <a:solidFill>
            <a:srgbClr val="A03325"/>
          </a:solidFill>
          <a:ln cap="flat" cmpd="sng" w="23225">
            <a:solidFill>
              <a:srgbClr val="FFFFFF"/>
            </a:solidFill>
            <a:prstDash val="solid"/>
            <a:round/>
            <a:headEnd len="sm" w="sm" type="none"/>
            <a:tailEnd len="sm" w="sm" type="none"/>
          </a:ln>
        </p:spPr>
        <p:txBody>
          <a:bodyPr anchorCtr="0" anchor="ctr" bIns="111600" lIns="111600" spcFirstLastPara="1" rIns="111600" wrap="square" tIns="111600">
            <a:noAutofit/>
          </a:bodyPr>
          <a:lstStyle/>
          <a:p>
            <a:pPr indent="0" lvl="0" marL="0" marR="0" rtl="0" algn="l">
              <a:lnSpc>
                <a:spcPct val="100000"/>
              </a:lnSpc>
              <a:spcBef>
                <a:spcPts val="0"/>
              </a:spcBef>
              <a:spcAft>
                <a:spcPts val="0"/>
              </a:spcAft>
              <a:buClr>
                <a:srgbClr val="000000"/>
              </a:buClr>
              <a:buSzPts val="1469"/>
              <a:buFont typeface="Arial"/>
              <a:buNone/>
            </a:pPr>
            <a:r>
              <a:t/>
            </a:r>
            <a:endParaRPr b="0" i="0" sz="1469" u="none" cap="none" strike="noStrike">
              <a:solidFill>
                <a:srgbClr val="000000"/>
              </a:solidFill>
              <a:latin typeface="Arial"/>
              <a:ea typeface="Arial"/>
              <a:cs typeface="Arial"/>
              <a:sym typeface="Arial"/>
            </a:endParaRPr>
          </a:p>
        </p:txBody>
      </p:sp>
      <p:sp>
        <p:nvSpPr>
          <p:cNvPr id="519" name="Google Shape;519;p14"/>
          <p:cNvSpPr txBox="1"/>
          <p:nvPr/>
        </p:nvSpPr>
        <p:spPr>
          <a:xfrm>
            <a:off x="777250" y="1072425"/>
            <a:ext cx="10785000" cy="142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90"/>
              <a:buFont typeface="Arial"/>
              <a:buNone/>
            </a:pPr>
            <a:r>
              <a:rPr b="0" i="0" lang="en-US" sz="1590" u="none" cap="none" strike="noStrike">
                <a:solidFill>
                  <a:schemeClr val="dk1"/>
                </a:solidFill>
                <a:latin typeface="Quattrocento Sans"/>
                <a:ea typeface="Quattrocento Sans"/>
                <a:cs typeface="Quattrocento Sans"/>
                <a:sym typeface="Quattrocento Sans"/>
              </a:rPr>
              <a:t>A single learned query scores the K selected tokens. A softmax turns the scores into weights, the tokens are summed with those weights, and one LayerNorm plus one Linear give the three logits. It fits the shape of the problem. The tokens are a bag with no meaningful order, so the aggregator has to be permutation-invariant; and it re-projects the tokens before averaging, so it learns what to read and not only where to look.</a:t>
            </a:r>
            <a:endParaRPr b="0" i="0" sz="1590" u="none" cap="none" strike="noStrike">
              <a:solidFill>
                <a:schemeClr val="dk1"/>
              </a:solidFill>
              <a:latin typeface="Arial"/>
              <a:ea typeface="Arial"/>
              <a:cs typeface="Arial"/>
              <a:sym typeface="Arial"/>
            </a:endParaRPr>
          </a:p>
        </p:txBody>
      </p:sp>
      <p:cxnSp>
        <p:nvCxnSpPr>
          <p:cNvPr id="520" name="Google Shape;520;p14"/>
          <p:cNvCxnSpPr/>
          <p:nvPr/>
        </p:nvCxnSpPr>
        <p:spPr>
          <a:xfrm>
            <a:off x="777240" y="1152144"/>
            <a:ext cx="10637100" cy="0"/>
          </a:xfrm>
          <a:prstGeom prst="straightConnector1">
            <a:avLst/>
          </a:prstGeom>
          <a:noFill/>
          <a:ln cap="flat" cmpd="sng" w="9525">
            <a:solidFill>
              <a:srgbClr val="D3D8DB"/>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15"/>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6191C"/>
                </a:solidFill>
                <a:latin typeface="Palatino Linotype"/>
                <a:ea typeface="Palatino Linotype"/>
                <a:cs typeface="Palatino Linotype"/>
                <a:sym typeface="Palatino Linotype"/>
              </a:rPr>
              <a:t>Does the head matter?</a:t>
            </a:r>
            <a:endParaRPr b="0" i="0" sz="2900" u="none" cap="none" strike="noStrike">
              <a:solidFill>
                <a:srgbClr val="000000"/>
              </a:solidFill>
              <a:latin typeface="Arial"/>
              <a:ea typeface="Arial"/>
              <a:cs typeface="Arial"/>
              <a:sym typeface="Arial"/>
            </a:endParaRPr>
          </a:p>
        </p:txBody>
      </p:sp>
      <p:cxnSp>
        <p:nvCxnSpPr>
          <p:cNvPr id="527" name="Google Shape;527;p15"/>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528" name="Google Shape;528;p15"/>
          <p:cNvSpPr txBox="1"/>
          <p:nvPr/>
        </p:nvSpPr>
        <p:spPr>
          <a:xfrm>
            <a:off x="777250" y="1225328"/>
            <a:ext cx="10634400" cy="43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6E767C"/>
                </a:solidFill>
                <a:latin typeface="Quattrocento Sans"/>
                <a:ea typeface="Quattrocento Sans"/>
                <a:cs typeface="Quattrocento Sans"/>
                <a:sym typeface="Quattrocento Sans"/>
              </a:rPr>
              <a:t>Six heads on the same frozen I-JEPA encoder  ·  fixed count, K = 16  ·  macro-F1 on validation, 5 seeds, ± 1 sd between seeds</a:t>
            </a:r>
            <a:endParaRPr b="0" i="0" sz="1050" u="none" cap="none" strike="noStrike">
              <a:solidFill>
                <a:srgbClr val="000000"/>
              </a:solidFill>
              <a:latin typeface="Arial"/>
              <a:ea typeface="Arial"/>
              <a:cs typeface="Arial"/>
              <a:sym typeface="Arial"/>
            </a:endParaRPr>
          </a:p>
        </p:txBody>
      </p:sp>
      <p:sp>
        <p:nvSpPr>
          <p:cNvPr id="529" name="Google Shape;529;p15"/>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6E767C"/>
                </a:solidFill>
                <a:latin typeface="Quattrocento Sans"/>
                <a:ea typeface="Quattrocento Sans"/>
                <a:cs typeface="Quattrocento Sans"/>
                <a:sym typeface="Quattrocento Sans"/>
              </a:rPr>
              <a:t>13 / 17</a:t>
            </a:r>
            <a:endParaRPr b="0" i="0" sz="1000" u="none" cap="none" strike="noStrike">
              <a:solidFill>
                <a:srgbClr val="000000"/>
              </a:solidFill>
              <a:latin typeface="Arial"/>
              <a:ea typeface="Arial"/>
              <a:cs typeface="Arial"/>
              <a:sym typeface="Arial"/>
            </a:endParaRPr>
          </a:p>
        </p:txBody>
      </p:sp>
      <p:cxnSp>
        <p:nvCxnSpPr>
          <p:cNvPr id="530" name="Google Shape;530;p15"/>
          <p:cNvCxnSpPr/>
          <p:nvPr/>
        </p:nvCxnSpPr>
        <p:spPr>
          <a:xfrm>
            <a:off x="3713818"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531" name="Google Shape;531;p15"/>
          <p:cNvSpPr txBox="1"/>
          <p:nvPr/>
        </p:nvSpPr>
        <p:spPr>
          <a:xfrm>
            <a:off x="3236530"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0.53</a:t>
            </a:r>
            <a:endParaRPr b="0" i="0" sz="1240" u="none" cap="none" strike="noStrike">
              <a:solidFill>
                <a:srgbClr val="000000"/>
              </a:solidFill>
              <a:latin typeface="Arial"/>
              <a:ea typeface="Arial"/>
              <a:cs typeface="Arial"/>
              <a:sym typeface="Arial"/>
            </a:endParaRPr>
          </a:p>
        </p:txBody>
      </p:sp>
      <p:cxnSp>
        <p:nvCxnSpPr>
          <p:cNvPr id="532" name="Google Shape;532;p15"/>
          <p:cNvCxnSpPr/>
          <p:nvPr/>
        </p:nvCxnSpPr>
        <p:spPr>
          <a:xfrm>
            <a:off x="4887149"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533" name="Google Shape;533;p15"/>
          <p:cNvSpPr txBox="1"/>
          <p:nvPr/>
        </p:nvSpPr>
        <p:spPr>
          <a:xfrm>
            <a:off x="4409862"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0.54</a:t>
            </a:r>
            <a:endParaRPr b="0" i="0" sz="1240" u="none" cap="none" strike="noStrike">
              <a:solidFill>
                <a:srgbClr val="000000"/>
              </a:solidFill>
              <a:latin typeface="Arial"/>
              <a:ea typeface="Arial"/>
              <a:cs typeface="Arial"/>
              <a:sym typeface="Arial"/>
            </a:endParaRPr>
          </a:p>
        </p:txBody>
      </p:sp>
      <p:cxnSp>
        <p:nvCxnSpPr>
          <p:cNvPr id="534" name="Google Shape;534;p15"/>
          <p:cNvCxnSpPr/>
          <p:nvPr/>
        </p:nvCxnSpPr>
        <p:spPr>
          <a:xfrm>
            <a:off x="6060481"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535" name="Google Shape;535;p15"/>
          <p:cNvSpPr txBox="1"/>
          <p:nvPr/>
        </p:nvSpPr>
        <p:spPr>
          <a:xfrm>
            <a:off x="5583194"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0.55</a:t>
            </a:r>
            <a:endParaRPr b="0" i="0" sz="1240" u="none" cap="none" strike="noStrike">
              <a:solidFill>
                <a:srgbClr val="000000"/>
              </a:solidFill>
              <a:latin typeface="Arial"/>
              <a:ea typeface="Arial"/>
              <a:cs typeface="Arial"/>
              <a:sym typeface="Arial"/>
            </a:endParaRPr>
          </a:p>
        </p:txBody>
      </p:sp>
      <p:cxnSp>
        <p:nvCxnSpPr>
          <p:cNvPr id="536" name="Google Shape;536;p15"/>
          <p:cNvCxnSpPr/>
          <p:nvPr/>
        </p:nvCxnSpPr>
        <p:spPr>
          <a:xfrm>
            <a:off x="7233813"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537" name="Google Shape;537;p15"/>
          <p:cNvSpPr txBox="1"/>
          <p:nvPr/>
        </p:nvSpPr>
        <p:spPr>
          <a:xfrm>
            <a:off x="6756525"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0.56</a:t>
            </a:r>
            <a:endParaRPr b="0" i="0" sz="1240" u="none" cap="none" strike="noStrike">
              <a:solidFill>
                <a:srgbClr val="000000"/>
              </a:solidFill>
              <a:latin typeface="Arial"/>
              <a:ea typeface="Arial"/>
              <a:cs typeface="Arial"/>
              <a:sym typeface="Arial"/>
            </a:endParaRPr>
          </a:p>
        </p:txBody>
      </p:sp>
      <p:cxnSp>
        <p:nvCxnSpPr>
          <p:cNvPr id="538" name="Google Shape;538;p15"/>
          <p:cNvCxnSpPr/>
          <p:nvPr/>
        </p:nvCxnSpPr>
        <p:spPr>
          <a:xfrm>
            <a:off x="8407144"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539" name="Google Shape;539;p15"/>
          <p:cNvSpPr txBox="1"/>
          <p:nvPr/>
        </p:nvSpPr>
        <p:spPr>
          <a:xfrm>
            <a:off x="7929857"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0.57</a:t>
            </a:r>
            <a:endParaRPr b="0" i="0" sz="1240" u="none" cap="none" strike="noStrike">
              <a:solidFill>
                <a:srgbClr val="000000"/>
              </a:solidFill>
              <a:latin typeface="Arial"/>
              <a:ea typeface="Arial"/>
              <a:cs typeface="Arial"/>
              <a:sym typeface="Arial"/>
            </a:endParaRPr>
          </a:p>
        </p:txBody>
      </p:sp>
      <p:cxnSp>
        <p:nvCxnSpPr>
          <p:cNvPr id="540" name="Google Shape;540;p15"/>
          <p:cNvCxnSpPr/>
          <p:nvPr/>
        </p:nvCxnSpPr>
        <p:spPr>
          <a:xfrm>
            <a:off x="9580476"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541" name="Google Shape;541;p15"/>
          <p:cNvSpPr txBox="1"/>
          <p:nvPr/>
        </p:nvSpPr>
        <p:spPr>
          <a:xfrm>
            <a:off x="9103188"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0.58</a:t>
            </a:r>
            <a:endParaRPr b="0" i="0" sz="1240" u="none" cap="none" strike="noStrike">
              <a:solidFill>
                <a:srgbClr val="000000"/>
              </a:solidFill>
              <a:latin typeface="Arial"/>
              <a:ea typeface="Arial"/>
              <a:cs typeface="Arial"/>
              <a:sym typeface="Arial"/>
            </a:endParaRPr>
          </a:p>
        </p:txBody>
      </p:sp>
      <p:cxnSp>
        <p:nvCxnSpPr>
          <p:cNvPr id="542" name="Google Shape;542;p15"/>
          <p:cNvCxnSpPr/>
          <p:nvPr/>
        </p:nvCxnSpPr>
        <p:spPr>
          <a:xfrm>
            <a:off x="10753807"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543" name="Google Shape;543;p15"/>
          <p:cNvSpPr txBox="1"/>
          <p:nvPr/>
        </p:nvSpPr>
        <p:spPr>
          <a:xfrm>
            <a:off x="10276520"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0.59</a:t>
            </a:r>
            <a:endParaRPr b="0" i="0" sz="1240" u="none" cap="none" strike="noStrike">
              <a:solidFill>
                <a:srgbClr val="000000"/>
              </a:solidFill>
              <a:latin typeface="Arial"/>
              <a:ea typeface="Arial"/>
              <a:cs typeface="Arial"/>
              <a:sym typeface="Arial"/>
            </a:endParaRPr>
          </a:p>
        </p:txBody>
      </p:sp>
      <p:cxnSp>
        <p:nvCxnSpPr>
          <p:cNvPr id="544" name="Google Shape;544;p15"/>
          <p:cNvCxnSpPr/>
          <p:nvPr/>
        </p:nvCxnSpPr>
        <p:spPr>
          <a:xfrm>
            <a:off x="3713818" y="5758886"/>
            <a:ext cx="7040100" cy="0"/>
          </a:xfrm>
          <a:prstGeom prst="straightConnector1">
            <a:avLst/>
          </a:prstGeom>
          <a:noFill/>
          <a:ln cap="flat" cmpd="sng" w="16550">
            <a:solidFill>
              <a:srgbClr val="6E767C"/>
            </a:solidFill>
            <a:prstDash val="solid"/>
            <a:round/>
            <a:headEnd len="sm" w="sm" type="none"/>
            <a:tailEnd len="sm" w="sm" type="none"/>
          </a:ln>
        </p:spPr>
      </p:cxnSp>
      <p:sp>
        <p:nvSpPr>
          <p:cNvPr id="545" name="Google Shape;545;p15"/>
          <p:cNvSpPr txBox="1"/>
          <p:nvPr/>
        </p:nvSpPr>
        <p:spPr>
          <a:xfrm>
            <a:off x="-343125" y="2954801"/>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0" i="0" lang="en-US" sz="1435" u="none" cap="none" strike="noStrike">
                <a:solidFill>
                  <a:srgbClr val="6E767C"/>
                </a:solidFill>
                <a:latin typeface="Quattrocento Sans"/>
                <a:ea typeface="Quattrocento Sans"/>
                <a:cs typeface="Quattrocento Sans"/>
                <a:sym typeface="Quattrocento Sans"/>
              </a:rPr>
              <a:t>LayerNorm + MLP + ordinal</a:t>
            </a:r>
            <a:endParaRPr b="0" i="0" sz="1435" u="none" cap="none" strike="noStrike">
              <a:solidFill>
                <a:srgbClr val="000000"/>
              </a:solidFill>
              <a:latin typeface="Arial"/>
              <a:ea typeface="Arial"/>
              <a:cs typeface="Arial"/>
              <a:sym typeface="Arial"/>
            </a:endParaRPr>
          </a:p>
        </p:txBody>
      </p:sp>
      <p:cxnSp>
        <p:nvCxnSpPr>
          <p:cNvPr id="546" name="Google Shape;546;p15"/>
          <p:cNvCxnSpPr/>
          <p:nvPr/>
        </p:nvCxnSpPr>
        <p:spPr>
          <a:xfrm>
            <a:off x="8524477" y="3109921"/>
            <a:ext cx="1619100" cy="0"/>
          </a:xfrm>
          <a:prstGeom prst="straightConnector1">
            <a:avLst/>
          </a:prstGeom>
          <a:noFill/>
          <a:ln cap="flat" cmpd="sng" w="16550">
            <a:solidFill>
              <a:srgbClr val="6E767C"/>
            </a:solidFill>
            <a:prstDash val="solid"/>
            <a:round/>
            <a:headEnd len="sm" w="sm" type="none"/>
            <a:tailEnd len="sm" w="sm" type="none"/>
          </a:ln>
        </p:spPr>
      </p:cxnSp>
      <p:cxnSp>
        <p:nvCxnSpPr>
          <p:cNvPr id="547" name="Google Shape;547;p15"/>
          <p:cNvCxnSpPr/>
          <p:nvPr/>
        </p:nvCxnSpPr>
        <p:spPr>
          <a:xfrm>
            <a:off x="8524477" y="3038327"/>
            <a:ext cx="0" cy="143400"/>
          </a:xfrm>
          <a:prstGeom prst="straightConnector1">
            <a:avLst/>
          </a:prstGeom>
          <a:noFill/>
          <a:ln cap="flat" cmpd="sng" w="16550">
            <a:solidFill>
              <a:srgbClr val="6E767C"/>
            </a:solidFill>
            <a:prstDash val="solid"/>
            <a:round/>
            <a:headEnd len="sm" w="sm" type="none"/>
            <a:tailEnd len="sm" w="sm" type="none"/>
          </a:ln>
        </p:spPr>
      </p:cxnSp>
      <p:cxnSp>
        <p:nvCxnSpPr>
          <p:cNvPr id="548" name="Google Shape;548;p15"/>
          <p:cNvCxnSpPr/>
          <p:nvPr/>
        </p:nvCxnSpPr>
        <p:spPr>
          <a:xfrm>
            <a:off x="10143675" y="3038327"/>
            <a:ext cx="0" cy="143400"/>
          </a:xfrm>
          <a:prstGeom prst="straightConnector1">
            <a:avLst/>
          </a:prstGeom>
          <a:noFill/>
          <a:ln cap="flat" cmpd="sng" w="16550">
            <a:solidFill>
              <a:srgbClr val="6E767C"/>
            </a:solidFill>
            <a:prstDash val="solid"/>
            <a:round/>
            <a:headEnd len="sm" w="sm" type="none"/>
            <a:tailEnd len="sm" w="sm" type="none"/>
          </a:ln>
        </p:spPr>
      </p:cxnSp>
      <p:sp>
        <p:nvSpPr>
          <p:cNvPr id="549" name="Google Shape;549;p15"/>
          <p:cNvSpPr/>
          <p:nvPr/>
        </p:nvSpPr>
        <p:spPr>
          <a:xfrm>
            <a:off x="9244584" y="3020429"/>
            <a:ext cx="179100" cy="179100"/>
          </a:xfrm>
          <a:prstGeom prst="ellipse">
            <a:avLst/>
          </a:prstGeom>
          <a:solidFill>
            <a:srgbClr val="6E767C"/>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50" name="Google Shape;550;p15"/>
          <p:cNvSpPr txBox="1"/>
          <p:nvPr/>
        </p:nvSpPr>
        <p:spPr>
          <a:xfrm>
            <a:off x="-343125" y="3432092"/>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1" i="0" lang="en-US" sz="1435" u="none" cap="none" strike="noStrike">
                <a:solidFill>
                  <a:srgbClr val="16191C"/>
                </a:solidFill>
                <a:latin typeface="Quattrocento Sans"/>
                <a:ea typeface="Quattrocento Sans"/>
                <a:cs typeface="Quattrocento Sans"/>
                <a:sym typeface="Quattrocento Sans"/>
              </a:rPr>
              <a:t>Linear — delivered</a:t>
            </a:r>
            <a:endParaRPr b="0" i="0" sz="1435" u="none" cap="none" strike="noStrike">
              <a:solidFill>
                <a:srgbClr val="000000"/>
              </a:solidFill>
              <a:latin typeface="Arial"/>
              <a:ea typeface="Arial"/>
              <a:cs typeface="Arial"/>
              <a:sym typeface="Arial"/>
            </a:endParaRPr>
          </a:p>
        </p:txBody>
      </p:sp>
      <p:cxnSp>
        <p:nvCxnSpPr>
          <p:cNvPr id="551" name="Google Shape;551;p15"/>
          <p:cNvCxnSpPr/>
          <p:nvPr/>
        </p:nvCxnSpPr>
        <p:spPr>
          <a:xfrm>
            <a:off x="7081279" y="3587212"/>
            <a:ext cx="2980500" cy="0"/>
          </a:xfrm>
          <a:prstGeom prst="straightConnector1">
            <a:avLst/>
          </a:prstGeom>
          <a:noFill/>
          <a:ln cap="flat" cmpd="sng" w="16550">
            <a:solidFill>
              <a:srgbClr val="16191C"/>
            </a:solidFill>
            <a:prstDash val="solid"/>
            <a:round/>
            <a:headEnd len="sm" w="sm" type="none"/>
            <a:tailEnd len="sm" w="sm" type="none"/>
          </a:ln>
        </p:spPr>
      </p:cxnSp>
      <p:cxnSp>
        <p:nvCxnSpPr>
          <p:cNvPr id="552" name="Google Shape;552;p15"/>
          <p:cNvCxnSpPr/>
          <p:nvPr/>
        </p:nvCxnSpPr>
        <p:spPr>
          <a:xfrm>
            <a:off x="7081279" y="3515618"/>
            <a:ext cx="0" cy="143400"/>
          </a:xfrm>
          <a:prstGeom prst="straightConnector1">
            <a:avLst/>
          </a:prstGeom>
          <a:noFill/>
          <a:ln cap="flat" cmpd="sng" w="16550">
            <a:solidFill>
              <a:srgbClr val="16191C"/>
            </a:solidFill>
            <a:prstDash val="solid"/>
            <a:round/>
            <a:headEnd len="sm" w="sm" type="none"/>
            <a:tailEnd len="sm" w="sm" type="none"/>
          </a:ln>
        </p:spPr>
      </p:cxnSp>
      <p:cxnSp>
        <p:nvCxnSpPr>
          <p:cNvPr id="553" name="Google Shape;553;p15"/>
          <p:cNvCxnSpPr/>
          <p:nvPr/>
        </p:nvCxnSpPr>
        <p:spPr>
          <a:xfrm>
            <a:off x="10061542" y="3515618"/>
            <a:ext cx="0" cy="143400"/>
          </a:xfrm>
          <a:prstGeom prst="straightConnector1">
            <a:avLst/>
          </a:prstGeom>
          <a:noFill/>
          <a:ln cap="flat" cmpd="sng" w="16550">
            <a:solidFill>
              <a:srgbClr val="16191C"/>
            </a:solidFill>
            <a:prstDash val="solid"/>
            <a:round/>
            <a:headEnd len="sm" w="sm" type="none"/>
            <a:tailEnd len="sm" w="sm" type="none"/>
          </a:ln>
        </p:spPr>
      </p:cxnSp>
      <p:sp>
        <p:nvSpPr>
          <p:cNvPr id="554" name="Google Shape;554;p15"/>
          <p:cNvSpPr/>
          <p:nvPr/>
        </p:nvSpPr>
        <p:spPr>
          <a:xfrm>
            <a:off x="8481919" y="3497720"/>
            <a:ext cx="179100" cy="179100"/>
          </a:xfrm>
          <a:prstGeom prst="ellipse">
            <a:avLst/>
          </a:prstGeom>
          <a:solidFill>
            <a:srgbClr val="16191C"/>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55" name="Google Shape;555;p15"/>
          <p:cNvSpPr txBox="1"/>
          <p:nvPr/>
        </p:nvSpPr>
        <p:spPr>
          <a:xfrm>
            <a:off x="-343125" y="3909383"/>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0" i="0" lang="en-US" sz="1435" u="none" cap="none" strike="noStrike">
                <a:solidFill>
                  <a:srgbClr val="6E767C"/>
                </a:solidFill>
                <a:latin typeface="Quattrocento Sans"/>
                <a:ea typeface="Quattrocento Sans"/>
                <a:cs typeface="Quattrocento Sans"/>
                <a:sym typeface="Quattrocento Sans"/>
              </a:rPr>
              <a:t>LayerNorm + MLP 256</a:t>
            </a:r>
            <a:endParaRPr b="0" i="0" sz="1435" u="none" cap="none" strike="noStrike">
              <a:solidFill>
                <a:srgbClr val="000000"/>
              </a:solidFill>
              <a:latin typeface="Arial"/>
              <a:ea typeface="Arial"/>
              <a:cs typeface="Arial"/>
              <a:sym typeface="Arial"/>
            </a:endParaRPr>
          </a:p>
        </p:txBody>
      </p:sp>
      <p:cxnSp>
        <p:nvCxnSpPr>
          <p:cNvPr id="556" name="Google Shape;556;p15"/>
          <p:cNvCxnSpPr/>
          <p:nvPr/>
        </p:nvCxnSpPr>
        <p:spPr>
          <a:xfrm>
            <a:off x="6752746" y="4064503"/>
            <a:ext cx="3144600" cy="0"/>
          </a:xfrm>
          <a:prstGeom prst="straightConnector1">
            <a:avLst/>
          </a:prstGeom>
          <a:noFill/>
          <a:ln cap="flat" cmpd="sng" w="16550">
            <a:solidFill>
              <a:srgbClr val="6E767C"/>
            </a:solidFill>
            <a:prstDash val="solid"/>
            <a:round/>
            <a:headEnd len="sm" w="sm" type="none"/>
            <a:tailEnd len="sm" w="sm" type="none"/>
          </a:ln>
        </p:spPr>
      </p:cxnSp>
      <p:cxnSp>
        <p:nvCxnSpPr>
          <p:cNvPr id="557" name="Google Shape;557;p15"/>
          <p:cNvCxnSpPr/>
          <p:nvPr/>
        </p:nvCxnSpPr>
        <p:spPr>
          <a:xfrm>
            <a:off x="6752746" y="3992909"/>
            <a:ext cx="0" cy="143400"/>
          </a:xfrm>
          <a:prstGeom prst="straightConnector1">
            <a:avLst/>
          </a:prstGeom>
          <a:noFill/>
          <a:ln cap="flat" cmpd="sng" w="16550">
            <a:solidFill>
              <a:srgbClr val="6E767C"/>
            </a:solidFill>
            <a:prstDash val="solid"/>
            <a:round/>
            <a:headEnd len="sm" w="sm" type="none"/>
            <a:tailEnd len="sm" w="sm" type="none"/>
          </a:ln>
        </p:spPr>
      </p:cxnSp>
      <p:cxnSp>
        <p:nvCxnSpPr>
          <p:cNvPr id="558" name="Google Shape;558;p15"/>
          <p:cNvCxnSpPr/>
          <p:nvPr/>
        </p:nvCxnSpPr>
        <p:spPr>
          <a:xfrm>
            <a:off x="9897275" y="3992909"/>
            <a:ext cx="0" cy="143400"/>
          </a:xfrm>
          <a:prstGeom prst="straightConnector1">
            <a:avLst/>
          </a:prstGeom>
          <a:noFill/>
          <a:ln cap="flat" cmpd="sng" w="16550">
            <a:solidFill>
              <a:srgbClr val="6E767C"/>
            </a:solidFill>
            <a:prstDash val="solid"/>
            <a:round/>
            <a:headEnd len="sm" w="sm" type="none"/>
            <a:tailEnd len="sm" w="sm" type="none"/>
          </a:ln>
        </p:spPr>
      </p:cxnSp>
      <p:sp>
        <p:nvSpPr>
          <p:cNvPr id="559" name="Google Shape;559;p15"/>
          <p:cNvSpPr/>
          <p:nvPr/>
        </p:nvSpPr>
        <p:spPr>
          <a:xfrm>
            <a:off x="8235520" y="3975011"/>
            <a:ext cx="179100" cy="179100"/>
          </a:xfrm>
          <a:prstGeom prst="ellipse">
            <a:avLst/>
          </a:prstGeom>
          <a:solidFill>
            <a:srgbClr val="6E767C"/>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60" name="Google Shape;560;p15"/>
          <p:cNvSpPr txBox="1"/>
          <p:nvPr/>
        </p:nvSpPr>
        <p:spPr>
          <a:xfrm>
            <a:off x="-343125" y="4386674"/>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0" i="0" lang="en-US" sz="1435" u="none" cap="none" strike="noStrike">
                <a:solidFill>
                  <a:srgbClr val="6E767C"/>
                </a:solidFill>
                <a:latin typeface="Quattrocento Sans"/>
                <a:ea typeface="Quattrocento Sans"/>
                <a:cs typeface="Quattrocento Sans"/>
                <a:sym typeface="Quattrocento Sans"/>
              </a:rPr>
              <a:t>LayerNorm + linear</a:t>
            </a:r>
            <a:endParaRPr b="0" i="0" sz="1435" u="none" cap="none" strike="noStrike">
              <a:solidFill>
                <a:srgbClr val="000000"/>
              </a:solidFill>
              <a:latin typeface="Arial"/>
              <a:ea typeface="Arial"/>
              <a:cs typeface="Arial"/>
              <a:sym typeface="Arial"/>
            </a:endParaRPr>
          </a:p>
        </p:txBody>
      </p:sp>
      <p:cxnSp>
        <p:nvCxnSpPr>
          <p:cNvPr id="561" name="Google Shape;561;p15"/>
          <p:cNvCxnSpPr/>
          <p:nvPr/>
        </p:nvCxnSpPr>
        <p:spPr>
          <a:xfrm>
            <a:off x="7128213" y="4541794"/>
            <a:ext cx="2370000" cy="0"/>
          </a:xfrm>
          <a:prstGeom prst="straightConnector1">
            <a:avLst/>
          </a:prstGeom>
          <a:noFill/>
          <a:ln cap="flat" cmpd="sng" w="16550">
            <a:solidFill>
              <a:srgbClr val="6E767C"/>
            </a:solidFill>
            <a:prstDash val="solid"/>
            <a:round/>
            <a:headEnd len="sm" w="sm" type="none"/>
            <a:tailEnd len="sm" w="sm" type="none"/>
          </a:ln>
        </p:spPr>
      </p:cxnSp>
      <p:cxnSp>
        <p:nvCxnSpPr>
          <p:cNvPr id="562" name="Google Shape;562;p15"/>
          <p:cNvCxnSpPr/>
          <p:nvPr/>
        </p:nvCxnSpPr>
        <p:spPr>
          <a:xfrm>
            <a:off x="7128213" y="4470200"/>
            <a:ext cx="0" cy="143400"/>
          </a:xfrm>
          <a:prstGeom prst="straightConnector1">
            <a:avLst/>
          </a:prstGeom>
          <a:noFill/>
          <a:ln cap="flat" cmpd="sng" w="16550">
            <a:solidFill>
              <a:srgbClr val="6E767C"/>
            </a:solidFill>
            <a:prstDash val="solid"/>
            <a:round/>
            <a:headEnd len="sm" w="sm" type="none"/>
            <a:tailEnd len="sm" w="sm" type="none"/>
          </a:ln>
        </p:spPr>
      </p:cxnSp>
      <p:cxnSp>
        <p:nvCxnSpPr>
          <p:cNvPr id="563" name="Google Shape;563;p15"/>
          <p:cNvCxnSpPr/>
          <p:nvPr/>
        </p:nvCxnSpPr>
        <p:spPr>
          <a:xfrm>
            <a:off x="9498343" y="4470200"/>
            <a:ext cx="0" cy="143400"/>
          </a:xfrm>
          <a:prstGeom prst="straightConnector1">
            <a:avLst/>
          </a:prstGeom>
          <a:noFill/>
          <a:ln cap="flat" cmpd="sng" w="16550">
            <a:solidFill>
              <a:srgbClr val="6E767C"/>
            </a:solidFill>
            <a:prstDash val="solid"/>
            <a:round/>
            <a:headEnd len="sm" w="sm" type="none"/>
            <a:tailEnd len="sm" w="sm" type="none"/>
          </a:ln>
        </p:spPr>
      </p:cxnSp>
      <p:sp>
        <p:nvSpPr>
          <p:cNvPr id="564" name="Google Shape;564;p15"/>
          <p:cNvSpPr/>
          <p:nvPr/>
        </p:nvSpPr>
        <p:spPr>
          <a:xfrm>
            <a:off x="8223786" y="4452302"/>
            <a:ext cx="179100" cy="179100"/>
          </a:xfrm>
          <a:prstGeom prst="ellipse">
            <a:avLst/>
          </a:prstGeom>
          <a:solidFill>
            <a:srgbClr val="6E767C"/>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65" name="Google Shape;565;p15"/>
          <p:cNvSpPr txBox="1"/>
          <p:nvPr/>
        </p:nvSpPr>
        <p:spPr>
          <a:xfrm>
            <a:off x="-343125" y="4863965"/>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0" i="0" lang="en-US" sz="1435" u="none" cap="none" strike="noStrike">
                <a:solidFill>
                  <a:srgbClr val="6E767C"/>
                </a:solidFill>
                <a:latin typeface="Quattrocento Sans"/>
                <a:ea typeface="Quattrocento Sans"/>
                <a:cs typeface="Quattrocento Sans"/>
                <a:sym typeface="Quattrocento Sans"/>
              </a:rPr>
              <a:t>LayerNorm + ordinal</a:t>
            </a:r>
            <a:endParaRPr b="0" i="0" sz="1435" u="none" cap="none" strike="noStrike">
              <a:solidFill>
                <a:srgbClr val="000000"/>
              </a:solidFill>
              <a:latin typeface="Arial"/>
              <a:ea typeface="Arial"/>
              <a:cs typeface="Arial"/>
              <a:sym typeface="Arial"/>
            </a:endParaRPr>
          </a:p>
        </p:txBody>
      </p:sp>
      <p:cxnSp>
        <p:nvCxnSpPr>
          <p:cNvPr id="566" name="Google Shape;566;p15"/>
          <p:cNvCxnSpPr/>
          <p:nvPr/>
        </p:nvCxnSpPr>
        <p:spPr>
          <a:xfrm>
            <a:off x="6435947" y="5019085"/>
            <a:ext cx="2440500" cy="0"/>
          </a:xfrm>
          <a:prstGeom prst="straightConnector1">
            <a:avLst/>
          </a:prstGeom>
          <a:noFill/>
          <a:ln cap="flat" cmpd="sng" w="16550">
            <a:solidFill>
              <a:srgbClr val="6E767C"/>
            </a:solidFill>
            <a:prstDash val="solid"/>
            <a:round/>
            <a:headEnd len="sm" w="sm" type="none"/>
            <a:tailEnd len="sm" w="sm" type="none"/>
          </a:ln>
        </p:spPr>
      </p:cxnSp>
      <p:cxnSp>
        <p:nvCxnSpPr>
          <p:cNvPr id="567" name="Google Shape;567;p15"/>
          <p:cNvCxnSpPr/>
          <p:nvPr/>
        </p:nvCxnSpPr>
        <p:spPr>
          <a:xfrm>
            <a:off x="6435947" y="4947491"/>
            <a:ext cx="0" cy="143400"/>
          </a:xfrm>
          <a:prstGeom prst="straightConnector1">
            <a:avLst/>
          </a:prstGeom>
          <a:noFill/>
          <a:ln cap="flat" cmpd="sng" w="16550">
            <a:solidFill>
              <a:srgbClr val="6E767C"/>
            </a:solidFill>
            <a:prstDash val="solid"/>
            <a:round/>
            <a:headEnd len="sm" w="sm" type="none"/>
            <a:tailEnd len="sm" w="sm" type="none"/>
          </a:ln>
        </p:spPr>
      </p:cxnSp>
      <p:cxnSp>
        <p:nvCxnSpPr>
          <p:cNvPr id="568" name="Google Shape;568;p15"/>
          <p:cNvCxnSpPr/>
          <p:nvPr/>
        </p:nvCxnSpPr>
        <p:spPr>
          <a:xfrm>
            <a:off x="8876477" y="4947491"/>
            <a:ext cx="0" cy="143400"/>
          </a:xfrm>
          <a:prstGeom prst="straightConnector1">
            <a:avLst/>
          </a:prstGeom>
          <a:noFill/>
          <a:ln cap="flat" cmpd="sng" w="16550">
            <a:solidFill>
              <a:srgbClr val="6E767C"/>
            </a:solidFill>
            <a:prstDash val="solid"/>
            <a:round/>
            <a:headEnd len="sm" w="sm" type="none"/>
            <a:tailEnd len="sm" w="sm" type="none"/>
          </a:ln>
        </p:spPr>
      </p:cxnSp>
      <p:sp>
        <p:nvSpPr>
          <p:cNvPr id="569" name="Google Shape;569;p15"/>
          <p:cNvSpPr/>
          <p:nvPr/>
        </p:nvSpPr>
        <p:spPr>
          <a:xfrm>
            <a:off x="7566721" y="4929593"/>
            <a:ext cx="179100" cy="179100"/>
          </a:xfrm>
          <a:prstGeom prst="ellipse">
            <a:avLst/>
          </a:prstGeom>
          <a:solidFill>
            <a:srgbClr val="6E767C"/>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70" name="Google Shape;570;p15"/>
          <p:cNvSpPr txBox="1"/>
          <p:nvPr/>
        </p:nvSpPr>
        <p:spPr>
          <a:xfrm>
            <a:off x="-343125" y="5341257"/>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0" i="0" lang="en-US" sz="1435" u="none" cap="none" strike="noStrike">
                <a:solidFill>
                  <a:srgbClr val="A03325"/>
                </a:solidFill>
                <a:latin typeface="Quattrocento Sans"/>
                <a:ea typeface="Quattrocento Sans"/>
                <a:cs typeface="Quattrocento Sans"/>
                <a:sym typeface="Quattrocento Sans"/>
              </a:rPr>
              <a:t>Ordinal</a:t>
            </a:r>
            <a:endParaRPr b="0" i="0" sz="1435" u="none" cap="none" strike="noStrike">
              <a:solidFill>
                <a:srgbClr val="000000"/>
              </a:solidFill>
              <a:latin typeface="Arial"/>
              <a:ea typeface="Arial"/>
              <a:cs typeface="Arial"/>
              <a:sym typeface="Arial"/>
            </a:endParaRPr>
          </a:p>
        </p:txBody>
      </p:sp>
      <p:cxnSp>
        <p:nvCxnSpPr>
          <p:cNvPr id="571" name="Google Shape;571;p15"/>
          <p:cNvCxnSpPr/>
          <p:nvPr/>
        </p:nvCxnSpPr>
        <p:spPr>
          <a:xfrm>
            <a:off x="4981016" y="5496376"/>
            <a:ext cx="2815800" cy="0"/>
          </a:xfrm>
          <a:prstGeom prst="straightConnector1">
            <a:avLst/>
          </a:prstGeom>
          <a:noFill/>
          <a:ln cap="flat" cmpd="sng" w="16550">
            <a:solidFill>
              <a:srgbClr val="A03325"/>
            </a:solidFill>
            <a:prstDash val="solid"/>
            <a:round/>
            <a:headEnd len="sm" w="sm" type="none"/>
            <a:tailEnd len="sm" w="sm" type="none"/>
          </a:ln>
        </p:spPr>
      </p:cxnSp>
      <p:cxnSp>
        <p:nvCxnSpPr>
          <p:cNvPr id="572" name="Google Shape;572;p15"/>
          <p:cNvCxnSpPr/>
          <p:nvPr/>
        </p:nvCxnSpPr>
        <p:spPr>
          <a:xfrm>
            <a:off x="4981016" y="5424782"/>
            <a:ext cx="0" cy="143400"/>
          </a:xfrm>
          <a:prstGeom prst="straightConnector1">
            <a:avLst/>
          </a:prstGeom>
          <a:noFill/>
          <a:ln cap="flat" cmpd="sng" w="16550">
            <a:solidFill>
              <a:srgbClr val="A03325"/>
            </a:solidFill>
            <a:prstDash val="solid"/>
            <a:round/>
            <a:headEnd len="sm" w="sm" type="none"/>
            <a:tailEnd len="sm" w="sm" type="none"/>
          </a:ln>
        </p:spPr>
      </p:cxnSp>
      <p:cxnSp>
        <p:nvCxnSpPr>
          <p:cNvPr id="573" name="Google Shape;573;p15"/>
          <p:cNvCxnSpPr/>
          <p:nvPr/>
        </p:nvCxnSpPr>
        <p:spPr>
          <a:xfrm>
            <a:off x="7797012" y="5424782"/>
            <a:ext cx="0" cy="143400"/>
          </a:xfrm>
          <a:prstGeom prst="straightConnector1">
            <a:avLst/>
          </a:prstGeom>
          <a:noFill/>
          <a:ln cap="flat" cmpd="sng" w="16550">
            <a:solidFill>
              <a:srgbClr val="A03325"/>
            </a:solidFill>
            <a:prstDash val="solid"/>
            <a:round/>
            <a:headEnd len="sm" w="sm" type="none"/>
            <a:tailEnd len="sm" w="sm" type="none"/>
          </a:ln>
        </p:spPr>
      </p:cxnSp>
      <p:sp>
        <p:nvSpPr>
          <p:cNvPr id="574" name="Google Shape;574;p15"/>
          <p:cNvSpPr/>
          <p:nvPr/>
        </p:nvSpPr>
        <p:spPr>
          <a:xfrm>
            <a:off x="6299523" y="5406884"/>
            <a:ext cx="179100" cy="179100"/>
          </a:xfrm>
          <a:prstGeom prst="ellipse">
            <a:avLst/>
          </a:prstGeom>
          <a:solidFill>
            <a:srgbClr val="A03325"/>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75" name="Google Shape;575;p15"/>
          <p:cNvSpPr txBox="1"/>
          <p:nvPr/>
        </p:nvSpPr>
        <p:spPr>
          <a:xfrm>
            <a:off x="791625" y="1658771"/>
            <a:ext cx="10634400" cy="92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Quattrocento Sans"/>
                <a:ea typeface="Quattrocento Sans"/>
                <a:cs typeface="Quattrocento Sans"/>
                <a:sym typeface="Quattrocento Sans"/>
              </a:rPr>
              <a:t>Simplicity Wins: The standard Linear head delivers top-tier performance without adding architectural complexity or extra parameters. The downstream performance is driven primarily by the quality of the latent representations, not head depth. </a:t>
            </a:r>
            <a:endParaRPr b="0" i="0" sz="15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0" name="Shape 580"/>
        <p:cNvGrpSpPr/>
        <p:nvPr/>
      </p:nvGrpSpPr>
      <p:grpSpPr>
        <a:xfrm>
          <a:off x="0" y="0"/>
          <a:ext cx="0" cy="0"/>
          <a:chOff x="0" y="0"/>
          <a:chExt cx="0" cy="0"/>
        </a:xfrm>
      </p:grpSpPr>
      <p:sp>
        <p:nvSpPr>
          <p:cNvPr id="581" name="Google Shape;581;p16"/>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Balanced token sampling</a:t>
            </a:r>
            <a:endParaRPr b="0" i="0" sz="2900" u="none" cap="none" strike="noStrike">
              <a:solidFill>
                <a:schemeClr val="dk1"/>
              </a:solidFill>
              <a:latin typeface="Calibri"/>
              <a:ea typeface="Calibri"/>
              <a:cs typeface="Calibri"/>
              <a:sym typeface="Calibri"/>
            </a:endParaRPr>
          </a:p>
        </p:txBody>
      </p:sp>
      <p:cxnSp>
        <p:nvCxnSpPr>
          <p:cNvPr id="582" name="Google Shape;582;p16"/>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583" name="Google Shape;583;p16"/>
          <p:cNvSpPr txBox="1"/>
          <p:nvPr/>
        </p:nvSpPr>
        <p:spPr>
          <a:xfrm>
            <a:off x="777240" y="1225296"/>
            <a:ext cx="10637215"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Any frozen encoder  ·  against focal, class-weighted, oversampling, SMOTE  ·  PR-AUC on PAI 5</a:t>
            </a:r>
            <a:endParaRPr b="0" i="0" sz="1050" u="none" cap="none" strike="noStrike">
              <a:solidFill>
                <a:schemeClr val="dk1"/>
              </a:solidFill>
              <a:latin typeface="Calibri"/>
              <a:ea typeface="Calibri"/>
              <a:cs typeface="Calibri"/>
              <a:sym typeface="Calibri"/>
            </a:endParaRPr>
          </a:p>
        </p:txBody>
      </p:sp>
      <p:sp>
        <p:nvSpPr>
          <p:cNvPr id="584" name="Google Shape;584;p16"/>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Proposed method  ·  objective 3  ·  our novelty</a:t>
            </a:r>
            <a:endParaRPr b="0" i="0" sz="1000" u="none" cap="none" strike="noStrike">
              <a:solidFill>
                <a:schemeClr val="dk1"/>
              </a:solidFill>
              <a:latin typeface="Calibri"/>
              <a:ea typeface="Calibri"/>
              <a:cs typeface="Calibri"/>
              <a:sym typeface="Calibri"/>
            </a:endParaRPr>
          </a:p>
        </p:txBody>
      </p:sp>
      <p:sp>
        <p:nvSpPr>
          <p:cNvPr id="585" name="Google Shape;585;p16"/>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14 / 17</a:t>
            </a:r>
            <a:endParaRPr b="0" i="0" sz="1000" u="none" cap="none" strike="noStrike">
              <a:solidFill>
                <a:schemeClr val="dk1"/>
              </a:solidFill>
              <a:latin typeface="Calibri"/>
              <a:ea typeface="Calibri"/>
              <a:cs typeface="Calibri"/>
              <a:sym typeface="Calibri"/>
            </a:endParaRPr>
          </a:p>
        </p:txBody>
      </p:sp>
      <p:sp>
        <p:nvSpPr>
          <p:cNvPr id="586" name="Google Shape;586;p16"/>
          <p:cNvSpPr txBox="1"/>
          <p:nvPr/>
        </p:nvSpPr>
        <p:spPr>
          <a:xfrm>
            <a:off x="777240" y="1691640"/>
            <a:ext cx="10607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191C"/>
              </a:buClr>
              <a:buSzPts val="1550"/>
              <a:buFont typeface="Quattrocento Sans"/>
              <a:buNone/>
            </a:pPr>
            <a:r>
              <a:rPr b="0" i="0" lang="en-US" sz="1550" u="none" cap="none" strike="noStrike">
                <a:solidFill>
                  <a:srgbClr val="16191C"/>
                </a:solidFill>
                <a:latin typeface="Quattrocento Sans"/>
                <a:ea typeface="Quattrocento Sans"/>
                <a:cs typeface="Quattrocento Sans"/>
                <a:sym typeface="Quattrocento Sans"/>
              </a:rPr>
              <a:t>For the rare classes, sample different subsets of one lesion's tokens. Each subset is one instance.</a:t>
            </a:r>
            <a:endParaRPr b="0" i="0" sz="1550" u="none" cap="none" strike="noStrike">
              <a:solidFill>
                <a:schemeClr val="dk1"/>
              </a:solidFill>
              <a:latin typeface="Calibri"/>
              <a:ea typeface="Calibri"/>
              <a:cs typeface="Calibri"/>
              <a:sym typeface="Calibri"/>
            </a:endParaRPr>
          </a:p>
        </p:txBody>
      </p:sp>
      <p:sp>
        <p:nvSpPr>
          <p:cNvPr id="587" name="Google Shape;587;p16"/>
          <p:cNvSpPr/>
          <p:nvPr/>
        </p:nvSpPr>
        <p:spPr>
          <a:xfrm>
            <a:off x="1097280"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16"/>
          <p:cNvSpPr/>
          <p:nvPr/>
        </p:nvSpPr>
        <p:spPr>
          <a:xfrm>
            <a:off x="1266444"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16"/>
          <p:cNvSpPr/>
          <p:nvPr/>
        </p:nvSpPr>
        <p:spPr>
          <a:xfrm>
            <a:off x="1435608"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16"/>
          <p:cNvSpPr/>
          <p:nvPr/>
        </p:nvSpPr>
        <p:spPr>
          <a:xfrm>
            <a:off x="1604772"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16"/>
          <p:cNvSpPr/>
          <p:nvPr/>
        </p:nvSpPr>
        <p:spPr>
          <a:xfrm>
            <a:off x="1097280"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16"/>
          <p:cNvSpPr/>
          <p:nvPr/>
        </p:nvSpPr>
        <p:spPr>
          <a:xfrm>
            <a:off x="1266444"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16"/>
          <p:cNvSpPr/>
          <p:nvPr/>
        </p:nvSpPr>
        <p:spPr>
          <a:xfrm>
            <a:off x="1435608"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16"/>
          <p:cNvSpPr/>
          <p:nvPr/>
        </p:nvSpPr>
        <p:spPr>
          <a:xfrm>
            <a:off x="1604772"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16"/>
          <p:cNvSpPr/>
          <p:nvPr/>
        </p:nvSpPr>
        <p:spPr>
          <a:xfrm>
            <a:off x="1097280"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16"/>
          <p:cNvSpPr/>
          <p:nvPr/>
        </p:nvSpPr>
        <p:spPr>
          <a:xfrm>
            <a:off x="1266444"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16"/>
          <p:cNvSpPr/>
          <p:nvPr/>
        </p:nvSpPr>
        <p:spPr>
          <a:xfrm>
            <a:off x="1435608"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16"/>
          <p:cNvSpPr/>
          <p:nvPr/>
        </p:nvSpPr>
        <p:spPr>
          <a:xfrm>
            <a:off x="1604772"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16"/>
          <p:cNvSpPr/>
          <p:nvPr/>
        </p:nvSpPr>
        <p:spPr>
          <a:xfrm>
            <a:off x="1097280"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16"/>
          <p:cNvSpPr/>
          <p:nvPr/>
        </p:nvSpPr>
        <p:spPr>
          <a:xfrm>
            <a:off x="1266444"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16"/>
          <p:cNvSpPr/>
          <p:nvPr/>
        </p:nvSpPr>
        <p:spPr>
          <a:xfrm>
            <a:off x="1435608"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16"/>
          <p:cNvSpPr/>
          <p:nvPr/>
        </p:nvSpPr>
        <p:spPr>
          <a:xfrm>
            <a:off x="1604772"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16"/>
          <p:cNvSpPr txBox="1"/>
          <p:nvPr/>
        </p:nvSpPr>
        <p:spPr>
          <a:xfrm>
            <a:off x="822960" y="3730752"/>
            <a:ext cx="123444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view 1 — intact</a:t>
            </a:r>
            <a:endParaRPr b="0" i="0" sz="1150" u="none" cap="none" strike="noStrike">
              <a:solidFill>
                <a:schemeClr val="dk1"/>
              </a:solidFill>
              <a:latin typeface="Calibri"/>
              <a:ea typeface="Calibri"/>
              <a:cs typeface="Calibri"/>
              <a:sym typeface="Calibri"/>
            </a:endParaRPr>
          </a:p>
        </p:txBody>
      </p:sp>
      <p:sp>
        <p:nvSpPr>
          <p:cNvPr id="604" name="Google Shape;604;p16"/>
          <p:cNvSpPr/>
          <p:nvPr/>
        </p:nvSpPr>
        <p:spPr>
          <a:xfrm>
            <a:off x="2926080"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16"/>
          <p:cNvSpPr/>
          <p:nvPr/>
        </p:nvSpPr>
        <p:spPr>
          <a:xfrm>
            <a:off x="3095244" y="2926080"/>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16"/>
          <p:cNvSpPr/>
          <p:nvPr/>
        </p:nvSpPr>
        <p:spPr>
          <a:xfrm>
            <a:off x="3264408"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16"/>
          <p:cNvSpPr/>
          <p:nvPr/>
        </p:nvSpPr>
        <p:spPr>
          <a:xfrm>
            <a:off x="3433572"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16"/>
          <p:cNvSpPr/>
          <p:nvPr/>
        </p:nvSpPr>
        <p:spPr>
          <a:xfrm>
            <a:off x="2926080"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16"/>
          <p:cNvSpPr/>
          <p:nvPr/>
        </p:nvSpPr>
        <p:spPr>
          <a:xfrm>
            <a:off x="3095244"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16"/>
          <p:cNvSpPr/>
          <p:nvPr/>
        </p:nvSpPr>
        <p:spPr>
          <a:xfrm>
            <a:off x="3264408" y="3095244"/>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16"/>
          <p:cNvSpPr/>
          <p:nvPr/>
        </p:nvSpPr>
        <p:spPr>
          <a:xfrm>
            <a:off x="3433572"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16"/>
          <p:cNvSpPr/>
          <p:nvPr/>
        </p:nvSpPr>
        <p:spPr>
          <a:xfrm>
            <a:off x="2926080" y="3264408"/>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16"/>
          <p:cNvSpPr/>
          <p:nvPr/>
        </p:nvSpPr>
        <p:spPr>
          <a:xfrm>
            <a:off x="3095244"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16"/>
          <p:cNvSpPr/>
          <p:nvPr/>
        </p:nvSpPr>
        <p:spPr>
          <a:xfrm>
            <a:off x="3264408"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16"/>
          <p:cNvSpPr/>
          <p:nvPr/>
        </p:nvSpPr>
        <p:spPr>
          <a:xfrm>
            <a:off x="3433572"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16"/>
          <p:cNvSpPr/>
          <p:nvPr/>
        </p:nvSpPr>
        <p:spPr>
          <a:xfrm>
            <a:off x="2926080"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16"/>
          <p:cNvSpPr/>
          <p:nvPr/>
        </p:nvSpPr>
        <p:spPr>
          <a:xfrm>
            <a:off x="3095244"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16"/>
          <p:cNvSpPr/>
          <p:nvPr/>
        </p:nvSpPr>
        <p:spPr>
          <a:xfrm>
            <a:off x="3264408" y="3433572"/>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16"/>
          <p:cNvSpPr/>
          <p:nvPr/>
        </p:nvSpPr>
        <p:spPr>
          <a:xfrm>
            <a:off x="3433572"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6"/>
          <p:cNvSpPr txBox="1"/>
          <p:nvPr/>
        </p:nvSpPr>
        <p:spPr>
          <a:xfrm>
            <a:off x="2651760" y="3730752"/>
            <a:ext cx="123444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view 2</a:t>
            </a:r>
            <a:endParaRPr b="0" i="0" sz="1150" u="none" cap="none" strike="noStrike">
              <a:solidFill>
                <a:schemeClr val="dk1"/>
              </a:solidFill>
              <a:latin typeface="Calibri"/>
              <a:ea typeface="Calibri"/>
              <a:cs typeface="Calibri"/>
              <a:sym typeface="Calibri"/>
            </a:endParaRPr>
          </a:p>
        </p:txBody>
      </p:sp>
      <p:sp>
        <p:nvSpPr>
          <p:cNvPr id="621" name="Google Shape;621;p16"/>
          <p:cNvSpPr/>
          <p:nvPr/>
        </p:nvSpPr>
        <p:spPr>
          <a:xfrm>
            <a:off x="4754880"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16"/>
          <p:cNvSpPr/>
          <p:nvPr/>
        </p:nvSpPr>
        <p:spPr>
          <a:xfrm>
            <a:off x="4924044"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16"/>
          <p:cNvSpPr/>
          <p:nvPr/>
        </p:nvSpPr>
        <p:spPr>
          <a:xfrm>
            <a:off x="5093208" y="2926080"/>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16"/>
          <p:cNvSpPr/>
          <p:nvPr/>
        </p:nvSpPr>
        <p:spPr>
          <a:xfrm>
            <a:off x="5262372"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16"/>
          <p:cNvSpPr/>
          <p:nvPr/>
        </p:nvSpPr>
        <p:spPr>
          <a:xfrm>
            <a:off x="4754880" y="3095244"/>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16"/>
          <p:cNvSpPr/>
          <p:nvPr/>
        </p:nvSpPr>
        <p:spPr>
          <a:xfrm>
            <a:off x="4924044"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16"/>
          <p:cNvSpPr/>
          <p:nvPr/>
        </p:nvSpPr>
        <p:spPr>
          <a:xfrm>
            <a:off x="5093208"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16"/>
          <p:cNvSpPr/>
          <p:nvPr/>
        </p:nvSpPr>
        <p:spPr>
          <a:xfrm>
            <a:off x="5262372"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16"/>
          <p:cNvSpPr/>
          <p:nvPr/>
        </p:nvSpPr>
        <p:spPr>
          <a:xfrm>
            <a:off x="4754880"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16"/>
          <p:cNvSpPr/>
          <p:nvPr/>
        </p:nvSpPr>
        <p:spPr>
          <a:xfrm>
            <a:off x="4924044"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16"/>
          <p:cNvSpPr/>
          <p:nvPr/>
        </p:nvSpPr>
        <p:spPr>
          <a:xfrm>
            <a:off x="5093208" y="3264408"/>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16"/>
          <p:cNvSpPr/>
          <p:nvPr/>
        </p:nvSpPr>
        <p:spPr>
          <a:xfrm>
            <a:off x="5262372"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16"/>
          <p:cNvSpPr/>
          <p:nvPr/>
        </p:nvSpPr>
        <p:spPr>
          <a:xfrm>
            <a:off x="4754880"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16"/>
          <p:cNvSpPr/>
          <p:nvPr/>
        </p:nvSpPr>
        <p:spPr>
          <a:xfrm>
            <a:off x="4924044" y="3433572"/>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16"/>
          <p:cNvSpPr/>
          <p:nvPr/>
        </p:nvSpPr>
        <p:spPr>
          <a:xfrm>
            <a:off x="5093208"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16"/>
          <p:cNvSpPr/>
          <p:nvPr/>
        </p:nvSpPr>
        <p:spPr>
          <a:xfrm>
            <a:off x="5262372"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6"/>
          <p:cNvSpPr txBox="1"/>
          <p:nvPr/>
        </p:nvSpPr>
        <p:spPr>
          <a:xfrm>
            <a:off x="4480560" y="3730752"/>
            <a:ext cx="123444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view 3</a:t>
            </a:r>
            <a:endParaRPr b="0" i="0" sz="1150" u="none" cap="none" strike="noStrike">
              <a:solidFill>
                <a:schemeClr val="dk1"/>
              </a:solidFill>
              <a:latin typeface="Calibri"/>
              <a:ea typeface="Calibri"/>
              <a:cs typeface="Calibri"/>
              <a:sym typeface="Calibri"/>
            </a:endParaRPr>
          </a:p>
        </p:txBody>
      </p:sp>
      <p:cxnSp>
        <p:nvCxnSpPr>
          <p:cNvPr id="638" name="Google Shape;638;p16"/>
          <p:cNvCxnSpPr/>
          <p:nvPr/>
        </p:nvCxnSpPr>
        <p:spPr>
          <a:xfrm>
            <a:off x="777240" y="4434840"/>
            <a:ext cx="5394960" cy="0"/>
          </a:xfrm>
          <a:prstGeom prst="straightConnector1">
            <a:avLst/>
          </a:prstGeom>
          <a:noFill/>
          <a:ln cap="flat" cmpd="sng" w="9525">
            <a:solidFill>
              <a:srgbClr val="D3D8DB"/>
            </a:solidFill>
            <a:prstDash val="solid"/>
            <a:round/>
            <a:headEnd len="sm" w="sm" type="none"/>
            <a:tailEnd len="sm" w="sm" type="none"/>
          </a:ln>
        </p:spPr>
      </p:cxnSp>
      <p:sp>
        <p:nvSpPr>
          <p:cNvPr id="639" name="Google Shape;639;p16"/>
          <p:cNvSpPr txBox="1"/>
          <p:nvPr/>
        </p:nvSpPr>
        <p:spPr>
          <a:xfrm>
            <a:off x="777240" y="4617720"/>
            <a:ext cx="53949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000"/>
              <a:buFont typeface="Palatino Linotype"/>
              <a:buNone/>
            </a:pPr>
            <a:r>
              <a:rPr b="0" i="1" lang="en-US" sz="2000" u="none" cap="none" strike="noStrike">
                <a:solidFill>
                  <a:srgbClr val="16191C"/>
                </a:solidFill>
                <a:latin typeface="Palatino Linotype"/>
                <a:ea typeface="Palatino Linotype"/>
                <a:cs typeface="Palatino Linotype"/>
                <a:sym typeface="Palatino Linotype"/>
              </a:rPr>
              <a:t>n</a:t>
            </a:r>
            <a:r>
              <a:rPr b="0" baseline="-25000" i="1" lang="en-US" sz="2000" u="none" cap="none" strike="noStrike">
                <a:solidFill>
                  <a:srgbClr val="16191C"/>
                </a:solidFill>
                <a:latin typeface="Palatino Linotype"/>
                <a:ea typeface="Palatino Linotype"/>
                <a:cs typeface="Palatino Linotype"/>
                <a:sym typeface="Palatino Linotype"/>
              </a:rPr>
              <a:t>c</a:t>
            </a:r>
            <a:r>
              <a:rPr b="0" i="1" lang="en-US" sz="2000" u="none" cap="none" strike="noStrike">
                <a:solidFill>
                  <a:srgbClr val="16191C"/>
                </a:solidFill>
                <a:latin typeface="Palatino Linotype"/>
                <a:ea typeface="Palatino Linotype"/>
                <a:cs typeface="Palatino Linotype"/>
                <a:sym typeface="Palatino Linotype"/>
              </a:rPr>
              <a:t>  =  ( n</a:t>
            </a:r>
            <a:r>
              <a:rPr b="0" baseline="-25000" i="1" lang="en-US" sz="2000" u="none" cap="none" strike="noStrike">
                <a:solidFill>
                  <a:srgbClr val="16191C"/>
                </a:solidFill>
                <a:latin typeface="Palatino Linotype"/>
                <a:ea typeface="Palatino Linotype"/>
                <a:cs typeface="Palatino Linotype"/>
                <a:sym typeface="Palatino Linotype"/>
              </a:rPr>
              <a:t>max</a:t>
            </a:r>
            <a:r>
              <a:rPr b="0" i="1" lang="en-US" sz="2000" u="none" cap="none" strike="noStrike">
                <a:solidFill>
                  <a:srgbClr val="16191C"/>
                </a:solidFill>
                <a:latin typeface="Palatino Linotype"/>
                <a:ea typeface="Palatino Linotype"/>
                <a:cs typeface="Palatino Linotype"/>
                <a:sym typeface="Palatino Linotype"/>
              </a:rPr>
              <a:t> / n</a:t>
            </a:r>
            <a:r>
              <a:rPr b="0" baseline="-25000" i="1" lang="en-US" sz="2000" u="none" cap="none" strike="noStrike">
                <a:solidFill>
                  <a:srgbClr val="16191C"/>
                </a:solidFill>
                <a:latin typeface="Palatino Linotype"/>
                <a:ea typeface="Palatino Linotype"/>
                <a:cs typeface="Palatino Linotype"/>
                <a:sym typeface="Palatino Linotype"/>
              </a:rPr>
              <a:t>c</a:t>
            </a:r>
            <a:r>
              <a:rPr b="0" i="1" lang="en-US" sz="2000" u="none" cap="none" strike="noStrike">
                <a:solidFill>
                  <a:srgbClr val="16191C"/>
                </a:solidFill>
                <a:latin typeface="Palatino Linotype"/>
                <a:ea typeface="Palatino Linotype"/>
                <a:cs typeface="Palatino Linotype"/>
                <a:sym typeface="Palatino Linotype"/>
              </a:rPr>
              <a:t> )</a:t>
            </a:r>
            <a:r>
              <a:rPr b="0" baseline="30000" i="1" lang="en-US" sz="2000" u="none" cap="none" strike="noStrike">
                <a:solidFill>
                  <a:srgbClr val="16191C"/>
                </a:solidFill>
                <a:latin typeface="Palatino Linotype"/>
                <a:ea typeface="Palatino Linotype"/>
                <a:cs typeface="Palatino Linotype"/>
                <a:sym typeface="Palatino Linotype"/>
              </a:rPr>
              <a:t>α</a:t>
            </a:r>
            <a:r>
              <a:rPr b="0" i="0" lang="en-US" sz="1300" u="none" cap="none" strike="noStrike">
                <a:solidFill>
                  <a:srgbClr val="6E767C"/>
                </a:solidFill>
                <a:latin typeface="Quattrocento Sans"/>
                <a:ea typeface="Quattrocento Sans"/>
                <a:cs typeface="Quattrocento Sans"/>
                <a:sym typeface="Quattrocento Sans"/>
              </a:rPr>
              <a:t>     rounded up</a:t>
            </a:r>
            <a:endParaRPr b="0" i="0" sz="2000" u="none" cap="none" strike="noStrike">
              <a:solidFill>
                <a:schemeClr val="dk1"/>
              </a:solidFill>
              <a:latin typeface="Calibri"/>
              <a:ea typeface="Calibri"/>
              <a:cs typeface="Calibri"/>
              <a:sym typeface="Calibri"/>
            </a:endParaRPr>
          </a:p>
        </p:txBody>
      </p:sp>
      <p:sp>
        <p:nvSpPr>
          <p:cNvPr id="640" name="Google Shape;640;p16"/>
          <p:cNvSpPr txBox="1"/>
          <p:nvPr/>
        </p:nvSpPr>
        <p:spPr>
          <a:xfrm>
            <a:off x="777240" y="5120640"/>
            <a:ext cx="5394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300"/>
              <a:buFont typeface="Quattrocento Sans"/>
              <a:buNone/>
            </a:pPr>
            <a:r>
              <a:rPr b="0" i="0" lang="en-US" sz="1300" u="none" cap="none" strike="noStrike">
                <a:solidFill>
                  <a:srgbClr val="6E767C"/>
                </a:solidFill>
                <a:latin typeface="Quattrocento Sans"/>
                <a:ea typeface="Quattrocento Sans"/>
                <a:cs typeface="Quattrocento Sans"/>
                <a:sym typeface="Quattrocento Sans"/>
              </a:rPr>
              <a:t>at α = 0.5 that is 1 / 2 / 3 views for PAI 3 / 4 / 5</a:t>
            </a:r>
            <a:endParaRPr b="0" i="0" sz="1300" u="none" cap="none" strike="noStrike">
              <a:solidFill>
                <a:schemeClr val="dk1"/>
              </a:solidFill>
              <a:latin typeface="Calibri"/>
              <a:ea typeface="Calibri"/>
              <a:cs typeface="Calibri"/>
              <a:sym typeface="Calibri"/>
            </a:endParaRPr>
          </a:p>
        </p:txBody>
      </p:sp>
      <p:graphicFrame>
        <p:nvGraphicFramePr>
          <p:cNvPr id="641" name="Google Shape;641;p16"/>
          <p:cNvGraphicFramePr/>
          <p:nvPr/>
        </p:nvGraphicFramePr>
        <p:xfrm>
          <a:off x="6583670" y="2461165"/>
          <a:ext cx="3000000" cy="3000000"/>
        </p:xfrm>
        <a:graphic>
          <a:graphicData uri="http://schemas.openxmlformats.org/drawingml/2006/table">
            <a:tbl>
              <a:tblPr>
                <a:noFill/>
                <a:tableStyleId>{27E33D80-D22A-43B9-9D80-FE20F8DDA145}</a:tableStyleId>
              </a:tblPr>
              <a:tblGrid>
                <a:gridCol w="1965950"/>
                <a:gridCol w="1856225"/>
                <a:gridCol w="914400"/>
              </a:tblGrid>
              <a:tr h="475500">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Method</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What it multiplies</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Invents data</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Oversampling</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identical copies</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no</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Focal / class-weighted</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nothing — reweights loss</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no</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SMOTE</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synthetic points</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A03325"/>
                        </a:buClr>
                        <a:buSzPts val="1250"/>
                        <a:buFont typeface="Quattrocento Sans"/>
                        <a:buNone/>
                      </a:pPr>
                      <a:r>
                        <a:rPr lang="en-US" sz="1250" u="none" cap="none" strike="noStrike">
                          <a:solidFill>
                            <a:srgbClr val="A03325"/>
                          </a:solidFill>
                          <a:latin typeface="Quattrocento Sans"/>
                          <a:ea typeface="Quattrocento Sans"/>
                          <a:cs typeface="Quattrocento Sans"/>
                          <a:sym typeface="Quattrocento Sans"/>
                        </a:rPr>
                        <a:t>yes</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Balanced token sampling</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genuine views of a lesion</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D5E42"/>
                        </a:buClr>
                        <a:buSzPts val="1250"/>
                        <a:buFont typeface="Quattrocento Sans"/>
                        <a:buNone/>
                      </a:pPr>
                      <a:r>
                        <a:rPr lang="en-US" sz="1250" u="none" cap="none" strike="noStrike">
                          <a:solidFill>
                            <a:srgbClr val="1D5E42"/>
                          </a:solidFill>
                          <a:latin typeface="Quattrocento Sans"/>
                          <a:ea typeface="Quattrocento Sans"/>
                          <a:cs typeface="Quattrocento Sans"/>
                          <a:sym typeface="Quattrocento Sans"/>
                        </a:rPr>
                        <a:t>no</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r>
            </a:tbl>
          </a:graphicData>
        </a:graphic>
      </p:graphicFrame>
      <p:sp>
        <p:nvSpPr>
          <p:cNvPr id="642" name="Google Shape;642;p16"/>
          <p:cNvSpPr txBox="1"/>
          <p:nvPr/>
        </p:nvSpPr>
        <p:spPr>
          <a:xfrm>
            <a:off x="6583670" y="5158645"/>
            <a:ext cx="4736700" cy="5487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1D5E42"/>
              </a:buClr>
              <a:buSzPts val="1800"/>
              <a:buFont typeface="Palatino Linotype"/>
              <a:buNone/>
            </a:pPr>
            <a:r>
              <a:rPr b="0" i="1" lang="en-US" sz="1800" u="none" cap="none" strike="noStrike">
                <a:solidFill>
                  <a:srgbClr val="1D5E42"/>
                </a:solidFill>
                <a:latin typeface="Palatino Linotype"/>
                <a:ea typeface="Palatino Linotype"/>
                <a:cs typeface="Palatino Linotype"/>
                <a:sym typeface="Palatino Linotype"/>
              </a:rPr>
              <a:t>Every instance is a genuine view of a real lesion.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7" name="Shape 647"/>
        <p:cNvGrpSpPr/>
        <p:nvPr/>
      </p:nvGrpSpPr>
      <p:grpSpPr>
        <a:xfrm>
          <a:off x="0" y="0"/>
          <a:ext cx="0" cy="0"/>
          <a:chOff x="0" y="0"/>
          <a:chExt cx="0" cy="0"/>
        </a:xfrm>
      </p:grpSpPr>
      <p:sp>
        <p:nvSpPr>
          <p:cNvPr id="648" name="Google Shape;648;p17"/>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6191C"/>
                </a:solidFill>
                <a:latin typeface="Palatino Linotype"/>
                <a:ea typeface="Palatino Linotype"/>
                <a:cs typeface="Palatino Linotype"/>
                <a:sym typeface="Palatino Linotype"/>
              </a:rPr>
              <a:t>Five ways to handle the imbalance</a:t>
            </a:r>
            <a:endParaRPr b="0" i="0" sz="2900" u="none" cap="none" strike="noStrike">
              <a:solidFill>
                <a:srgbClr val="000000"/>
              </a:solidFill>
              <a:latin typeface="Arial"/>
              <a:ea typeface="Arial"/>
              <a:cs typeface="Arial"/>
              <a:sym typeface="Arial"/>
            </a:endParaRPr>
          </a:p>
        </p:txBody>
      </p:sp>
      <p:cxnSp>
        <p:nvCxnSpPr>
          <p:cNvPr id="649" name="Google Shape;649;p17"/>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650" name="Google Shape;650;p17"/>
          <p:cNvSpPr txBox="1"/>
          <p:nvPr/>
        </p:nvSpPr>
        <p:spPr>
          <a:xfrm>
            <a:off x="777240" y="1225296"/>
            <a:ext cx="106344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6E767C"/>
                </a:solidFill>
                <a:latin typeface="Quattrocento Sans"/>
                <a:ea typeface="Quattrocento Sans"/>
                <a:cs typeface="Quattrocento Sans"/>
                <a:sym typeface="Quattrocento Sans"/>
              </a:rPr>
              <a:t>I-JEPA encoder, frozen  ·  fixed count, K = 16  ·  PR-AUC on PAI 5, test, 5 seeds</a:t>
            </a:r>
            <a:endParaRPr b="0" i="0" sz="1050" u="none" cap="none" strike="noStrike">
              <a:solidFill>
                <a:srgbClr val="000000"/>
              </a:solidFill>
              <a:latin typeface="Arial"/>
              <a:ea typeface="Arial"/>
              <a:cs typeface="Arial"/>
              <a:sym typeface="Arial"/>
            </a:endParaRPr>
          </a:p>
        </p:txBody>
      </p:sp>
      <p:sp>
        <p:nvSpPr>
          <p:cNvPr id="651" name="Google Shape;651;p17"/>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E767C"/>
                </a:solidFill>
                <a:latin typeface="Quattrocento Sans"/>
                <a:ea typeface="Quattrocento Sans"/>
                <a:cs typeface="Quattrocento Sans"/>
                <a:sym typeface="Quattrocento Sans"/>
              </a:rPr>
              <a:t>Model evaluation  ·  objective 3</a:t>
            </a:r>
            <a:endParaRPr b="0" i="0" sz="1000" u="none" cap="none" strike="noStrike">
              <a:solidFill>
                <a:srgbClr val="000000"/>
              </a:solidFill>
              <a:latin typeface="Arial"/>
              <a:ea typeface="Arial"/>
              <a:cs typeface="Arial"/>
              <a:sym typeface="Arial"/>
            </a:endParaRPr>
          </a:p>
        </p:txBody>
      </p:sp>
      <p:sp>
        <p:nvSpPr>
          <p:cNvPr id="652" name="Google Shape;652;p17"/>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6E767C"/>
                </a:solidFill>
                <a:latin typeface="Quattrocento Sans"/>
                <a:ea typeface="Quattrocento Sans"/>
                <a:cs typeface="Quattrocento Sans"/>
                <a:sym typeface="Quattrocento Sans"/>
              </a:rPr>
              <a:t>15 / 17</a:t>
            </a:r>
            <a:endParaRPr b="0" i="0" sz="1000" u="none" cap="none" strike="noStrike">
              <a:solidFill>
                <a:srgbClr val="000000"/>
              </a:solidFill>
              <a:latin typeface="Arial"/>
              <a:ea typeface="Arial"/>
              <a:cs typeface="Arial"/>
              <a:sym typeface="Arial"/>
            </a:endParaRPr>
          </a:p>
        </p:txBody>
      </p:sp>
      <p:sp>
        <p:nvSpPr>
          <p:cNvPr id="653" name="Google Shape;653;p17"/>
          <p:cNvSpPr txBox="1"/>
          <p:nvPr/>
        </p:nvSpPr>
        <p:spPr>
          <a:xfrm>
            <a:off x="777240" y="1572768"/>
            <a:ext cx="106344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6191C"/>
                </a:solidFill>
                <a:latin typeface="Quattrocento Sans"/>
                <a:ea typeface="Quattrocento Sans"/>
                <a:cs typeface="Quattrocento Sans"/>
                <a:sym typeface="Quattrocento Sans"/>
              </a:rPr>
              <a:t>Only one of the five separates from doing nothing.</a:t>
            </a:r>
            <a:endParaRPr b="0" i="0" sz="1800" u="none" cap="none" strike="noStrike">
              <a:solidFill>
                <a:srgbClr val="000000"/>
              </a:solidFill>
              <a:latin typeface="Arial"/>
              <a:ea typeface="Arial"/>
              <a:cs typeface="Arial"/>
              <a:sym typeface="Arial"/>
            </a:endParaRPr>
          </a:p>
        </p:txBody>
      </p:sp>
      <p:sp>
        <p:nvSpPr>
          <p:cNvPr id="654" name="Google Shape;654;p17"/>
          <p:cNvSpPr txBox="1"/>
          <p:nvPr/>
        </p:nvSpPr>
        <p:spPr>
          <a:xfrm>
            <a:off x="777240" y="1975104"/>
            <a:ext cx="10634472" cy="54864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Arial"/>
              <a:buNone/>
            </a:pPr>
            <a:r>
              <a:rPr b="0" i="0" lang="en-US" sz="1250" u="none" cap="none" strike="noStrike">
                <a:solidFill>
                  <a:srgbClr val="6E767C"/>
                </a:solidFill>
                <a:latin typeface="Quattrocento Sans"/>
                <a:ea typeface="Quattrocento Sans"/>
                <a:cs typeface="Quattrocento Sans"/>
                <a:sym typeface="Quattrocento Sans"/>
              </a:rPr>
              <a:t>Class-weighted, focal and oversampling all sit inside the noise of plain cross-entropy, against a threshold of |z| ≥ 2.31. Our method does see 46 % more gradient steps — and that is not the explanation, because at α = 1.00 it sees 112 % more and does worse.</a:t>
            </a:r>
            <a:endParaRPr b="0" i="0" sz="1250" u="none" cap="none" strike="noStrike">
              <a:solidFill>
                <a:srgbClr val="000000"/>
              </a:solidFill>
              <a:latin typeface="Arial"/>
              <a:ea typeface="Arial"/>
              <a:cs typeface="Arial"/>
              <a:sym typeface="Arial"/>
            </a:endParaRPr>
          </a:p>
        </p:txBody>
      </p:sp>
      <p:graphicFrame>
        <p:nvGraphicFramePr>
          <p:cNvPr id="655" name="Google Shape;655;p17"/>
          <p:cNvGraphicFramePr/>
          <p:nvPr/>
        </p:nvGraphicFramePr>
        <p:xfrm>
          <a:off x="777240" y="2788920"/>
          <a:ext cx="3000000" cy="3000000"/>
        </p:xfrm>
        <a:graphic>
          <a:graphicData uri="http://schemas.openxmlformats.org/drawingml/2006/table">
            <a:tbl>
              <a:tblPr>
                <a:noFill/>
                <a:tableStyleId>{FA8E4F9C-F20D-4468-8EC3-CAA27FC1C861}</a:tableStyleId>
              </a:tblPr>
              <a:tblGrid>
                <a:gridCol w="5486400"/>
                <a:gridCol w="2011675"/>
                <a:gridCol w="1600200"/>
                <a:gridCol w="1536200"/>
              </a:tblGrid>
              <a:tr h="438900">
                <a:tc>
                  <a:txBody>
                    <a:bodyPr/>
                    <a:lstStyle/>
                    <a:p>
                      <a:pPr indent="0" lvl="0" marL="0" marR="0" rtl="0" algn="l">
                        <a:lnSpc>
                          <a:spcPct val="100000"/>
                        </a:lnSpc>
                        <a:spcBef>
                          <a:spcPts val="0"/>
                        </a:spcBef>
                        <a:spcAft>
                          <a:spcPts val="0"/>
                        </a:spcAft>
                        <a:buClr>
                          <a:srgbClr val="000000"/>
                        </a:buClr>
                        <a:buSzPts val="950"/>
                        <a:buFont typeface="Arial"/>
                        <a:buNone/>
                      </a:pPr>
                      <a:r>
                        <a:rPr lang="en-US" sz="950" u="none" cap="none" strike="noStrike">
                          <a:solidFill>
                            <a:srgbClr val="6E767C"/>
                          </a:solidFill>
                          <a:latin typeface="Quattrocento Sans"/>
                          <a:ea typeface="Quattrocento Sans"/>
                          <a:cs typeface="Quattrocento Sans"/>
                          <a:sym typeface="Quattrocento Sans"/>
                        </a:rPr>
                        <a:t>Method</a:t>
                      </a:r>
                      <a:endParaRPr sz="95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950"/>
                        <a:buFont typeface="Arial"/>
                        <a:buNone/>
                      </a:pPr>
                      <a:r>
                        <a:rPr lang="en-US" sz="950" u="none" cap="none" strike="noStrike">
                          <a:solidFill>
                            <a:srgbClr val="6E767C"/>
                          </a:solidFill>
                          <a:latin typeface="Quattrocento Sans"/>
                          <a:ea typeface="Quattrocento Sans"/>
                          <a:cs typeface="Quattrocento Sans"/>
                          <a:sym typeface="Quattrocento Sans"/>
                        </a:rPr>
                        <a:t>PR-AUC PAI 5</a:t>
                      </a:r>
                      <a:endParaRPr sz="95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950"/>
                        <a:buFont typeface="Arial"/>
                        <a:buNone/>
                      </a:pPr>
                      <a:r>
                        <a:rPr lang="en-US" sz="950" u="none" cap="none" strike="noStrike">
                          <a:solidFill>
                            <a:srgbClr val="6E767C"/>
                          </a:solidFill>
                          <a:latin typeface="Quattrocento Sans"/>
                          <a:ea typeface="Quattrocento Sans"/>
                          <a:cs typeface="Quattrocento Sans"/>
                          <a:sym typeface="Quattrocento Sans"/>
                        </a:rPr>
                        <a:t>vs plain CE</a:t>
                      </a:r>
                      <a:endParaRPr sz="95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950"/>
                        <a:buFont typeface="Arial"/>
                        <a:buNone/>
                      </a:pPr>
                      <a:r>
                        <a:rPr lang="en-US" sz="950" u="none" cap="none" strike="noStrike">
                          <a:solidFill>
                            <a:srgbClr val="6E767C"/>
                          </a:solidFill>
                          <a:latin typeface="Quattrocento Sans"/>
                          <a:ea typeface="Quattrocento Sans"/>
                          <a:cs typeface="Quattrocento Sans"/>
                          <a:sym typeface="Quattrocento Sans"/>
                        </a:rPr>
                        <a:t>z</a:t>
                      </a:r>
                      <a:endParaRPr sz="95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r>
              <a:tr h="43890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1D5E42"/>
                          </a:solidFill>
                          <a:latin typeface="Quattrocento Sans"/>
                          <a:ea typeface="Quattrocento Sans"/>
                          <a:cs typeface="Quattrocento Sans"/>
                          <a:sym typeface="Quattrocento Sans"/>
                        </a:rPr>
                        <a:t>Balanced token sampling</a:t>
                      </a:r>
                      <a:r>
                        <a:rPr lang="en-US" sz="950" u="none" cap="none" strike="noStrike">
                          <a:solidFill>
                            <a:srgbClr val="6E767C"/>
                          </a:solidFill>
                          <a:latin typeface="Quattrocento Sans"/>
                          <a:ea typeface="Quattrocento Sans"/>
                          <a:cs typeface="Quattrocento Sans"/>
                          <a:sym typeface="Quattrocento Sans"/>
                        </a:rPr>
                        <a:t>   subsets of one lesion's tokens, each an instance</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0.5150 ± 0.0158</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000000"/>
                        </a:buClr>
                        <a:buSzPts val="1100"/>
                        <a:buFont typeface="Arial"/>
                        <a:buNone/>
                      </a:pPr>
                      <a:r>
                        <a:rPr b="1" lang="en-US" sz="1100" u="none" cap="none" strike="noStrike">
                          <a:solidFill>
                            <a:srgbClr val="1D5E42"/>
                          </a:solidFill>
                          <a:latin typeface="Quattrocento Sans"/>
                          <a:ea typeface="Quattrocento Sans"/>
                          <a:cs typeface="Quattrocento Sans"/>
                          <a:sym typeface="Quattrocento Sans"/>
                        </a:rPr>
                        <a:t>+0.0437</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000000"/>
                        </a:buClr>
                        <a:buSzPts val="1100"/>
                        <a:buFont typeface="Arial"/>
                        <a:buNone/>
                      </a:pPr>
                      <a:r>
                        <a:rPr b="1" lang="en-US" sz="1100" u="none" cap="none" strike="noStrike">
                          <a:solidFill>
                            <a:srgbClr val="1D5E42"/>
                          </a:solidFill>
                          <a:latin typeface="Quattrocento Sans"/>
                          <a:ea typeface="Quattrocento Sans"/>
                          <a:cs typeface="Quattrocento Sans"/>
                          <a:sym typeface="Quattrocento Sans"/>
                        </a:rPr>
                        <a:t>+2.93</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r>
              <a:tr h="4389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Class-weighted cross-entropy</a:t>
                      </a:r>
                      <a:r>
                        <a:rPr lang="en-US" sz="950" u="none" cap="none" strike="noStrike">
                          <a:solidFill>
                            <a:srgbClr val="6E767C"/>
                          </a:solidFill>
                          <a:latin typeface="Quattrocento Sans"/>
                          <a:ea typeface="Quattrocento Sans"/>
                          <a:cs typeface="Quattrocento Sans"/>
                          <a:sym typeface="Quattrocento Sans"/>
                        </a:rPr>
                        <a:t>   the loss weights rare classes more</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0.4935 ± 0.0368</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+0.0222</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+1.05</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Focal loss</a:t>
                      </a:r>
                      <a:r>
                        <a:rPr lang="en-US" sz="950" u="none" cap="none" strike="noStrike">
                          <a:solidFill>
                            <a:srgbClr val="6E767C"/>
                          </a:solidFill>
                          <a:latin typeface="Quattrocento Sans"/>
                          <a:ea typeface="Quattrocento Sans"/>
                          <a:cs typeface="Quattrocento Sans"/>
                          <a:sym typeface="Quattrocento Sans"/>
                        </a:rPr>
                        <a:t>   the loss weights easy examples less</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0.4751 ± 0.0132</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+0.0039</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+0.27</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Plain cross-entropy</a:t>
                      </a:r>
                      <a:r>
                        <a:rPr lang="en-US" sz="950" u="none" cap="none" strike="noStrike">
                          <a:solidFill>
                            <a:srgbClr val="6E767C"/>
                          </a:solidFill>
                          <a:latin typeface="Quattrocento Sans"/>
                          <a:ea typeface="Quattrocento Sans"/>
                          <a:cs typeface="Quattrocento Sans"/>
                          <a:sym typeface="Quattrocento Sans"/>
                        </a:rPr>
                        <a:t>   the baseline</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0.4713 ± 0.0294</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Oversampling</a:t>
                      </a:r>
                      <a:r>
                        <a:rPr lang="en-US" sz="950" u="none" cap="none" strike="noStrike">
                          <a:solidFill>
                            <a:srgbClr val="6E767C"/>
                          </a:solidFill>
                          <a:latin typeface="Quattrocento Sans"/>
                          <a:ea typeface="Quattrocento Sans"/>
                          <a:cs typeface="Quattrocento Sans"/>
                          <a:sym typeface="Quattrocento Sans"/>
                        </a:rPr>
                        <a:t>   the same lesion drawn again, identical every time</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0.4375 ± 0.0386</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−0.0338</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−1.56</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0" name="Shape 660"/>
        <p:cNvGrpSpPr/>
        <p:nvPr/>
      </p:nvGrpSpPr>
      <p:grpSpPr>
        <a:xfrm>
          <a:off x="0" y="0"/>
          <a:ext cx="0" cy="0"/>
          <a:chOff x="0" y="0"/>
          <a:chExt cx="0" cy="0"/>
        </a:xfrm>
      </p:grpSpPr>
      <p:sp>
        <p:nvSpPr>
          <p:cNvPr id="661" name="Google Shape;661;p18"/>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6191C"/>
                </a:solidFill>
                <a:latin typeface="Palatino Linotype"/>
                <a:ea typeface="Palatino Linotype"/>
                <a:cs typeface="Palatino Linotype"/>
                <a:sym typeface="Palatino Linotype"/>
              </a:rPr>
              <a:t>What we built, and what it is worth</a:t>
            </a:r>
            <a:endParaRPr b="0" i="0" sz="2900" u="none" cap="none" strike="noStrike">
              <a:solidFill>
                <a:srgbClr val="000000"/>
              </a:solidFill>
              <a:latin typeface="Arial"/>
              <a:ea typeface="Arial"/>
              <a:cs typeface="Arial"/>
              <a:sym typeface="Arial"/>
            </a:endParaRPr>
          </a:p>
        </p:txBody>
      </p:sp>
      <p:cxnSp>
        <p:nvCxnSpPr>
          <p:cNvPr id="662" name="Google Shape;662;p18"/>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663" name="Google Shape;663;p18"/>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E767C"/>
                </a:solidFill>
                <a:latin typeface="Quattrocento Sans"/>
                <a:ea typeface="Quattrocento Sans"/>
                <a:cs typeface="Quattrocento Sans"/>
                <a:sym typeface="Quattrocento Sans"/>
              </a:rPr>
              <a:t>Conclusions and future work</a:t>
            </a:r>
            <a:endParaRPr b="0" i="0" sz="1000" u="none" cap="none" strike="noStrike">
              <a:solidFill>
                <a:srgbClr val="000000"/>
              </a:solidFill>
              <a:latin typeface="Arial"/>
              <a:ea typeface="Arial"/>
              <a:cs typeface="Arial"/>
              <a:sym typeface="Arial"/>
            </a:endParaRPr>
          </a:p>
        </p:txBody>
      </p:sp>
      <p:sp>
        <p:nvSpPr>
          <p:cNvPr id="664" name="Google Shape;664;p18"/>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6E767C"/>
                </a:solidFill>
                <a:latin typeface="Quattrocento Sans"/>
                <a:ea typeface="Quattrocento Sans"/>
                <a:cs typeface="Quattrocento Sans"/>
                <a:sym typeface="Quattrocento Sans"/>
              </a:rPr>
              <a:t>16 / 17</a:t>
            </a:r>
            <a:endParaRPr b="0" i="0" sz="1000" u="none" cap="none" strike="noStrike">
              <a:solidFill>
                <a:srgbClr val="000000"/>
              </a:solidFill>
              <a:latin typeface="Arial"/>
              <a:ea typeface="Arial"/>
              <a:cs typeface="Arial"/>
              <a:sym typeface="Arial"/>
            </a:endParaRPr>
          </a:p>
        </p:txBody>
      </p:sp>
      <p:sp>
        <p:nvSpPr>
          <p:cNvPr id="665" name="Google Shape;665;p18"/>
          <p:cNvSpPr txBox="1"/>
          <p:nvPr/>
        </p:nvSpPr>
        <p:spPr>
          <a:xfrm>
            <a:off x="777240" y="1517904"/>
            <a:ext cx="457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6191C"/>
                </a:solidFill>
                <a:latin typeface="Palatino Linotype"/>
                <a:ea typeface="Palatino Linotype"/>
                <a:cs typeface="Palatino Linotype"/>
                <a:sym typeface="Palatino Linotype"/>
              </a:rPr>
              <a:t>1</a:t>
            </a:r>
            <a:endParaRPr b="0" i="0" sz="2200" u="none" cap="none" strike="noStrike">
              <a:solidFill>
                <a:srgbClr val="000000"/>
              </a:solidFill>
              <a:latin typeface="Arial"/>
              <a:ea typeface="Arial"/>
              <a:cs typeface="Arial"/>
              <a:sym typeface="Arial"/>
            </a:endParaRPr>
          </a:p>
        </p:txBody>
      </p:sp>
      <p:sp>
        <p:nvSpPr>
          <p:cNvPr id="666" name="Google Shape;666;p18"/>
          <p:cNvSpPr txBox="1"/>
          <p:nvPr/>
        </p:nvSpPr>
        <p:spPr>
          <a:xfrm>
            <a:off x="1307592" y="1536192"/>
            <a:ext cx="1010412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6191C"/>
                </a:solidFill>
                <a:latin typeface="Quattrocento Sans"/>
                <a:ea typeface="Quattrocento Sans"/>
                <a:cs typeface="Quattrocento Sans"/>
                <a:sym typeface="Quattrocento Sans"/>
              </a:rPr>
              <a:t>We pre-trained I-JEPA ourselves, from scratch.</a:t>
            </a:r>
            <a:endParaRPr b="0" i="0" sz="1550" u="none" cap="none" strike="noStrike">
              <a:solidFill>
                <a:srgbClr val="000000"/>
              </a:solidFill>
              <a:latin typeface="Arial"/>
              <a:ea typeface="Arial"/>
              <a:cs typeface="Arial"/>
              <a:sym typeface="Arial"/>
            </a:endParaRPr>
          </a:p>
        </p:txBody>
      </p:sp>
      <p:sp>
        <p:nvSpPr>
          <p:cNvPr id="667" name="Google Shape;667;p18"/>
          <p:cNvSpPr txBox="1"/>
          <p:nvPr/>
        </p:nvSpPr>
        <p:spPr>
          <a:xfrm>
            <a:off x="1307592" y="1865376"/>
            <a:ext cx="1010412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Arial"/>
              <a:buNone/>
            </a:pPr>
            <a:r>
              <a:rPr b="0" i="0" lang="en-US" sz="1150" u="none" cap="none" strike="noStrike">
                <a:solidFill>
                  <a:srgbClr val="6E767C"/>
                </a:solidFill>
                <a:latin typeface="Quattrocento Sans"/>
                <a:ea typeface="Quattrocento Sans"/>
                <a:cs typeface="Quattrocento Sans"/>
                <a:sym typeface="Quattrocento Sans"/>
              </a:rPr>
              <a:t>289 epochs on 4,719 lesions, no downloaded weights and no fine-tuning. The encoder is ours end to end, and it stays frozen everywhere downstream.</a:t>
            </a:r>
            <a:endParaRPr b="0" i="0" sz="1150" u="none" cap="none" strike="noStrike">
              <a:solidFill>
                <a:srgbClr val="000000"/>
              </a:solidFill>
              <a:latin typeface="Arial"/>
              <a:ea typeface="Arial"/>
              <a:cs typeface="Arial"/>
              <a:sym typeface="Arial"/>
            </a:endParaRPr>
          </a:p>
        </p:txBody>
      </p:sp>
      <p:sp>
        <p:nvSpPr>
          <p:cNvPr id="668" name="Google Shape;668;p18"/>
          <p:cNvSpPr txBox="1"/>
          <p:nvPr/>
        </p:nvSpPr>
        <p:spPr>
          <a:xfrm>
            <a:off x="777240" y="2487168"/>
            <a:ext cx="457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A03325"/>
                </a:solidFill>
                <a:latin typeface="Palatino Linotype"/>
                <a:ea typeface="Palatino Linotype"/>
                <a:cs typeface="Palatino Linotype"/>
                <a:sym typeface="Palatino Linotype"/>
              </a:rPr>
              <a:t>2</a:t>
            </a:r>
            <a:endParaRPr b="0" i="0" sz="2200" u="none" cap="none" strike="noStrike">
              <a:solidFill>
                <a:srgbClr val="000000"/>
              </a:solidFill>
              <a:latin typeface="Arial"/>
              <a:ea typeface="Arial"/>
              <a:cs typeface="Arial"/>
              <a:sym typeface="Arial"/>
            </a:endParaRPr>
          </a:p>
        </p:txBody>
      </p:sp>
      <p:sp>
        <p:nvSpPr>
          <p:cNvPr id="669" name="Google Shape;669;p18"/>
          <p:cNvSpPr txBox="1"/>
          <p:nvPr/>
        </p:nvSpPr>
        <p:spPr>
          <a:xfrm>
            <a:off x="1307592" y="2505456"/>
            <a:ext cx="1010412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6191C"/>
                </a:solidFill>
                <a:latin typeface="Quattrocento Sans"/>
                <a:ea typeface="Quattrocento Sans"/>
                <a:cs typeface="Quattrocento Sans"/>
                <a:sym typeface="Quattrocento Sans"/>
              </a:rPr>
              <a:t>We found that the prescribed evaluation could not measure any encoder — and we proved it.</a:t>
            </a:r>
            <a:endParaRPr b="0" i="0" sz="1550" u="none" cap="none" strike="noStrike">
              <a:solidFill>
                <a:srgbClr val="000000"/>
              </a:solidFill>
              <a:latin typeface="Arial"/>
              <a:ea typeface="Arial"/>
              <a:cs typeface="Arial"/>
              <a:sym typeface="Arial"/>
            </a:endParaRPr>
          </a:p>
        </p:txBody>
      </p:sp>
      <p:sp>
        <p:nvSpPr>
          <p:cNvPr id="670" name="Google Shape;670;p18"/>
          <p:cNvSpPr txBox="1"/>
          <p:nvPr/>
        </p:nvSpPr>
        <p:spPr>
          <a:xfrm>
            <a:off x="1307592" y="2834640"/>
            <a:ext cx="1010412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Arial"/>
              <a:buNone/>
            </a:pPr>
            <a:r>
              <a:rPr b="0" i="0" lang="en-US" sz="1150" u="none" cap="none" strike="noStrike">
                <a:solidFill>
                  <a:srgbClr val="6E767C"/>
                </a:solidFill>
                <a:latin typeface="Quattrocento Sans"/>
                <a:ea typeface="Quattrocento Sans"/>
                <a:cs typeface="Quattrocento Sans"/>
                <a:sym typeface="Quattrocento Sans"/>
              </a:rPr>
              <a:t>The bounding-box mask alone, with every pixel zeroed, reaches macro-F1 0.7708. Four different ways of not using the encoder land on the same number.</a:t>
            </a:r>
            <a:endParaRPr b="0" i="0" sz="1150" u="none" cap="none" strike="noStrike">
              <a:solidFill>
                <a:srgbClr val="000000"/>
              </a:solidFill>
              <a:latin typeface="Arial"/>
              <a:ea typeface="Arial"/>
              <a:cs typeface="Arial"/>
              <a:sym typeface="Arial"/>
            </a:endParaRPr>
          </a:p>
        </p:txBody>
      </p:sp>
      <p:sp>
        <p:nvSpPr>
          <p:cNvPr id="671" name="Google Shape;671;p18"/>
          <p:cNvSpPr txBox="1"/>
          <p:nvPr/>
        </p:nvSpPr>
        <p:spPr>
          <a:xfrm>
            <a:off x="777240" y="3456432"/>
            <a:ext cx="457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D5E42"/>
                </a:solidFill>
                <a:latin typeface="Palatino Linotype"/>
                <a:ea typeface="Palatino Linotype"/>
                <a:cs typeface="Palatino Linotype"/>
                <a:sym typeface="Palatino Linotype"/>
              </a:rPr>
              <a:t>3</a:t>
            </a:r>
            <a:endParaRPr b="0" i="0" sz="2200" u="none" cap="none" strike="noStrike">
              <a:solidFill>
                <a:srgbClr val="000000"/>
              </a:solidFill>
              <a:latin typeface="Arial"/>
              <a:ea typeface="Arial"/>
              <a:cs typeface="Arial"/>
              <a:sym typeface="Arial"/>
            </a:endParaRPr>
          </a:p>
        </p:txBody>
      </p:sp>
      <p:sp>
        <p:nvSpPr>
          <p:cNvPr id="672" name="Google Shape;672;p18"/>
          <p:cNvSpPr txBox="1"/>
          <p:nvPr/>
        </p:nvSpPr>
        <p:spPr>
          <a:xfrm>
            <a:off x="1307592" y="3474720"/>
            <a:ext cx="1010412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6191C"/>
                </a:solidFill>
                <a:latin typeface="Quattrocento Sans"/>
                <a:ea typeface="Quattrocento Sans"/>
                <a:cs typeface="Quattrocento Sans"/>
                <a:sym typeface="Quattrocento Sans"/>
              </a:rPr>
              <a:t>We corrected it without leaving the brief, and the encoder appeared.</a:t>
            </a:r>
            <a:endParaRPr b="0" i="0" sz="1550" u="none" cap="none" strike="noStrike">
              <a:solidFill>
                <a:srgbClr val="000000"/>
              </a:solidFill>
              <a:latin typeface="Arial"/>
              <a:ea typeface="Arial"/>
              <a:cs typeface="Arial"/>
              <a:sym typeface="Arial"/>
            </a:endParaRPr>
          </a:p>
        </p:txBody>
      </p:sp>
      <p:sp>
        <p:nvSpPr>
          <p:cNvPr id="673" name="Google Shape;673;p18"/>
          <p:cNvSpPr txBox="1"/>
          <p:nvPr/>
        </p:nvSpPr>
        <p:spPr>
          <a:xfrm>
            <a:off x="1307592" y="3803904"/>
            <a:ext cx="1010412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Arial"/>
              <a:buNone/>
            </a:pPr>
            <a:r>
              <a:rPr b="0" i="0" lang="en-US" sz="1150" u="none" cap="none" strike="noStrike">
                <a:solidFill>
                  <a:srgbClr val="6E767C"/>
                </a:solidFill>
                <a:latin typeface="Quattrocento Sans"/>
                <a:ea typeface="Quattrocento Sans"/>
                <a:cs typeface="Quattrocento Sans"/>
                <a:sym typeface="Quattrocento Sans"/>
              </a:rPr>
              <a:t>Keep the box centre, take K tokens: same crop, same tokens, same seeds. +32 % on PAI 5 at z = 8.72, the control cell tying as it must — and a second, independent removal agrees at +50 %.</a:t>
            </a:r>
            <a:endParaRPr b="0" i="0" sz="1150" u="none" cap="none" strike="noStrike">
              <a:solidFill>
                <a:srgbClr val="000000"/>
              </a:solidFill>
              <a:latin typeface="Arial"/>
              <a:ea typeface="Arial"/>
              <a:cs typeface="Arial"/>
              <a:sym typeface="Arial"/>
            </a:endParaRPr>
          </a:p>
        </p:txBody>
      </p:sp>
      <p:sp>
        <p:nvSpPr>
          <p:cNvPr id="674" name="Google Shape;674;p18"/>
          <p:cNvSpPr txBox="1"/>
          <p:nvPr/>
        </p:nvSpPr>
        <p:spPr>
          <a:xfrm>
            <a:off x="777240" y="4425696"/>
            <a:ext cx="457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D5E42"/>
                </a:solidFill>
                <a:latin typeface="Palatino Linotype"/>
                <a:ea typeface="Palatino Linotype"/>
                <a:cs typeface="Palatino Linotype"/>
                <a:sym typeface="Palatino Linotype"/>
              </a:rPr>
              <a:t>4</a:t>
            </a:r>
            <a:endParaRPr b="0" i="0" sz="2200" u="none" cap="none" strike="noStrike">
              <a:solidFill>
                <a:srgbClr val="000000"/>
              </a:solidFill>
              <a:latin typeface="Arial"/>
              <a:ea typeface="Arial"/>
              <a:cs typeface="Arial"/>
              <a:sym typeface="Arial"/>
            </a:endParaRPr>
          </a:p>
        </p:txBody>
      </p:sp>
      <p:sp>
        <p:nvSpPr>
          <p:cNvPr id="675" name="Google Shape;675;p18"/>
          <p:cNvSpPr txBox="1"/>
          <p:nvPr/>
        </p:nvSpPr>
        <p:spPr>
          <a:xfrm>
            <a:off x="1307592" y="4443984"/>
            <a:ext cx="1010412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6191C"/>
                </a:solidFill>
                <a:latin typeface="Quattrocento Sans"/>
                <a:ea typeface="Quattrocento Sans"/>
                <a:cs typeface="Quattrocento Sans"/>
                <a:sym typeface="Quattrocento Sans"/>
              </a:rPr>
              <a:t>We contributed a method for the imbalance, and it is the only one that separates.</a:t>
            </a:r>
            <a:endParaRPr b="0" i="0" sz="1550" u="none" cap="none" strike="noStrike">
              <a:solidFill>
                <a:srgbClr val="000000"/>
              </a:solidFill>
              <a:latin typeface="Arial"/>
              <a:ea typeface="Arial"/>
              <a:cs typeface="Arial"/>
              <a:sym typeface="Arial"/>
            </a:endParaRPr>
          </a:p>
        </p:txBody>
      </p:sp>
      <p:sp>
        <p:nvSpPr>
          <p:cNvPr id="676" name="Google Shape;676;p18"/>
          <p:cNvSpPr txBox="1"/>
          <p:nvPr/>
        </p:nvSpPr>
        <p:spPr>
          <a:xfrm>
            <a:off x="1307592" y="4773168"/>
            <a:ext cx="1010412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Arial"/>
              <a:buNone/>
            </a:pPr>
            <a:r>
              <a:rPr b="0" i="0" lang="en-US" sz="1150" u="none" cap="none" strike="noStrike">
                <a:solidFill>
                  <a:srgbClr val="6E767C"/>
                </a:solidFill>
                <a:latin typeface="Quattrocento Sans"/>
                <a:ea typeface="Quattrocento Sans"/>
                <a:cs typeface="Quattrocento Sans"/>
                <a:sym typeface="Quattrocento Sans"/>
              </a:rPr>
              <a:t>Balanced token sampling: different subsets of one lesion's tokens, each a training instance. +0.0437 over plain cross-entropy at z = 2.93, where focal, class-weighted and oversampling do not clear the threshold.</a:t>
            </a:r>
            <a:endParaRPr b="0" i="0" sz="1150" u="none" cap="none" strike="noStrike">
              <a:solidFill>
                <a:srgbClr val="000000"/>
              </a:solidFill>
              <a:latin typeface="Arial"/>
              <a:ea typeface="Arial"/>
              <a:cs typeface="Arial"/>
              <a:sym typeface="Arial"/>
            </a:endParaRPr>
          </a:p>
        </p:txBody>
      </p:sp>
      <p:cxnSp>
        <p:nvCxnSpPr>
          <p:cNvPr id="677" name="Google Shape;677;p18"/>
          <p:cNvCxnSpPr/>
          <p:nvPr/>
        </p:nvCxnSpPr>
        <p:spPr>
          <a:xfrm>
            <a:off x="777240" y="5486400"/>
            <a:ext cx="10634472" cy="0"/>
          </a:xfrm>
          <a:prstGeom prst="straightConnector1">
            <a:avLst/>
          </a:prstGeom>
          <a:noFill/>
          <a:ln cap="flat" cmpd="sng" w="12700">
            <a:solidFill>
              <a:srgbClr val="D3D8DB"/>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2" name="Shape 682"/>
        <p:cNvGrpSpPr/>
        <p:nvPr/>
      </p:nvGrpSpPr>
      <p:grpSpPr>
        <a:xfrm>
          <a:off x="0" y="0"/>
          <a:ext cx="0" cy="0"/>
          <a:chOff x="0" y="0"/>
          <a:chExt cx="0" cy="0"/>
        </a:xfrm>
      </p:grpSpPr>
      <p:sp>
        <p:nvSpPr>
          <p:cNvPr id="683" name="Google Shape;683;p19"/>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References</a:t>
            </a:r>
            <a:endParaRPr b="0" i="0" sz="2900" u="none" cap="none" strike="noStrike">
              <a:solidFill>
                <a:schemeClr val="dk1"/>
              </a:solidFill>
              <a:latin typeface="Calibri"/>
              <a:ea typeface="Calibri"/>
              <a:cs typeface="Calibri"/>
              <a:sym typeface="Calibri"/>
            </a:endParaRPr>
          </a:p>
        </p:txBody>
      </p:sp>
      <p:cxnSp>
        <p:nvCxnSpPr>
          <p:cNvPr id="684" name="Google Shape;684;p19"/>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685" name="Google Shape;685;p19"/>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References</a:t>
            </a:r>
            <a:endParaRPr b="0" i="0" sz="1000" u="none" cap="none" strike="noStrike">
              <a:solidFill>
                <a:schemeClr val="dk1"/>
              </a:solidFill>
              <a:latin typeface="Calibri"/>
              <a:ea typeface="Calibri"/>
              <a:cs typeface="Calibri"/>
              <a:sym typeface="Calibri"/>
            </a:endParaRPr>
          </a:p>
        </p:txBody>
      </p:sp>
      <p:sp>
        <p:nvSpPr>
          <p:cNvPr id="686" name="Google Shape;686;p19"/>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17 / 17</a:t>
            </a:r>
            <a:endParaRPr b="0" i="0" sz="1000" u="none" cap="none" strike="noStrike">
              <a:solidFill>
                <a:schemeClr val="dk1"/>
              </a:solidFill>
              <a:latin typeface="Calibri"/>
              <a:ea typeface="Calibri"/>
              <a:cs typeface="Calibri"/>
              <a:sym typeface="Calibri"/>
            </a:endParaRPr>
          </a:p>
        </p:txBody>
      </p:sp>
      <p:sp>
        <p:nvSpPr>
          <p:cNvPr id="687" name="Google Shape;687;p19"/>
          <p:cNvSpPr txBox="1"/>
          <p:nvPr/>
        </p:nvSpPr>
        <p:spPr>
          <a:xfrm>
            <a:off x="777240" y="169164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Palatino Linotype"/>
              <a:buNone/>
            </a:pPr>
            <a:r>
              <a:rPr b="0" i="0" lang="en-US" sz="1400" u="none" cap="none" strike="noStrike">
                <a:solidFill>
                  <a:srgbClr val="6E767C"/>
                </a:solidFill>
                <a:latin typeface="Palatino Linotype"/>
                <a:ea typeface="Palatino Linotype"/>
                <a:cs typeface="Palatino Linotype"/>
                <a:sym typeface="Palatino Linotype"/>
              </a:rPr>
              <a:t>1</a:t>
            </a:r>
            <a:endParaRPr b="0" i="0" sz="1400" u="none" cap="none" strike="noStrike">
              <a:solidFill>
                <a:schemeClr val="dk1"/>
              </a:solidFill>
              <a:latin typeface="Calibri"/>
              <a:ea typeface="Calibri"/>
              <a:cs typeface="Calibri"/>
              <a:sym typeface="Calibri"/>
            </a:endParaRPr>
          </a:p>
        </p:txBody>
      </p:sp>
      <p:sp>
        <p:nvSpPr>
          <p:cNvPr id="688" name="Google Shape;688;p19"/>
          <p:cNvSpPr txBox="1"/>
          <p:nvPr/>
        </p:nvSpPr>
        <p:spPr>
          <a:xfrm>
            <a:off x="1188720" y="1673352"/>
            <a:ext cx="10225735" cy="6400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6191C"/>
              </a:buClr>
              <a:buSzPts val="1250"/>
              <a:buFont typeface="Quattrocento Sans"/>
              <a:buNone/>
            </a:pPr>
            <a:r>
              <a:rPr b="0" i="0" lang="en-US" sz="1250" u="none" cap="none" strike="noStrike">
                <a:solidFill>
                  <a:srgbClr val="16191C"/>
                </a:solidFill>
                <a:latin typeface="Quattrocento Sans"/>
                <a:ea typeface="Quattrocento Sans"/>
                <a:cs typeface="Quattrocento Sans"/>
                <a:sym typeface="Quattrocento Sans"/>
              </a:rPr>
              <a:t>Assran, M., Duval, Q., Misra, I. et al.   </a:t>
            </a:r>
            <a:r>
              <a:rPr b="0" i="1" lang="en-US" sz="1250" u="none" cap="none" strike="noStrike">
                <a:solidFill>
                  <a:srgbClr val="6E767C"/>
                </a:solidFill>
                <a:latin typeface="Quattrocento Sans"/>
                <a:ea typeface="Quattrocento Sans"/>
                <a:cs typeface="Quattrocento Sans"/>
                <a:sym typeface="Quattrocento Sans"/>
              </a:rPr>
              <a:t>Self-Supervised Learning from Images with a Joint-Embedding Predictive Architecture. CVPR 2023.</a:t>
            </a:r>
            <a:endParaRPr b="0" i="0" sz="1250" u="none" cap="none" strike="noStrike">
              <a:solidFill>
                <a:schemeClr val="dk1"/>
              </a:solidFill>
              <a:latin typeface="Calibri"/>
              <a:ea typeface="Calibri"/>
              <a:cs typeface="Calibri"/>
              <a:sym typeface="Calibri"/>
            </a:endParaRPr>
          </a:p>
        </p:txBody>
      </p:sp>
      <p:sp>
        <p:nvSpPr>
          <p:cNvPr id="689" name="Google Shape;689;p19"/>
          <p:cNvSpPr txBox="1"/>
          <p:nvPr/>
        </p:nvSpPr>
        <p:spPr>
          <a:xfrm>
            <a:off x="777240" y="246888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Palatino Linotype"/>
              <a:buNone/>
            </a:pPr>
            <a:r>
              <a:rPr b="0" i="0" lang="en-US" sz="1400" u="none" cap="none" strike="noStrike">
                <a:solidFill>
                  <a:srgbClr val="6E767C"/>
                </a:solidFill>
                <a:latin typeface="Palatino Linotype"/>
                <a:ea typeface="Palatino Linotype"/>
                <a:cs typeface="Palatino Linotype"/>
                <a:sym typeface="Palatino Linotype"/>
              </a:rPr>
              <a:t>2</a:t>
            </a:r>
            <a:endParaRPr b="0" i="0" sz="1400" u="none" cap="none" strike="noStrike">
              <a:solidFill>
                <a:schemeClr val="dk1"/>
              </a:solidFill>
              <a:latin typeface="Calibri"/>
              <a:ea typeface="Calibri"/>
              <a:cs typeface="Calibri"/>
              <a:sym typeface="Calibri"/>
            </a:endParaRPr>
          </a:p>
        </p:txBody>
      </p:sp>
      <p:sp>
        <p:nvSpPr>
          <p:cNvPr id="690" name="Google Shape;690;p19"/>
          <p:cNvSpPr txBox="1"/>
          <p:nvPr/>
        </p:nvSpPr>
        <p:spPr>
          <a:xfrm>
            <a:off x="1188720" y="2450592"/>
            <a:ext cx="10225735" cy="6400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6191C"/>
              </a:buClr>
              <a:buSzPts val="1250"/>
              <a:buFont typeface="Quattrocento Sans"/>
              <a:buNone/>
            </a:pPr>
            <a:r>
              <a:rPr b="0" i="0" lang="en-US" sz="1250" u="none" cap="none" strike="noStrike">
                <a:solidFill>
                  <a:srgbClr val="16191C"/>
                </a:solidFill>
                <a:latin typeface="Quattrocento Sans"/>
                <a:ea typeface="Quattrocento Sans"/>
                <a:cs typeface="Quattrocento Sans"/>
                <a:sym typeface="Quattrocento Sans"/>
              </a:rPr>
              <a:t>Ilse, M., Tomczak, J. M., Welling, M.   </a:t>
            </a:r>
            <a:r>
              <a:rPr b="0" i="1" lang="en-US" sz="1250" u="none" cap="none" strike="noStrike">
                <a:solidFill>
                  <a:srgbClr val="6E767C"/>
                </a:solidFill>
                <a:latin typeface="Quattrocento Sans"/>
                <a:ea typeface="Quattrocento Sans"/>
                <a:cs typeface="Quattrocento Sans"/>
                <a:sym typeface="Quattrocento Sans"/>
              </a:rPr>
              <a:t>Attention-based Deep Multiple Instance Learning. ICML 2018.</a:t>
            </a:r>
            <a:endParaRPr b="0" i="0" sz="1250" u="none" cap="none" strike="noStrike">
              <a:solidFill>
                <a:schemeClr val="dk1"/>
              </a:solidFill>
              <a:latin typeface="Calibri"/>
              <a:ea typeface="Calibri"/>
              <a:cs typeface="Calibri"/>
              <a:sym typeface="Calibri"/>
            </a:endParaRPr>
          </a:p>
        </p:txBody>
      </p:sp>
      <p:sp>
        <p:nvSpPr>
          <p:cNvPr id="691" name="Google Shape;691;p19"/>
          <p:cNvSpPr txBox="1"/>
          <p:nvPr/>
        </p:nvSpPr>
        <p:spPr>
          <a:xfrm>
            <a:off x="777240" y="324612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Palatino Linotype"/>
              <a:buNone/>
            </a:pPr>
            <a:r>
              <a:rPr b="0" i="0" lang="en-US" sz="1400" u="none" cap="none" strike="noStrike">
                <a:solidFill>
                  <a:srgbClr val="6E767C"/>
                </a:solidFill>
                <a:latin typeface="Palatino Linotype"/>
                <a:ea typeface="Palatino Linotype"/>
                <a:cs typeface="Palatino Linotype"/>
                <a:sym typeface="Palatino Linotype"/>
              </a:rPr>
              <a:t>3</a:t>
            </a:r>
            <a:endParaRPr b="0" i="0" sz="1400" u="none" cap="none" strike="noStrike">
              <a:solidFill>
                <a:schemeClr val="dk1"/>
              </a:solidFill>
              <a:latin typeface="Calibri"/>
              <a:ea typeface="Calibri"/>
              <a:cs typeface="Calibri"/>
              <a:sym typeface="Calibri"/>
            </a:endParaRPr>
          </a:p>
        </p:txBody>
      </p:sp>
      <p:sp>
        <p:nvSpPr>
          <p:cNvPr id="692" name="Google Shape;692;p19"/>
          <p:cNvSpPr txBox="1"/>
          <p:nvPr/>
        </p:nvSpPr>
        <p:spPr>
          <a:xfrm>
            <a:off x="1188720" y="3227832"/>
            <a:ext cx="10225735" cy="6400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6191C"/>
              </a:buClr>
              <a:buSzPts val="1250"/>
              <a:buFont typeface="Quattrocento Sans"/>
              <a:buNone/>
            </a:pPr>
            <a:r>
              <a:rPr b="0" i="0" lang="en-US" sz="1250" u="none" cap="none" strike="noStrike">
                <a:solidFill>
                  <a:srgbClr val="16191C"/>
                </a:solidFill>
                <a:latin typeface="Quattrocento Sans"/>
                <a:ea typeface="Quattrocento Sans"/>
                <a:cs typeface="Quattrocento Sans"/>
                <a:sym typeface="Quattrocento Sans"/>
              </a:rPr>
              <a:t>Do, H. V., Nguyen, T. T. H., Vo, N. T. N. et al.   </a:t>
            </a:r>
            <a:r>
              <a:rPr b="0" i="1" lang="en-US" sz="1250" u="none" cap="none" strike="noStrike">
                <a:solidFill>
                  <a:srgbClr val="6E767C"/>
                </a:solidFill>
                <a:latin typeface="Quattrocento Sans"/>
                <a:ea typeface="Quattrocento Sans"/>
                <a:cs typeface="Quattrocento Sans"/>
                <a:sym typeface="Quattrocento Sans"/>
              </a:rPr>
              <a:t>A Dataset of apical periodontitis lesions in panoramic radiographs. Data in Brief 54:110486, 2024.</a:t>
            </a:r>
            <a:endParaRPr b="0" i="0" sz="1250" u="none" cap="none" strike="noStrike">
              <a:solidFill>
                <a:schemeClr val="dk1"/>
              </a:solidFill>
              <a:latin typeface="Calibri"/>
              <a:ea typeface="Calibri"/>
              <a:cs typeface="Calibri"/>
              <a:sym typeface="Calibri"/>
            </a:endParaRPr>
          </a:p>
        </p:txBody>
      </p:sp>
      <p:sp>
        <p:nvSpPr>
          <p:cNvPr id="693" name="Google Shape;693;p19"/>
          <p:cNvSpPr txBox="1"/>
          <p:nvPr/>
        </p:nvSpPr>
        <p:spPr>
          <a:xfrm>
            <a:off x="777240" y="402336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Palatino Linotype"/>
              <a:buNone/>
            </a:pPr>
            <a:r>
              <a:rPr b="0" i="0" lang="en-US" sz="1400" u="none" cap="none" strike="noStrike">
                <a:solidFill>
                  <a:srgbClr val="6E767C"/>
                </a:solidFill>
                <a:latin typeface="Palatino Linotype"/>
                <a:ea typeface="Palatino Linotype"/>
                <a:cs typeface="Palatino Linotype"/>
                <a:sym typeface="Palatino Linotype"/>
              </a:rPr>
              <a:t>4</a:t>
            </a:r>
            <a:endParaRPr b="0" i="0" sz="1400" u="none" cap="none" strike="noStrike">
              <a:solidFill>
                <a:schemeClr val="dk1"/>
              </a:solidFill>
              <a:latin typeface="Calibri"/>
              <a:ea typeface="Calibri"/>
              <a:cs typeface="Calibri"/>
              <a:sym typeface="Calibri"/>
            </a:endParaRPr>
          </a:p>
        </p:txBody>
      </p:sp>
      <p:sp>
        <p:nvSpPr>
          <p:cNvPr id="694" name="Google Shape;694;p19"/>
          <p:cNvSpPr txBox="1"/>
          <p:nvPr/>
        </p:nvSpPr>
        <p:spPr>
          <a:xfrm>
            <a:off x="1188720" y="4005072"/>
            <a:ext cx="10225735" cy="6400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6191C"/>
              </a:buClr>
              <a:buSzPts val="1250"/>
              <a:buFont typeface="Quattrocento Sans"/>
              <a:buNone/>
            </a:pPr>
            <a:r>
              <a:rPr b="0" i="0" lang="en-US" sz="1250" u="none" cap="none" strike="noStrike">
                <a:solidFill>
                  <a:srgbClr val="16191C"/>
                </a:solidFill>
                <a:latin typeface="Quattrocento Sans"/>
                <a:ea typeface="Quattrocento Sans"/>
                <a:cs typeface="Quattrocento Sans"/>
                <a:sym typeface="Quattrocento Sans"/>
              </a:rPr>
              <a:t>Saito, T., Rehmsmeier, M.   </a:t>
            </a:r>
            <a:r>
              <a:rPr b="0" i="1" lang="en-US" sz="1250" u="none" cap="none" strike="noStrike">
                <a:solidFill>
                  <a:srgbClr val="6E767C"/>
                </a:solidFill>
                <a:latin typeface="Quattrocento Sans"/>
                <a:ea typeface="Quattrocento Sans"/>
                <a:cs typeface="Quattrocento Sans"/>
                <a:sym typeface="Quattrocento Sans"/>
              </a:rPr>
              <a:t>The precision-recall plot is more informative than the ROC plot on imbalanced datasets. PLoS ONE 10(3), 2015.</a:t>
            </a:r>
            <a:endParaRPr b="0" i="0" sz="1250" u="none" cap="none" strike="noStrike">
              <a:solidFill>
                <a:schemeClr val="dk1"/>
              </a:solidFill>
              <a:latin typeface="Calibri"/>
              <a:ea typeface="Calibri"/>
              <a:cs typeface="Calibri"/>
              <a:sym typeface="Calibri"/>
            </a:endParaRPr>
          </a:p>
        </p:txBody>
      </p:sp>
      <p:sp>
        <p:nvSpPr>
          <p:cNvPr id="695" name="Google Shape;695;p19"/>
          <p:cNvSpPr txBox="1"/>
          <p:nvPr/>
        </p:nvSpPr>
        <p:spPr>
          <a:xfrm>
            <a:off x="777240" y="480060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Palatino Linotype"/>
              <a:buNone/>
            </a:pPr>
            <a:r>
              <a:rPr b="0" i="0" lang="en-US" sz="1400" u="none" cap="none" strike="noStrike">
                <a:solidFill>
                  <a:srgbClr val="6E767C"/>
                </a:solidFill>
                <a:latin typeface="Palatino Linotype"/>
                <a:ea typeface="Palatino Linotype"/>
                <a:cs typeface="Palatino Linotype"/>
                <a:sym typeface="Palatino Linotype"/>
              </a:rPr>
              <a:t>5</a:t>
            </a:r>
            <a:endParaRPr b="0" i="0" sz="1400" u="none" cap="none" strike="noStrike">
              <a:solidFill>
                <a:schemeClr val="dk1"/>
              </a:solidFill>
              <a:latin typeface="Calibri"/>
              <a:ea typeface="Calibri"/>
              <a:cs typeface="Calibri"/>
              <a:sym typeface="Calibri"/>
            </a:endParaRPr>
          </a:p>
        </p:txBody>
      </p:sp>
      <p:sp>
        <p:nvSpPr>
          <p:cNvPr id="696" name="Google Shape;696;p19"/>
          <p:cNvSpPr txBox="1"/>
          <p:nvPr/>
        </p:nvSpPr>
        <p:spPr>
          <a:xfrm>
            <a:off x="1188720" y="4782312"/>
            <a:ext cx="10225735" cy="6400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6191C"/>
              </a:buClr>
              <a:buSzPts val="1250"/>
              <a:buFont typeface="Quattrocento Sans"/>
              <a:buNone/>
            </a:pPr>
            <a:r>
              <a:rPr b="0" i="0" lang="en-US" sz="1250" u="none" cap="none" strike="noStrike">
                <a:solidFill>
                  <a:srgbClr val="16191C"/>
                </a:solidFill>
                <a:latin typeface="Quattrocento Sans"/>
                <a:ea typeface="Quattrocento Sans"/>
                <a:cs typeface="Quattrocento Sans"/>
                <a:sym typeface="Quattrocento Sans"/>
              </a:rPr>
              <a:t>He, K., Gkioxari, G., Dollár, P., Girshick, R.   </a:t>
            </a:r>
            <a:r>
              <a:rPr b="0" i="1" lang="en-US" sz="1250" u="none" cap="none" strike="noStrike">
                <a:solidFill>
                  <a:srgbClr val="6E767C"/>
                </a:solidFill>
                <a:latin typeface="Quattrocento Sans"/>
                <a:ea typeface="Quattrocento Sans"/>
                <a:cs typeface="Quattrocento Sans"/>
                <a:sym typeface="Quattrocento Sans"/>
              </a:rPr>
              <a:t>Mask R-CNN. ICCV 2017.</a:t>
            </a:r>
            <a:endParaRPr b="0" i="0" sz="1250" u="none" cap="none" strike="noStrike">
              <a:solidFill>
                <a:schemeClr val="dk1"/>
              </a:solidFill>
              <a:latin typeface="Calibri"/>
              <a:ea typeface="Calibri"/>
              <a:cs typeface="Calibri"/>
              <a:sym typeface="Calibri"/>
            </a:endParaRPr>
          </a:p>
        </p:txBody>
      </p:sp>
      <p:cxnSp>
        <p:nvCxnSpPr>
          <p:cNvPr id="697" name="Google Shape;697;p19"/>
          <p:cNvCxnSpPr/>
          <p:nvPr/>
        </p:nvCxnSpPr>
        <p:spPr>
          <a:xfrm>
            <a:off x="777240" y="5760720"/>
            <a:ext cx="10637215" cy="0"/>
          </a:xfrm>
          <a:prstGeom prst="straightConnector1">
            <a:avLst/>
          </a:prstGeom>
          <a:noFill/>
          <a:ln cap="flat" cmpd="sng" w="9525">
            <a:solidFill>
              <a:srgbClr val="D3D8DB"/>
            </a:solidFill>
            <a:prstDash val="solid"/>
            <a:round/>
            <a:headEnd len="sm" w="sm" type="none"/>
            <a:tailEnd len="sm" w="sm" type="none"/>
          </a:ln>
        </p:spPr>
      </p:cxnSp>
      <p:sp>
        <p:nvSpPr>
          <p:cNvPr id="698" name="Google Shape;698;p19"/>
          <p:cNvSpPr txBox="1"/>
          <p:nvPr/>
        </p:nvSpPr>
        <p:spPr>
          <a:xfrm>
            <a:off x="777240" y="5943600"/>
            <a:ext cx="1063721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200"/>
              <a:buFont typeface="Quattrocento Sans"/>
              <a:buNone/>
            </a:pPr>
            <a:r>
              <a:rPr b="0" i="1" lang="en-US" sz="1200" u="none" cap="none" strike="noStrike">
                <a:solidFill>
                  <a:srgbClr val="6E767C"/>
                </a:solidFill>
                <a:latin typeface="Quattrocento Sans"/>
                <a:ea typeface="Quattrocento Sans"/>
                <a:cs typeface="Quattrocento Sans"/>
                <a:sym typeface="Quattrocento Sans"/>
              </a:rPr>
              <a:t>Every number in this deck is recomputed from runs/*.json by verify_claims.py.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